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Audiowide"/>
      <p:regular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Karla Light"/>
      <p:regular r:id="rId27"/>
      <p:bold r:id="rId28"/>
      <p:italic r:id="rId29"/>
      <p:boldItalic r:id="rId30"/>
    </p:embeddedFont>
    <p:embeddedFont>
      <p:font typeface="Manrope"/>
      <p:regular r:id="rId31"/>
      <p:bold r:id="rId32"/>
    </p:embeddedFont>
    <p:embeddedFont>
      <p:font typeface="Karla Medium"/>
      <p:regular r:id="rId33"/>
      <p:bold r:id="rId34"/>
      <p:italic r:id="rId35"/>
      <p:boldItalic r:id="rId36"/>
    </p:embeddedFont>
    <p:embeddedFont>
      <p:font typeface="Karla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4459E5-5507-42E7-A694-7A4437314B09}">
  <a:tblStyle styleId="{CA4459E5-5507-42E7-A694-7A4437314B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 b="on"/>
    </a:lastCol>
    <a:firstCol>
      <a:tcTxStyle b="on"/>
    </a:firstCol>
    <a:lastRow>
      <a:tcTxStyle b="on"/>
    </a:lastRow>
    <a:seCell>
      <a:tcTxStyle/>
    </a:seCell>
    <a:swCell>
      <a:tcTxStyle/>
    </a:swCell>
    <a:firstRow>
      <a:tcTxStyle b="on">
        <a:srgbClr val="FFFFFF"/>
      </a:tcTxStyle>
      <a:tcStyle>
        <a:fill>
          <a:solidFill>
            <a:srgbClr val="000000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arla-boldItalic.fntdata"/><Relationship Id="rId20" Type="http://schemas.openxmlformats.org/officeDocument/2006/relationships/slide" Target="slides/slide14.xml"/><Relationship Id="rId22" Type="http://schemas.openxmlformats.org/officeDocument/2006/relationships/font" Target="fonts/Audiowide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KarlaLight-bold.fntdata"/><Relationship Id="rId27" Type="http://schemas.openxmlformats.org/officeDocument/2006/relationships/font" Target="fonts/Karla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Karla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nrope-regular.fntdata"/><Relationship Id="rId30" Type="http://schemas.openxmlformats.org/officeDocument/2006/relationships/font" Target="fonts/Karla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KarlaMedium-regular.fntdata"/><Relationship Id="rId10" Type="http://schemas.openxmlformats.org/officeDocument/2006/relationships/slide" Target="slides/slide4.xml"/><Relationship Id="rId32" Type="http://schemas.openxmlformats.org/officeDocument/2006/relationships/font" Target="fonts/Manrope-bold.fntdata"/><Relationship Id="rId13" Type="http://schemas.openxmlformats.org/officeDocument/2006/relationships/slide" Target="slides/slide7.xml"/><Relationship Id="rId35" Type="http://schemas.openxmlformats.org/officeDocument/2006/relationships/font" Target="fonts/KarlaMedium-italic.fntdata"/><Relationship Id="rId12" Type="http://schemas.openxmlformats.org/officeDocument/2006/relationships/slide" Target="slides/slide6.xml"/><Relationship Id="rId34" Type="http://schemas.openxmlformats.org/officeDocument/2006/relationships/font" Target="fonts/KarlaMedium-bold.fntdata"/><Relationship Id="rId15" Type="http://schemas.openxmlformats.org/officeDocument/2006/relationships/slide" Target="slides/slide9.xml"/><Relationship Id="rId37" Type="http://schemas.openxmlformats.org/officeDocument/2006/relationships/font" Target="fonts/Karla-regular.fntdata"/><Relationship Id="rId14" Type="http://schemas.openxmlformats.org/officeDocument/2006/relationships/slide" Target="slides/slide8.xml"/><Relationship Id="rId36" Type="http://schemas.openxmlformats.org/officeDocument/2006/relationships/font" Target="fonts/Karla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Karla-italic.fntdata"/><Relationship Id="rId16" Type="http://schemas.openxmlformats.org/officeDocument/2006/relationships/slide" Target="slides/slide10.xml"/><Relationship Id="rId38" Type="http://schemas.openxmlformats.org/officeDocument/2006/relationships/font" Target="fonts/Karl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21caab1d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21caab1d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2420fcadb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2420fcadb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cc9050bdf8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cc9050bdf8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dc1c500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5dc1c500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dc1c500f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5dc1c500f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5dc1c500f7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5dc1c500f7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5dc1c500f7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5dc1c500f7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dffe5a3af5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dffe5a3af5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dc1c500f7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dc1c500f7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cc9050bdf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cc9050bdf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5dc1c500f7_0_1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5dc1c500f7_0_1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5dc1c500f7_0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5dc1c500f7_0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5dc1c500f7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5dc1c500f7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5dc1c500f7_0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5dc1c500f7_0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cc9050bdf8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cc9050bdf8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25850" y="3778500"/>
            <a:ext cx="5892300" cy="473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1050" y="-447675"/>
            <a:ext cx="5892301" cy="3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261050" y="1962150"/>
            <a:ext cx="5892301" cy="36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4491888" y="1682463"/>
            <a:ext cx="3312300" cy="111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4491888" y="2851113"/>
            <a:ext cx="3312300" cy="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2" type="title"/>
          </p:nvPr>
        </p:nvSpPr>
        <p:spPr>
          <a:xfrm>
            <a:off x="1931113" y="1872250"/>
            <a:ext cx="1728900" cy="1188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5800" y="-419100"/>
            <a:ext cx="6190054" cy="383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352926" y="1967775"/>
            <a:ext cx="5790899" cy="35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1684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825300" y="-371475"/>
            <a:ext cx="4857272" cy="30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5048253" y="2398274"/>
            <a:ext cx="5095572" cy="31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 amt="75000"/>
          </a:blip>
          <a:srcRect b="0" l="17266" r="0" t="16652"/>
          <a:stretch/>
        </p:blipFill>
        <p:spPr>
          <a:xfrm rot="10800000">
            <a:off x="4688049" y="2278552"/>
            <a:ext cx="4684549" cy="2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2">
            <a:alphaModFix amt="75000"/>
          </a:blip>
          <a:srcRect b="0" l="16618" r="0" t="14668"/>
          <a:stretch/>
        </p:blipFill>
        <p:spPr>
          <a:xfrm rot="4">
            <a:off x="-57150" y="-190497"/>
            <a:ext cx="4810127" cy="304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>
            <p:ph type="title"/>
          </p:nvPr>
        </p:nvSpPr>
        <p:spPr>
          <a:xfrm>
            <a:off x="720000" y="540000"/>
            <a:ext cx="7704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1605775" y="3703499"/>
            <a:ext cx="2846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subTitle"/>
          </p:nvPr>
        </p:nvSpPr>
        <p:spPr>
          <a:xfrm>
            <a:off x="4688050" y="3703499"/>
            <a:ext cx="2846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3" type="subTitle"/>
          </p:nvPr>
        </p:nvSpPr>
        <p:spPr>
          <a:xfrm>
            <a:off x="1605779" y="3328943"/>
            <a:ext cx="2846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" name="Google Shape;47;p5"/>
          <p:cNvSpPr txBox="1"/>
          <p:nvPr>
            <p:ph idx="4" type="subTitle"/>
          </p:nvPr>
        </p:nvSpPr>
        <p:spPr>
          <a:xfrm>
            <a:off x="4688055" y="3328943"/>
            <a:ext cx="2846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 amt="75000"/>
          </a:blip>
          <a:srcRect b="0" l="24087" r="0" t="19903"/>
          <a:stretch/>
        </p:blipFill>
        <p:spPr>
          <a:xfrm>
            <a:off x="-104775" y="-85500"/>
            <a:ext cx="3714749" cy="242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75000"/>
          </a:blip>
          <a:srcRect b="0" l="22039" r="0" t="14089"/>
          <a:stretch/>
        </p:blipFill>
        <p:spPr>
          <a:xfrm rot="-10799995">
            <a:off x="5705475" y="2752926"/>
            <a:ext cx="3629025" cy="247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381506" y="887025"/>
            <a:ext cx="4038600" cy="95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4381500" y="1843575"/>
            <a:ext cx="4038600" cy="24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pic>
        <p:nvPicPr>
          <p:cNvPr id="63" name="Google Shape;63;p7"/>
          <p:cNvPicPr preferRelativeResize="0"/>
          <p:nvPr/>
        </p:nvPicPr>
        <p:blipFill rotWithShape="1">
          <a:blip r:embed="rId3">
            <a:alphaModFix amt="75000"/>
          </a:blip>
          <a:srcRect b="0" l="24156" r="0" t="16303"/>
          <a:stretch/>
        </p:blipFill>
        <p:spPr>
          <a:xfrm rot="5400000">
            <a:off x="5767588" y="527636"/>
            <a:ext cx="4294574" cy="29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8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 txBox="1"/>
          <p:nvPr>
            <p:ph type="title"/>
          </p:nvPr>
        </p:nvSpPr>
        <p:spPr>
          <a:xfrm>
            <a:off x="2005350" y="1506750"/>
            <a:ext cx="5133300" cy="213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0" name="Google Shape;70;p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5400000">
            <a:off x="4270575" y="37800"/>
            <a:ext cx="6816287" cy="422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5399997">
            <a:off x="-1890149" y="942974"/>
            <a:ext cx="6692275" cy="41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 txBox="1"/>
          <p:nvPr>
            <p:ph type="title"/>
          </p:nvPr>
        </p:nvSpPr>
        <p:spPr>
          <a:xfrm>
            <a:off x="970400" y="1168075"/>
            <a:ext cx="3133800" cy="18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9"/>
          <p:cNvSpPr txBox="1"/>
          <p:nvPr>
            <p:ph idx="1" type="subTitle"/>
          </p:nvPr>
        </p:nvSpPr>
        <p:spPr>
          <a:xfrm>
            <a:off x="970400" y="3167250"/>
            <a:ext cx="31338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9" name="Google Shape;79;p9"/>
          <p:cNvPicPr preferRelativeResize="0"/>
          <p:nvPr/>
        </p:nvPicPr>
        <p:blipFill rotWithShape="1">
          <a:blip r:embed="rId3">
            <a:alphaModFix amt="75000"/>
          </a:blip>
          <a:srcRect b="0" l="19106" r="0" t="4942"/>
          <a:stretch/>
        </p:blipFill>
        <p:spPr>
          <a:xfrm rot="-5400000">
            <a:off x="-727588" y="1263239"/>
            <a:ext cx="4580326" cy="333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 rot="300">
            <a:off x="720000" y="3295650"/>
            <a:ext cx="3433500" cy="120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1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"/>
          <p:cNvSpPr txBox="1"/>
          <p:nvPr>
            <p:ph hasCustomPrompt="1" type="title"/>
          </p:nvPr>
        </p:nvSpPr>
        <p:spPr>
          <a:xfrm rot="186">
            <a:off x="977225" y="1686338"/>
            <a:ext cx="5538000" cy="1234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1"/>
          <p:cNvSpPr txBox="1"/>
          <p:nvPr>
            <p:ph idx="1" type="subTitle"/>
          </p:nvPr>
        </p:nvSpPr>
        <p:spPr>
          <a:xfrm>
            <a:off x="977225" y="2821638"/>
            <a:ext cx="55380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3" name="Google Shape;93;p11"/>
          <p:cNvPicPr preferRelativeResize="0"/>
          <p:nvPr/>
        </p:nvPicPr>
        <p:blipFill rotWithShape="1">
          <a:blip r:embed="rId3">
            <a:alphaModFix amt="75000"/>
          </a:blip>
          <a:srcRect b="0" l="0" r="0" t="0"/>
          <a:stretch/>
        </p:blipFill>
        <p:spPr>
          <a:xfrm rot="6015032">
            <a:off x="3802652" y="445901"/>
            <a:ext cx="7113000" cy="440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1"/>
          <p:cNvPicPr preferRelativeResize="0"/>
          <p:nvPr/>
        </p:nvPicPr>
        <p:blipFill rotWithShape="1">
          <a:blip r:embed="rId3">
            <a:alphaModFix amt="75000"/>
          </a:blip>
          <a:srcRect b="0" l="-60" r="0" t="537"/>
          <a:stretch/>
        </p:blipFill>
        <p:spPr>
          <a:xfrm rot="-5399997">
            <a:off x="-1590800" y="1404054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 txBox="1"/>
          <p:nvPr>
            <p:ph type="title"/>
          </p:nvPr>
        </p:nvSpPr>
        <p:spPr>
          <a:xfrm>
            <a:off x="713224" y="18352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2" name="Google Shape;102;p13"/>
          <p:cNvSpPr txBox="1"/>
          <p:nvPr>
            <p:ph idx="1" type="subTitle"/>
          </p:nvPr>
        </p:nvSpPr>
        <p:spPr>
          <a:xfrm>
            <a:off x="713224" y="22693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2" type="title"/>
          </p:nvPr>
        </p:nvSpPr>
        <p:spPr>
          <a:xfrm>
            <a:off x="713224" y="3680488"/>
            <a:ext cx="23055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" name="Google Shape;104;p13"/>
          <p:cNvSpPr txBox="1"/>
          <p:nvPr>
            <p:ph idx="3" type="subTitle"/>
          </p:nvPr>
        </p:nvSpPr>
        <p:spPr>
          <a:xfrm>
            <a:off x="713224" y="411461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4" type="title"/>
          </p:nvPr>
        </p:nvSpPr>
        <p:spPr>
          <a:xfrm>
            <a:off x="3419251" y="3680488"/>
            <a:ext cx="23055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6" name="Google Shape;106;p13"/>
          <p:cNvSpPr txBox="1"/>
          <p:nvPr>
            <p:ph idx="5" type="subTitle"/>
          </p:nvPr>
        </p:nvSpPr>
        <p:spPr>
          <a:xfrm>
            <a:off x="3419251" y="411461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6" type="title"/>
          </p:nvPr>
        </p:nvSpPr>
        <p:spPr>
          <a:xfrm>
            <a:off x="3419251" y="18352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8" name="Google Shape;108;p13"/>
          <p:cNvSpPr txBox="1"/>
          <p:nvPr>
            <p:ph idx="7" type="subTitle"/>
          </p:nvPr>
        </p:nvSpPr>
        <p:spPr>
          <a:xfrm>
            <a:off x="3419251" y="22693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hasCustomPrompt="1" idx="8" type="title"/>
          </p:nvPr>
        </p:nvSpPr>
        <p:spPr>
          <a:xfrm>
            <a:off x="1415374" y="134477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hasCustomPrompt="1" idx="9" type="title"/>
          </p:nvPr>
        </p:nvSpPr>
        <p:spPr>
          <a:xfrm>
            <a:off x="4121401" y="319002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hasCustomPrompt="1" idx="13" type="title"/>
          </p:nvPr>
        </p:nvSpPr>
        <p:spPr>
          <a:xfrm>
            <a:off x="1415374" y="319002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hasCustomPrompt="1" idx="14" type="title"/>
          </p:nvPr>
        </p:nvSpPr>
        <p:spPr>
          <a:xfrm>
            <a:off x="4121401" y="134477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/>
          <p:nvPr>
            <p:ph idx="15" type="title"/>
          </p:nvPr>
        </p:nvSpPr>
        <p:spPr>
          <a:xfrm>
            <a:off x="6125276" y="3680488"/>
            <a:ext cx="23055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4" name="Google Shape;114;p13"/>
          <p:cNvSpPr txBox="1"/>
          <p:nvPr>
            <p:ph idx="16" type="subTitle"/>
          </p:nvPr>
        </p:nvSpPr>
        <p:spPr>
          <a:xfrm>
            <a:off x="6125276" y="411461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7" type="title"/>
          </p:nvPr>
        </p:nvSpPr>
        <p:spPr>
          <a:xfrm>
            <a:off x="6125276" y="18352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6" name="Google Shape;116;p13"/>
          <p:cNvSpPr txBox="1"/>
          <p:nvPr>
            <p:ph idx="18" type="subTitle"/>
          </p:nvPr>
        </p:nvSpPr>
        <p:spPr>
          <a:xfrm>
            <a:off x="6125276" y="22693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19" type="title"/>
          </p:nvPr>
        </p:nvSpPr>
        <p:spPr>
          <a:xfrm>
            <a:off x="6827426" y="319002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hasCustomPrompt="1" idx="20" type="title"/>
          </p:nvPr>
        </p:nvSpPr>
        <p:spPr>
          <a:xfrm>
            <a:off x="6827426" y="134477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pic>
        <p:nvPicPr>
          <p:cNvPr id="119" name="Google Shape;119;p1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5400000">
            <a:off x="-1377750" y="2269750"/>
            <a:ext cx="4857272" cy="30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5400000">
            <a:off x="5366340" y="82974"/>
            <a:ext cx="5095572" cy="31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/>
          <p:nvPr>
            <p:ph idx="21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4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 txBox="1"/>
          <p:nvPr>
            <p:ph type="title"/>
          </p:nvPr>
        </p:nvSpPr>
        <p:spPr>
          <a:xfrm>
            <a:off x="1486024" y="3068248"/>
            <a:ext cx="617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1" type="subTitle"/>
          </p:nvPr>
        </p:nvSpPr>
        <p:spPr>
          <a:xfrm>
            <a:off x="1485800" y="1628863"/>
            <a:ext cx="6172200" cy="149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9" name="Google Shape;129;p14"/>
          <p:cNvPicPr preferRelativeResize="0"/>
          <p:nvPr/>
        </p:nvPicPr>
        <p:blipFill rotWithShape="1">
          <a:blip r:embed="rId3">
            <a:alphaModFix amt="75000"/>
          </a:blip>
          <a:srcRect b="0" l="0" r="0" t="0"/>
          <a:stretch/>
        </p:blipFill>
        <p:spPr>
          <a:xfrm>
            <a:off x="-1436100" y="-758750"/>
            <a:ext cx="6816174" cy="422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 amt="75000"/>
          </a:blip>
          <a:srcRect b="0" l="-60" r="0" t="537"/>
          <a:stretch/>
        </p:blipFill>
        <p:spPr>
          <a:xfrm rot="-10799997">
            <a:off x="4648077" y="1876429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 txBox="1"/>
          <p:nvPr>
            <p:ph type="title"/>
          </p:nvPr>
        </p:nvSpPr>
        <p:spPr>
          <a:xfrm>
            <a:off x="964750" y="1536350"/>
            <a:ext cx="2947500" cy="55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>
            <p:ph idx="1" type="subTitle"/>
          </p:nvPr>
        </p:nvSpPr>
        <p:spPr>
          <a:xfrm rot="350">
            <a:off x="964550" y="2381675"/>
            <a:ext cx="2947500" cy="1404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 amt="75000"/>
          </a:blip>
          <a:srcRect b="0" l="20571" r="0" t="8875"/>
          <a:stretch/>
        </p:blipFill>
        <p:spPr>
          <a:xfrm rot="10800000">
            <a:off x="4713096" y="1967777"/>
            <a:ext cx="4497577" cy="319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3">
            <a:alphaModFix amt="75000"/>
          </a:blip>
          <a:srcRect b="0" l="20886" r="0" t="8231"/>
          <a:stretch/>
        </p:blipFill>
        <p:spPr>
          <a:xfrm rot="4">
            <a:off x="-66675" y="-190497"/>
            <a:ext cx="4563850" cy="327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720000" y="1456400"/>
            <a:ext cx="7704000" cy="25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b="1"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7" name="Google Shape;147;p16"/>
          <p:cNvPicPr preferRelativeResize="0"/>
          <p:nvPr/>
        </p:nvPicPr>
        <p:blipFill rotWithShape="1">
          <a:blip r:embed="rId3">
            <a:alphaModFix amt="75000"/>
          </a:blip>
          <a:srcRect b="0" l="0" r="0" t="0"/>
          <a:stretch/>
        </p:blipFill>
        <p:spPr>
          <a:xfrm rot="5400000">
            <a:off x="5369415" y="-442041"/>
            <a:ext cx="5662423" cy="350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 rotWithShape="1">
          <a:blip r:embed="rId3">
            <a:alphaModFix amt="75000"/>
          </a:blip>
          <a:srcRect b="0" l="-60" r="0" t="537"/>
          <a:stretch/>
        </p:blipFill>
        <p:spPr>
          <a:xfrm rot="-5399997">
            <a:off x="-1828923" y="1781179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713225" y="1475125"/>
            <a:ext cx="77175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>
            <a:alphaModFix amt="75000"/>
          </a:blip>
          <a:srcRect b="73705" l="-60" r="0" t="535"/>
          <a:stretch/>
        </p:blipFill>
        <p:spPr>
          <a:xfrm rot="5400003">
            <a:off x="-2495438" y="2110890"/>
            <a:ext cx="5461376" cy="870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 amt="75000"/>
          </a:blip>
          <a:srcRect b="73705" l="-60" r="0" t="535"/>
          <a:stretch/>
        </p:blipFill>
        <p:spPr>
          <a:xfrm rot="-5399997">
            <a:off x="6178013" y="2110891"/>
            <a:ext cx="5461376" cy="870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 rot="-1114">
            <a:off x="726775" y="2183450"/>
            <a:ext cx="2778300" cy="8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2" name="Google Shape;162;p18"/>
          <p:cNvSpPr txBox="1"/>
          <p:nvPr>
            <p:ph idx="1" type="subTitle"/>
          </p:nvPr>
        </p:nvSpPr>
        <p:spPr>
          <a:xfrm rot="371">
            <a:off x="726775" y="2991552"/>
            <a:ext cx="2778300" cy="4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2" type="title"/>
          </p:nvPr>
        </p:nvSpPr>
        <p:spPr>
          <a:xfrm>
            <a:off x="3189587" y="3304275"/>
            <a:ext cx="27783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" name="Google Shape;164;p18"/>
          <p:cNvSpPr txBox="1"/>
          <p:nvPr>
            <p:ph idx="3" type="subTitle"/>
          </p:nvPr>
        </p:nvSpPr>
        <p:spPr>
          <a:xfrm>
            <a:off x="3189587" y="4114925"/>
            <a:ext cx="27783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4" type="title"/>
          </p:nvPr>
        </p:nvSpPr>
        <p:spPr>
          <a:xfrm>
            <a:off x="5652399" y="2182150"/>
            <a:ext cx="27783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" name="Google Shape;166;p18"/>
          <p:cNvSpPr txBox="1"/>
          <p:nvPr>
            <p:ph idx="5" type="subTitle"/>
          </p:nvPr>
        </p:nvSpPr>
        <p:spPr>
          <a:xfrm>
            <a:off x="5652399" y="2991875"/>
            <a:ext cx="2778300" cy="4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8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 amt="75000"/>
          </a:blip>
          <a:srcRect b="0" l="16597" r="0" t="23395"/>
          <a:stretch/>
        </p:blipFill>
        <p:spPr>
          <a:xfrm rot="-5400000">
            <a:off x="-1349762" y="941737"/>
            <a:ext cx="5684874" cy="323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 amt="75000"/>
          </a:blip>
          <a:srcRect b="0" l="23059" r="0" t="16268"/>
          <a:stretch/>
        </p:blipFill>
        <p:spPr>
          <a:xfrm rot="5400004">
            <a:off x="5600637" y="400113"/>
            <a:ext cx="4438774" cy="2990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>
            <p:ph idx="6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 txBox="1"/>
          <p:nvPr>
            <p:ph type="title"/>
          </p:nvPr>
        </p:nvSpPr>
        <p:spPr>
          <a:xfrm>
            <a:off x="1600200" y="1345325"/>
            <a:ext cx="5943600" cy="3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1600200" y="1576824"/>
            <a:ext cx="5943600" cy="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9"/>
          <p:cNvSpPr txBox="1"/>
          <p:nvPr>
            <p:ph idx="2" type="title"/>
          </p:nvPr>
        </p:nvSpPr>
        <p:spPr>
          <a:xfrm>
            <a:off x="1600200" y="2491787"/>
            <a:ext cx="5943600" cy="3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0" name="Google Shape;180;p19"/>
          <p:cNvSpPr txBox="1"/>
          <p:nvPr>
            <p:ph idx="3" type="subTitle"/>
          </p:nvPr>
        </p:nvSpPr>
        <p:spPr>
          <a:xfrm>
            <a:off x="1600200" y="2721226"/>
            <a:ext cx="5943600" cy="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>
            <p:ph idx="4" type="title"/>
          </p:nvPr>
        </p:nvSpPr>
        <p:spPr>
          <a:xfrm>
            <a:off x="1593425" y="3636142"/>
            <a:ext cx="5943600" cy="3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2" name="Google Shape;182;p19"/>
          <p:cNvSpPr txBox="1"/>
          <p:nvPr>
            <p:ph idx="5" type="subTitle"/>
          </p:nvPr>
        </p:nvSpPr>
        <p:spPr>
          <a:xfrm>
            <a:off x="1593425" y="3867801"/>
            <a:ext cx="5943600" cy="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 amt="75000"/>
          </a:blip>
          <a:srcRect b="66797" l="-60" r="0" t="535"/>
          <a:stretch/>
        </p:blipFill>
        <p:spPr>
          <a:xfrm rot="-5399997">
            <a:off x="5922077" y="1921653"/>
            <a:ext cx="5772273" cy="1166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 amt="75000"/>
          </a:blip>
          <a:srcRect b="66797" l="-60" r="0" t="535"/>
          <a:stretch/>
        </p:blipFill>
        <p:spPr>
          <a:xfrm rot="5400003">
            <a:off x="-2553948" y="1988316"/>
            <a:ext cx="5772273" cy="1166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>
            <p:ph idx="6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 txBox="1"/>
          <p:nvPr>
            <p:ph idx="1" type="subTitle"/>
          </p:nvPr>
        </p:nvSpPr>
        <p:spPr>
          <a:xfrm>
            <a:off x="2109048" y="1553404"/>
            <a:ext cx="2315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192" name="Google Shape;192;p20"/>
          <p:cNvSpPr txBox="1"/>
          <p:nvPr>
            <p:ph idx="2" type="subTitle"/>
          </p:nvPr>
        </p:nvSpPr>
        <p:spPr>
          <a:xfrm>
            <a:off x="2109047" y="1915655"/>
            <a:ext cx="23154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3" type="subTitle"/>
          </p:nvPr>
        </p:nvSpPr>
        <p:spPr>
          <a:xfrm>
            <a:off x="4708749" y="1553404"/>
            <a:ext cx="2326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194" name="Google Shape;194;p20"/>
          <p:cNvSpPr txBox="1"/>
          <p:nvPr>
            <p:ph idx="4" type="subTitle"/>
          </p:nvPr>
        </p:nvSpPr>
        <p:spPr>
          <a:xfrm>
            <a:off x="4708753" y="1915655"/>
            <a:ext cx="23262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20"/>
          <p:cNvSpPr txBox="1"/>
          <p:nvPr>
            <p:ph idx="5" type="subTitle"/>
          </p:nvPr>
        </p:nvSpPr>
        <p:spPr>
          <a:xfrm>
            <a:off x="2109048" y="3102807"/>
            <a:ext cx="2313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6" type="subTitle"/>
          </p:nvPr>
        </p:nvSpPr>
        <p:spPr>
          <a:xfrm>
            <a:off x="2109047" y="3462836"/>
            <a:ext cx="23133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7" type="subTitle"/>
          </p:nvPr>
        </p:nvSpPr>
        <p:spPr>
          <a:xfrm>
            <a:off x="4708750" y="3102806"/>
            <a:ext cx="2326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198" name="Google Shape;198;p20"/>
          <p:cNvSpPr txBox="1"/>
          <p:nvPr>
            <p:ph idx="8" type="subTitle"/>
          </p:nvPr>
        </p:nvSpPr>
        <p:spPr>
          <a:xfrm>
            <a:off x="4708753" y="3462836"/>
            <a:ext cx="23262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20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 amt="75000"/>
          </a:blip>
          <a:srcRect b="0" l="23664" r="0" t="13299"/>
          <a:stretch/>
        </p:blipFill>
        <p:spPr>
          <a:xfrm>
            <a:off x="-142875" y="-3086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3">
            <a:alphaModFix amt="75000"/>
          </a:blip>
          <a:srcRect b="0" l="21334" r="0" t="3883"/>
          <a:stretch/>
        </p:blipFill>
        <p:spPr>
          <a:xfrm rot="-10799995">
            <a:off x="5587300" y="24513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20000" y="174824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8" name="Google Shape;208;p21"/>
          <p:cNvSpPr txBox="1"/>
          <p:nvPr>
            <p:ph idx="1" type="subTitle"/>
          </p:nvPr>
        </p:nvSpPr>
        <p:spPr>
          <a:xfrm>
            <a:off x="720204" y="2019748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1"/>
          <p:cNvSpPr txBox="1"/>
          <p:nvPr>
            <p:ph idx="2" type="title"/>
          </p:nvPr>
        </p:nvSpPr>
        <p:spPr>
          <a:xfrm>
            <a:off x="3368276" y="174824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0" name="Google Shape;210;p21"/>
          <p:cNvSpPr txBox="1"/>
          <p:nvPr>
            <p:ph idx="3" type="subTitle"/>
          </p:nvPr>
        </p:nvSpPr>
        <p:spPr>
          <a:xfrm>
            <a:off x="3368275" y="2019748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1"/>
          <p:cNvSpPr txBox="1"/>
          <p:nvPr>
            <p:ph idx="4" type="title"/>
          </p:nvPr>
        </p:nvSpPr>
        <p:spPr>
          <a:xfrm>
            <a:off x="720204" y="323737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2" name="Google Shape;212;p21"/>
          <p:cNvSpPr txBox="1"/>
          <p:nvPr>
            <p:ph idx="5" type="subTitle"/>
          </p:nvPr>
        </p:nvSpPr>
        <p:spPr>
          <a:xfrm>
            <a:off x="720204" y="3509446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 txBox="1"/>
          <p:nvPr>
            <p:ph idx="6" type="title"/>
          </p:nvPr>
        </p:nvSpPr>
        <p:spPr>
          <a:xfrm>
            <a:off x="3368276" y="323737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4" name="Google Shape;214;p21"/>
          <p:cNvSpPr txBox="1"/>
          <p:nvPr>
            <p:ph idx="7" type="subTitle"/>
          </p:nvPr>
        </p:nvSpPr>
        <p:spPr>
          <a:xfrm>
            <a:off x="3368275" y="3509446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1"/>
          <p:cNvSpPr txBox="1"/>
          <p:nvPr>
            <p:ph idx="8" type="title"/>
          </p:nvPr>
        </p:nvSpPr>
        <p:spPr>
          <a:xfrm>
            <a:off x="6000876" y="174824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6" name="Google Shape;216;p21"/>
          <p:cNvSpPr txBox="1"/>
          <p:nvPr>
            <p:ph idx="9" type="subTitle"/>
          </p:nvPr>
        </p:nvSpPr>
        <p:spPr>
          <a:xfrm>
            <a:off x="6000875" y="2019748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3" type="title"/>
          </p:nvPr>
        </p:nvSpPr>
        <p:spPr>
          <a:xfrm>
            <a:off x="6000876" y="323737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" name="Google Shape;218;p21"/>
          <p:cNvSpPr txBox="1"/>
          <p:nvPr>
            <p:ph idx="14" type="subTitle"/>
          </p:nvPr>
        </p:nvSpPr>
        <p:spPr>
          <a:xfrm>
            <a:off x="6000875" y="3509446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15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0" name="Google Shape;220;p21"/>
          <p:cNvPicPr preferRelativeResize="0"/>
          <p:nvPr/>
        </p:nvPicPr>
        <p:blipFill rotWithShape="1">
          <a:blip r:embed="rId3">
            <a:alphaModFix amt="75000"/>
          </a:blip>
          <a:srcRect b="0" l="23147" r="0" t="15754"/>
          <a:stretch/>
        </p:blipFill>
        <p:spPr>
          <a:xfrm rot="5400000">
            <a:off x="5748539" y="489536"/>
            <a:ext cx="4351724" cy="29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 rotWithShape="1">
          <a:blip r:embed="rId3">
            <a:alphaModFix amt="75000"/>
          </a:blip>
          <a:srcRect b="0" l="19672" r="0" t="17471"/>
          <a:stretch/>
        </p:blipFill>
        <p:spPr>
          <a:xfrm rot="-5399996">
            <a:off x="-957325" y="1514479"/>
            <a:ext cx="4633974" cy="2947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9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 txBox="1"/>
          <p:nvPr>
            <p:ph type="title"/>
          </p:nvPr>
        </p:nvSpPr>
        <p:spPr>
          <a:xfrm>
            <a:off x="867750" y="3269200"/>
            <a:ext cx="1841400" cy="3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8" name="Google Shape;228;p22"/>
          <p:cNvSpPr txBox="1"/>
          <p:nvPr>
            <p:ph idx="1" type="subTitle"/>
          </p:nvPr>
        </p:nvSpPr>
        <p:spPr>
          <a:xfrm>
            <a:off x="867750" y="3500976"/>
            <a:ext cx="1841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2"/>
          <p:cNvSpPr txBox="1"/>
          <p:nvPr>
            <p:ph idx="2" type="title"/>
          </p:nvPr>
        </p:nvSpPr>
        <p:spPr>
          <a:xfrm>
            <a:off x="3651596" y="3269200"/>
            <a:ext cx="1841400" cy="3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" name="Google Shape;230;p22"/>
          <p:cNvSpPr txBox="1"/>
          <p:nvPr>
            <p:ph idx="3" type="subTitle"/>
          </p:nvPr>
        </p:nvSpPr>
        <p:spPr>
          <a:xfrm>
            <a:off x="3651596" y="3500976"/>
            <a:ext cx="1841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6434843" y="3269200"/>
            <a:ext cx="1841400" cy="3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22"/>
          <p:cNvSpPr txBox="1"/>
          <p:nvPr>
            <p:ph idx="5" type="subTitle"/>
          </p:nvPr>
        </p:nvSpPr>
        <p:spPr>
          <a:xfrm>
            <a:off x="6434843" y="3500976"/>
            <a:ext cx="1841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2"/>
          <p:cNvSpPr txBox="1"/>
          <p:nvPr>
            <p:ph hasCustomPrompt="1" idx="6" type="title"/>
          </p:nvPr>
        </p:nvSpPr>
        <p:spPr>
          <a:xfrm>
            <a:off x="1316850" y="1989375"/>
            <a:ext cx="943200" cy="514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4" name="Google Shape;234;p22"/>
          <p:cNvSpPr txBox="1"/>
          <p:nvPr>
            <p:ph hasCustomPrompt="1" idx="7" type="title"/>
          </p:nvPr>
        </p:nvSpPr>
        <p:spPr>
          <a:xfrm>
            <a:off x="4100400" y="1989375"/>
            <a:ext cx="943200" cy="514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22"/>
          <p:cNvSpPr txBox="1"/>
          <p:nvPr>
            <p:ph hasCustomPrompt="1" idx="8" type="title"/>
          </p:nvPr>
        </p:nvSpPr>
        <p:spPr>
          <a:xfrm>
            <a:off x="6883943" y="1989375"/>
            <a:ext cx="943200" cy="514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2"/>
          <p:cNvSpPr txBox="1"/>
          <p:nvPr>
            <p:ph idx="9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 amt="75000"/>
          </a:blip>
          <a:srcRect b="0" l="23312" r="0" t="17389"/>
          <a:stretch/>
        </p:blipFill>
        <p:spPr>
          <a:xfrm rot="5400000">
            <a:off x="5724725" y="522874"/>
            <a:ext cx="4342200" cy="28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 amt="75000"/>
          </a:blip>
          <a:srcRect b="0" l="21488" r="0" t="20407"/>
          <a:stretch/>
        </p:blipFill>
        <p:spPr>
          <a:xfrm rot="-5399996">
            <a:off x="-852549" y="1514479"/>
            <a:ext cx="4529198" cy="284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 txBox="1"/>
          <p:nvPr>
            <p:ph type="title"/>
          </p:nvPr>
        </p:nvSpPr>
        <p:spPr>
          <a:xfrm>
            <a:off x="721575" y="540775"/>
            <a:ext cx="7704000" cy="572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 amt="75000"/>
          </a:blip>
          <a:srcRect b="0" l="26204" r="0" t="0"/>
          <a:stretch/>
        </p:blipFill>
        <p:spPr>
          <a:xfrm rot="-5400000">
            <a:off x="-785911" y="1937192"/>
            <a:ext cx="3611223" cy="30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 rotWithShape="1">
          <a:blip r:embed="rId3">
            <a:alphaModFix amt="75000"/>
          </a:blip>
          <a:srcRect b="0" l="26335" r="0" t="537"/>
          <a:stretch/>
        </p:blipFill>
        <p:spPr>
          <a:xfrm rot="5400005">
            <a:off x="6372987" y="109689"/>
            <a:ext cx="3429100" cy="2866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 txBox="1"/>
          <p:nvPr>
            <p:ph type="ctrTitle"/>
          </p:nvPr>
        </p:nvSpPr>
        <p:spPr>
          <a:xfrm>
            <a:off x="2243613" y="573100"/>
            <a:ext cx="4661700" cy="11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3" name="Google Shape;253;p24"/>
          <p:cNvSpPr txBox="1"/>
          <p:nvPr>
            <p:ph idx="1" type="subTitle"/>
          </p:nvPr>
        </p:nvSpPr>
        <p:spPr>
          <a:xfrm>
            <a:off x="2243625" y="1723300"/>
            <a:ext cx="4661700" cy="11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24"/>
          <p:cNvSpPr txBox="1"/>
          <p:nvPr/>
        </p:nvSpPr>
        <p:spPr>
          <a:xfrm>
            <a:off x="2072100" y="4182850"/>
            <a:ext cx="4999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, and includes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 and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 rotWithShape="1">
          <a:blip r:embed="rId6">
            <a:alphaModFix amt="75000"/>
          </a:blip>
          <a:srcRect b="0" l="18320" r="0" t="0"/>
          <a:stretch/>
        </p:blipFill>
        <p:spPr>
          <a:xfrm rot="5400000">
            <a:off x="5077976" y="347474"/>
            <a:ext cx="5076823" cy="384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/>
          <p:cNvPicPr preferRelativeResize="0"/>
          <p:nvPr/>
        </p:nvPicPr>
        <p:blipFill rotWithShape="1">
          <a:blip r:embed="rId6">
            <a:alphaModFix amt="75000"/>
          </a:blip>
          <a:srcRect b="0" l="14258" r="0" t="537"/>
          <a:stretch/>
        </p:blipFill>
        <p:spPr>
          <a:xfrm rot="-5399997">
            <a:off x="-1076912" y="756716"/>
            <a:ext cx="5372099" cy="385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8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 amt="75000"/>
          </a:blip>
          <a:srcRect b="0" l="23664" r="0" t="13299"/>
          <a:stretch/>
        </p:blipFill>
        <p:spPr>
          <a:xfrm>
            <a:off x="9525" y="-1562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 amt="75000"/>
          </a:blip>
          <a:srcRect b="0" l="21334" r="0" t="3883"/>
          <a:stretch/>
        </p:blipFill>
        <p:spPr>
          <a:xfrm rot="-10799995">
            <a:off x="5739700" y="26037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 b="17753" l="0" r="0" t="1620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 amt="75000"/>
          </a:blip>
          <a:srcRect b="0" l="20356" r="0" t="0"/>
          <a:stretch/>
        </p:blipFill>
        <p:spPr>
          <a:xfrm rot="5400000">
            <a:off x="4631025" y="510125"/>
            <a:ext cx="5524500" cy="4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 amt="75000"/>
          </a:blip>
          <a:srcRect b="0" l="16645" r="0" t="537"/>
          <a:stretch/>
        </p:blipFill>
        <p:spPr>
          <a:xfrm rot="-5399997">
            <a:off x="-1058539" y="294014"/>
            <a:ext cx="5654502" cy="417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37000">
              <a:schemeClr val="dk1"/>
            </a:gs>
            <a:gs pos="6300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82475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udiowide"/>
              <a:buNone/>
              <a:defRPr sz="2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82475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linkedin.com/in/olegfdezll/" TargetMode="External"/><Relationship Id="rId4" Type="http://schemas.openxmlformats.org/officeDocument/2006/relationships/hyperlink" Target="https://www.linkedin.com/in/emele-ramos-granados/" TargetMode="External"/><Relationship Id="rId5" Type="http://schemas.openxmlformats.org/officeDocument/2006/relationships/hyperlink" Target="https://github.com/GatitosLab" TargetMode="External"/><Relationship Id="rId6" Type="http://schemas.openxmlformats.org/officeDocument/2006/relationships/hyperlink" Target="https://github.com/GatitosLab" TargetMode="External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1845750" y="2536375"/>
            <a:ext cx="5892300" cy="47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Simulación de d</a:t>
            </a:r>
            <a:r>
              <a:rPr lang="en"/>
              <a:t>iseño, despliegue y documentación de Red para Centro de Salud Especializado “San Olegario”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27"/>
          <p:cNvGrpSpPr/>
          <p:nvPr/>
        </p:nvGrpSpPr>
        <p:grpSpPr>
          <a:xfrm rot="5400000">
            <a:off x="7769557" y="3906771"/>
            <a:ext cx="288601" cy="1096693"/>
            <a:chOff x="1006700" y="2603975"/>
            <a:chExt cx="55450" cy="210700"/>
          </a:xfrm>
        </p:grpSpPr>
        <p:sp>
          <p:nvSpPr>
            <p:cNvPr id="277" name="Google Shape;277;p27"/>
            <p:cNvSpPr/>
            <p:nvPr/>
          </p:nvSpPr>
          <p:spPr>
            <a:xfrm>
              <a:off x="1006700" y="262997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1032700" y="260397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1006700" y="2707200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1032700" y="2681600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1006700" y="278522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1032700" y="275922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83" name="Google Shape;283;p27"/>
          <p:cNvPicPr preferRelativeResize="0"/>
          <p:nvPr/>
        </p:nvPicPr>
        <p:blipFill rotWithShape="1">
          <a:blip r:embed="rId3">
            <a:alphaModFix/>
          </a:blip>
          <a:srcRect b="17287" l="0" r="0" t="0"/>
          <a:stretch/>
        </p:blipFill>
        <p:spPr>
          <a:xfrm>
            <a:off x="3359050" y="1327925"/>
            <a:ext cx="2865701" cy="9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906600" y="2944625"/>
            <a:ext cx="777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37B97"/>
                </a:solidFill>
                <a:latin typeface="Karla Light"/>
                <a:ea typeface="Karla Light"/>
                <a:cs typeface="Karla Light"/>
                <a:sym typeface="Karla Light"/>
              </a:rPr>
              <a:t>Oleg Fernández-Llebrez Rodríguez  </a:t>
            </a:r>
            <a:r>
              <a:rPr lang="en" sz="12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 </a:t>
            </a:r>
            <a:r>
              <a:rPr lang="en" sz="12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 | </a:t>
            </a:r>
            <a:r>
              <a:rPr lang="en" sz="12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Estudiante de ASIR en el centro Fomento Ocupacional - FOC</a:t>
            </a:r>
            <a:endParaRPr sz="12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37B97"/>
                </a:solidFill>
                <a:latin typeface="Karla Light"/>
                <a:ea typeface="Karla Light"/>
                <a:cs typeface="Karla Light"/>
                <a:sym typeface="Karla Light"/>
              </a:rPr>
              <a:t>Laura Ramos Granados</a:t>
            </a:r>
            <a:r>
              <a:rPr lang="en" sz="12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 | Estudiante de ASIR en el IES Zaidín Vergeles - IES ZV</a:t>
            </a:r>
            <a:endParaRPr sz="12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type="title"/>
          </p:nvPr>
        </p:nvSpPr>
        <p:spPr>
          <a:xfrm>
            <a:off x="1921075" y="1450125"/>
            <a:ext cx="5252700" cy="4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Contexto y propósito</a:t>
            </a:r>
            <a:endParaRPr sz="2500"/>
          </a:p>
        </p:txBody>
      </p:sp>
      <p:grpSp>
        <p:nvGrpSpPr>
          <p:cNvPr id="290" name="Google Shape;290;p28"/>
          <p:cNvGrpSpPr/>
          <p:nvPr/>
        </p:nvGrpSpPr>
        <p:grpSpPr>
          <a:xfrm rot="10800000">
            <a:off x="8057882" y="382596"/>
            <a:ext cx="288601" cy="1096693"/>
            <a:chOff x="1006700" y="2603975"/>
            <a:chExt cx="55450" cy="210700"/>
          </a:xfrm>
        </p:grpSpPr>
        <p:sp>
          <p:nvSpPr>
            <p:cNvPr id="291" name="Google Shape;291;p28"/>
            <p:cNvSpPr/>
            <p:nvPr/>
          </p:nvSpPr>
          <p:spPr>
            <a:xfrm>
              <a:off x="1006700" y="262997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8"/>
            <p:cNvSpPr/>
            <p:nvPr/>
          </p:nvSpPr>
          <p:spPr>
            <a:xfrm>
              <a:off x="1032700" y="260397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8"/>
            <p:cNvSpPr/>
            <p:nvPr/>
          </p:nvSpPr>
          <p:spPr>
            <a:xfrm>
              <a:off x="1006700" y="2707200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8"/>
            <p:cNvSpPr/>
            <p:nvPr/>
          </p:nvSpPr>
          <p:spPr>
            <a:xfrm>
              <a:off x="1032700" y="2681600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1006700" y="278522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8"/>
            <p:cNvSpPr/>
            <p:nvPr/>
          </p:nvSpPr>
          <p:spPr>
            <a:xfrm>
              <a:off x="1032700" y="275922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28"/>
          <p:cNvGrpSpPr/>
          <p:nvPr/>
        </p:nvGrpSpPr>
        <p:grpSpPr>
          <a:xfrm rot="5400000">
            <a:off x="1253007" y="3226821"/>
            <a:ext cx="288601" cy="1096693"/>
            <a:chOff x="1006700" y="2603975"/>
            <a:chExt cx="55450" cy="210700"/>
          </a:xfrm>
        </p:grpSpPr>
        <p:sp>
          <p:nvSpPr>
            <p:cNvPr id="298" name="Google Shape;298;p28"/>
            <p:cNvSpPr/>
            <p:nvPr/>
          </p:nvSpPr>
          <p:spPr>
            <a:xfrm>
              <a:off x="1006700" y="262997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1032700" y="260397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1006700" y="2707200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1032700" y="2681600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8"/>
            <p:cNvSpPr/>
            <p:nvPr/>
          </p:nvSpPr>
          <p:spPr>
            <a:xfrm>
              <a:off x="1006700" y="278522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8"/>
            <p:cNvSpPr/>
            <p:nvPr/>
          </p:nvSpPr>
          <p:spPr>
            <a:xfrm>
              <a:off x="1032700" y="275922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p28"/>
          <p:cNvSpPr txBox="1"/>
          <p:nvPr/>
        </p:nvSpPr>
        <p:spPr>
          <a:xfrm>
            <a:off x="1601175" y="1989275"/>
            <a:ext cx="6647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Este proyecto ha sido desarrollado con carácter educativo como parte de la fase final de nuestras prácticas de Administración de Sistemas Informáticos y Redes en Kyndryl, con la </a:t>
            </a: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intención</a:t>
            </a: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 de: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-127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Karla Light"/>
              <a:buChar char="●"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Consolidar conocimientos de redes, virtualización y seguridad.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-127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Karla Light"/>
              <a:buChar char="●"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Simular una infraestructura realista y documentarla profesionalmente.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-127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Karla Light"/>
              <a:buChar char="●"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Poner en práctica el diseño de redes escalables, segmentadas y seguras.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305" name="Google Shape;305;p28"/>
          <p:cNvGrpSpPr/>
          <p:nvPr/>
        </p:nvGrpSpPr>
        <p:grpSpPr>
          <a:xfrm>
            <a:off x="1565402" y="1450113"/>
            <a:ext cx="355663" cy="308725"/>
            <a:chOff x="-28462125" y="3199700"/>
            <a:chExt cx="298550" cy="259150"/>
          </a:xfrm>
        </p:grpSpPr>
        <p:sp>
          <p:nvSpPr>
            <p:cNvPr id="306" name="Google Shape;306;p28"/>
            <p:cNvSpPr/>
            <p:nvPr/>
          </p:nvSpPr>
          <p:spPr>
            <a:xfrm>
              <a:off x="-28459750" y="3284775"/>
              <a:ext cx="296175" cy="104775"/>
            </a:xfrm>
            <a:custGeom>
              <a:rect b="b" l="l" r="r" t="t"/>
              <a:pathLst>
                <a:path extrusionOk="0" h="4191" w="11847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8"/>
            <p:cNvSpPr/>
            <p:nvPr/>
          </p:nvSpPr>
          <p:spPr>
            <a:xfrm>
              <a:off x="-28462125" y="3199700"/>
              <a:ext cx="295400" cy="125275"/>
            </a:xfrm>
            <a:custGeom>
              <a:rect b="b" l="l" r="r" t="t"/>
              <a:pathLst>
                <a:path extrusionOk="0" h="5011" w="11816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8"/>
            <p:cNvSpPr/>
            <p:nvPr/>
          </p:nvSpPr>
          <p:spPr>
            <a:xfrm>
              <a:off x="-28405400" y="3360375"/>
              <a:ext cx="186675" cy="98475"/>
            </a:xfrm>
            <a:custGeom>
              <a:rect b="b" l="l" r="r" t="t"/>
              <a:pathLst>
                <a:path extrusionOk="0" h="3939" w="7467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/>
          <p:nvPr>
            <p:ph type="title"/>
          </p:nvPr>
        </p:nvSpPr>
        <p:spPr>
          <a:xfrm>
            <a:off x="943700" y="528925"/>
            <a:ext cx="38955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Marco situacional</a:t>
            </a:r>
            <a:endParaRPr sz="2500">
              <a:solidFill>
                <a:schemeClr val="accent1"/>
              </a:solidFill>
            </a:endParaRPr>
          </a:p>
        </p:txBody>
      </p:sp>
      <p:sp>
        <p:nvSpPr>
          <p:cNvPr id="314" name="Google Shape;314;p29"/>
          <p:cNvSpPr txBox="1"/>
          <p:nvPr/>
        </p:nvSpPr>
        <p:spPr>
          <a:xfrm>
            <a:off x="909125" y="1325850"/>
            <a:ext cx="672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Karla Light"/>
                <a:ea typeface="Karla Light"/>
                <a:cs typeface="Karla Light"/>
                <a:sym typeface="Karla Light"/>
              </a:rPr>
              <a:t>El Centro de Salud Municipal “San Olegario” busca mejorar su conectividad interna para dar soporte a sus servicios médicos y administrativos. Actualmente, el centro cuenta con un conjunto reducido de servicios digitales: </a:t>
            </a:r>
            <a:endParaRPr sz="1200">
              <a:solidFill>
                <a:schemeClr val="accent6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315" name="Google Shape;315;p29"/>
          <p:cNvGrpSpPr/>
          <p:nvPr/>
        </p:nvGrpSpPr>
        <p:grpSpPr>
          <a:xfrm>
            <a:off x="2932432" y="2744871"/>
            <a:ext cx="3865976" cy="1279879"/>
            <a:chOff x="6796238" y="3158297"/>
            <a:chExt cx="1630319" cy="677257"/>
          </a:xfrm>
        </p:grpSpPr>
        <p:cxnSp>
          <p:nvCxnSpPr>
            <p:cNvPr id="316" name="Google Shape;316;p29"/>
            <p:cNvCxnSpPr/>
            <p:nvPr/>
          </p:nvCxnSpPr>
          <p:spPr>
            <a:xfrm>
              <a:off x="7012244" y="3664854"/>
              <a:ext cx="0" cy="170700"/>
            </a:xfrm>
            <a:prstGeom prst="straightConnector1">
              <a:avLst/>
            </a:prstGeom>
            <a:noFill/>
            <a:ln cap="flat" cmpd="sng" w="9525">
              <a:solidFill>
                <a:srgbClr val="A5B7C6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17" name="Google Shape;317;p29"/>
            <p:cNvCxnSpPr/>
            <p:nvPr/>
          </p:nvCxnSpPr>
          <p:spPr>
            <a:xfrm>
              <a:off x="7810957" y="3664854"/>
              <a:ext cx="0" cy="170700"/>
            </a:xfrm>
            <a:prstGeom prst="straightConnector1">
              <a:avLst/>
            </a:prstGeom>
            <a:noFill/>
            <a:ln cap="flat" cmpd="sng" w="9525">
              <a:solidFill>
                <a:srgbClr val="A5B7C6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18" name="Google Shape;318;p29"/>
            <p:cNvCxnSpPr/>
            <p:nvPr/>
          </p:nvCxnSpPr>
          <p:spPr>
            <a:xfrm rot="10800000">
              <a:off x="8196652" y="3170826"/>
              <a:ext cx="0" cy="169800"/>
            </a:xfrm>
            <a:prstGeom prst="straightConnector1">
              <a:avLst/>
            </a:prstGeom>
            <a:noFill/>
            <a:ln cap="flat" cmpd="sng" w="9525">
              <a:solidFill>
                <a:srgbClr val="A5B7C6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cxnSp>
          <p:nvCxnSpPr>
            <p:cNvPr id="319" name="Google Shape;319;p29"/>
            <p:cNvCxnSpPr/>
            <p:nvPr/>
          </p:nvCxnSpPr>
          <p:spPr>
            <a:xfrm rot="10800000">
              <a:off x="7411601" y="3158297"/>
              <a:ext cx="0" cy="170700"/>
            </a:xfrm>
            <a:prstGeom prst="straightConnector1">
              <a:avLst/>
            </a:prstGeom>
            <a:noFill/>
            <a:ln cap="flat" cmpd="sng" w="9525">
              <a:solidFill>
                <a:srgbClr val="A5B7C6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grpSp>
          <p:nvGrpSpPr>
            <p:cNvPr id="320" name="Google Shape;320;p29"/>
            <p:cNvGrpSpPr/>
            <p:nvPr/>
          </p:nvGrpSpPr>
          <p:grpSpPr>
            <a:xfrm>
              <a:off x="6796238" y="3311904"/>
              <a:ext cx="1630319" cy="377697"/>
              <a:chOff x="6796238" y="3311904"/>
              <a:chExt cx="1630319" cy="377697"/>
            </a:xfrm>
          </p:grpSpPr>
          <p:sp>
            <p:nvSpPr>
              <p:cNvPr id="321" name="Google Shape;321;p29"/>
              <p:cNvSpPr/>
              <p:nvPr/>
            </p:nvSpPr>
            <p:spPr>
              <a:xfrm>
                <a:off x="6796238" y="3311904"/>
                <a:ext cx="798025" cy="377697"/>
              </a:xfrm>
              <a:custGeom>
                <a:rect b="b" l="l" r="r" t="t"/>
                <a:pathLst>
                  <a:path extrusionOk="0" h="16266" w="34368">
                    <a:moveTo>
                      <a:pt x="4679" y="0"/>
                    </a:moveTo>
                    <a:lnTo>
                      <a:pt x="0" y="8133"/>
                    </a:lnTo>
                    <a:lnTo>
                      <a:pt x="4679" y="16265"/>
                    </a:lnTo>
                    <a:lnTo>
                      <a:pt x="14094" y="16265"/>
                    </a:lnTo>
                    <a:lnTo>
                      <a:pt x="17913" y="9590"/>
                    </a:lnTo>
                    <a:lnTo>
                      <a:pt x="22591" y="1458"/>
                    </a:lnTo>
                    <a:lnTo>
                      <a:pt x="30301" y="1458"/>
                    </a:lnTo>
                    <a:lnTo>
                      <a:pt x="33522" y="7098"/>
                    </a:lnTo>
                    <a:lnTo>
                      <a:pt x="34367" y="5640"/>
                    </a:lnTo>
                    <a:lnTo>
                      <a:pt x="33522" y="4183"/>
                    </a:lnTo>
                    <a:lnTo>
                      <a:pt x="31146" y="0"/>
                    </a:lnTo>
                    <a:lnTo>
                      <a:pt x="21746" y="0"/>
                    </a:lnTo>
                    <a:lnTo>
                      <a:pt x="17067" y="8133"/>
                    </a:lnTo>
                    <a:lnTo>
                      <a:pt x="13234" y="14808"/>
                    </a:lnTo>
                    <a:lnTo>
                      <a:pt x="5524" y="14808"/>
                    </a:lnTo>
                    <a:lnTo>
                      <a:pt x="1706" y="8133"/>
                    </a:lnTo>
                    <a:lnTo>
                      <a:pt x="5524" y="1458"/>
                    </a:lnTo>
                    <a:lnTo>
                      <a:pt x="13234" y="1458"/>
                    </a:lnTo>
                    <a:lnTo>
                      <a:pt x="16455" y="7098"/>
                    </a:lnTo>
                    <a:lnTo>
                      <a:pt x="17301" y="5640"/>
                    </a:lnTo>
                    <a:lnTo>
                      <a:pt x="16455" y="4183"/>
                    </a:lnTo>
                    <a:lnTo>
                      <a:pt x="14094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9"/>
              <p:cNvSpPr/>
              <p:nvPr/>
            </p:nvSpPr>
            <p:spPr>
              <a:xfrm>
                <a:off x="7628207" y="3311904"/>
                <a:ext cx="798350" cy="377697"/>
              </a:xfrm>
              <a:custGeom>
                <a:rect b="b" l="l" r="r" t="t"/>
                <a:pathLst>
                  <a:path extrusionOk="0" h="16266" w="34382">
                    <a:moveTo>
                      <a:pt x="20288" y="0"/>
                    </a:moveTo>
                    <a:lnTo>
                      <a:pt x="16470" y="6675"/>
                    </a:lnTo>
                    <a:lnTo>
                      <a:pt x="11791" y="14808"/>
                    </a:lnTo>
                    <a:lnTo>
                      <a:pt x="4081" y="14808"/>
                    </a:lnTo>
                    <a:lnTo>
                      <a:pt x="860" y="9167"/>
                    </a:lnTo>
                    <a:lnTo>
                      <a:pt x="0" y="10625"/>
                    </a:lnTo>
                    <a:lnTo>
                      <a:pt x="860" y="12082"/>
                    </a:lnTo>
                    <a:lnTo>
                      <a:pt x="3221" y="16265"/>
                    </a:lnTo>
                    <a:lnTo>
                      <a:pt x="12637" y="16265"/>
                    </a:lnTo>
                    <a:lnTo>
                      <a:pt x="17315" y="8133"/>
                    </a:lnTo>
                    <a:lnTo>
                      <a:pt x="21134" y="1458"/>
                    </a:lnTo>
                    <a:lnTo>
                      <a:pt x="28858" y="1458"/>
                    </a:lnTo>
                    <a:lnTo>
                      <a:pt x="32677" y="8133"/>
                    </a:lnTo>
                    <a:lnTo>
                      <a:pt x="28858" y="14808"/>
                    </a:lnTo>
                    <a:lnTo>
                      <a:pt x="21134" y="14808"/>
                    </a:lnTo>
                    <a:lnTo>
                      <a:pt x="17927" y="9167"/>
                    </a:lnTo>
                    <a:lnTo>
                      <a:pt x="17067" y="10625"/>
                    </a:lnTo>
                    <a:lnTo>
                      <a:pt x="17927" y="12082"/>
                    </a:lnTo>
                    <a:lnTo>
                      <a:pt x="20288" y="16265"/>
                    </a:lnTo>
                    <a:lnTo>
                      <a:pt x="29703" y="16265"/>
                    </a:lnTo>
                    <a:lnTo>
                      <a:pt x="34382" y="8133"/>
                    </a:lnTo>
                    <a:lnTo>
                      <a:pt x="29703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9"/>
              <p:cNvSpPr/>
              <p:nvPr/>
            </p:nvSpPr>
            <p:spPr>
              <a:xfrm>
                <a:off x="7229098" y="3311904"/>
                <a:ext cx="762823" cy="377697"/>
              </a:xfrm>
              <a:custGeom>
                <a:rect b="b" l="l" r="r" t="t"/>
                <a:pathLst>
                  <a:path extrusionOk="0" h="16266" w="32852">
                    <a:moveTo>
                      <a:pt x="20347" y="0"/>
                    </a:moveTo>
                    <a:lnTo>
                      <a:pt x="16455" y="6675"/>
                    </a:lnTo>
                    <a:lnTo>
                      <a:pt x="11850" y="14808"/>
                    </a:lnTo>
                    <a:lnTo>
                      <a:pt x="4125" y="14808"/>
                    </a:lnTo>
                    <a:lnTo>
                      <a:pt x="846" y="9167"/>
                    </a:lnTo>
                    <a:lnTo>
                      <a:pt x="0" y="10625"/>
                    </a:lnTo>
                    <a:lnTo>
                      <a:pt x="846" y="12082"/>
                    </a:lnTo>
                    <a:lnTo>
                      <a:pt x="3280" y="16265"/>
                    </a:lnTo>
                    <a:lnTo>
                      <a:pt x="12695" y="16265"/>
                    </a:lnTo>
                    <a:lnTo>
                      <a:pt x="17315" y="8133"/>
                    </a:lnTo>
                    <a:lnTo>
                      <a:pt x="21134" y="1458"/>
                    </a:lnTo>
                    <a:lnTo>
                      <a:pt x="28902" y="1458"/>
                    </a:lnTo>
                    <a:lnTo>
                      <a:pt x="32065" y="6981"/>
                    </a:lnTo>
                    <a:lnTo>
                      <a:pt x="32852" y="5524"/>
                    </a:lnTo>
                    <a:lnTo>
                      <a:pt x="29703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4" name="Google Shape;324;p29"/>
          <p:cNvSpPr txBox="1"/>
          <p:nvPr/>
        </p:nvSpPr>
        <p:spPr>
          <a:xfrm>
            <a:off x="3856625" y="2219250"/>
            <a:ext cx="114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S</a:t>
            </a: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ervidor web de acceso público</a:t>
            </a:r>
            <a:endParaRPr sz="12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2841750" y="4111000"/>
            <a:ext cx="114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H</a:t>
            </a: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istoria clínica electrónica</a:t>
            </a:r>
            <a:endParaRPr sz="10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4253124" y="3210091"/>
            <a:ext cx="348513" cy="349427"/>
          </a:xfrm>
          <a:custGeom>
            <a:rect b="b" l="l" r="r" t="t"/>
            <a:pathLst>
              <a:path extrusionOk="0" h="11846" w="11815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327" name="Google Shape;327;p29"/>
          <p:cNvGrpSpPr/>
          <p:nvPr/>
        </p:nvGrpSpPr>
        <p:grpSpPr>
          <a:xfrm>
            <a:off x="3234031" y="3218582"/>
            <a:ext cx="356946" cy="332464"/>
            <a:chOff x="-25477800" y="2357750"/>
            <a:chExt cx="298525" cy="278050"/>
          </a:xfrm>
        </p:grpSpPr>
        <p:sp>
          <p:nvSpPr>
            <p:cNvPr id="328" name="Google Shape;328;p29"/>
            <p:cNvSpPr/>
            <p:nvPr/>
          </p:nvSpPr>
          <p:spPr>
            <a:xfrm>
              <a:off x="-25477800" y="2357750"/>
              <a:ext cx="298525" cy="278050"/>
            </a:xfrm>
            <a:custGeom>
              <a:rect b="b" l="l" r="r" t="t"/>
              <a:pathLst>
                <a:path extrusionOk="0" h="11122" w="11941">
                  <a:moveTo>
                    <a:pt x="7057" y="1229"/>
                  </a:moveTo>
                  <a:lnTo>
                    <a:pt x="7971" y="2143"/>
                  </a:lnTo>
                  <a:lnTo>
                    <a:pt x="7057" y="2143"/>
                  </a:lnTo>
                  <a:lnTo>
                    <a:pt x="7057" y="1229"/>
                  </a:lnTo>
                  <a:close/>
                  <a:moveTo>
                    <a:pt x="6333" y="756"/>
                  </a:moveTo>
                  <a:lnTo>
                    <a:pt x="6333" y="2489"/>
                  </a:lnTo>
                  <a:cubicBezTo>
                    <a:pt x="6333" y="2678"/>
                    <a:pt x="6490" y="2836"/>
                    <a:pt x="6679" y="2836"/>
                  </a:cubicBezTo>
                  <a:lnTo>
                    <a:pt x="8412" y="2836"/>
                  </a:lnTo>
                  <a:lnTo>
                    <a:pt x="8412" y="4946"/>
                  </a:lnTo>
                  <a:lnTo>
                    <a:pt x="7593" y="4946"/>
                  </a:lnTo>
                  <a:lnTo>
                    <a:pt x="7215" y="4096"/>
                  </a:lnTo>
                  <a:cubicBezTo>
                    <a:pt x="7026" y="3749"/>
                    <a:pt x="6648" y="3529"/>
                    <a:pt x="6270" y="3529"/>
                  </a:cubicBezTo>
                  <a:lnTo>
                    <a:pt x="3245" y="3529"/>
                  </a:lnTo>
                  <a:cubicBezTo>
                    <a:pt x="3119" y="3529"/>
                    <a:pt x="2993" y="3560"/>
                    <a:pt x="2867" y="3592"/>
                  </a:cubicBezTo>
                  <a:lnTo>
                    <a:pt x="2867" y="756"/>
                  </a:lnTo>
                  <a:close/>
                  <a:moveTo>
                    <a:pt x="10901" y="6994"/>
                  </a:moveTo>
                  <a:cubicBezTo>
                    <a:pt x="11027" y="6994"/>
                    <a:pt x="11090" y="7026"/>
                    <a:pt x="11184" y="7089"/>
                  </a:cubicBezTo>
                  <a:cubicBezTo>
                    <a:pt x="11247" y="7183"/>
                    <a:pt x="11247" y="7246"/>
                    <a:pt x="11247" y="7372"/>
                  </a:cubicBezTo>
                  <a:lnTo>
                    <a:pt x="10995" y="9105"/>
                  </a:lnTo>
                  <a:lnTo>
                    <a:pt x="10428" y="6994"/>
                  </a:lnTo>
                  <a:close/>
                  <a:moveTo>
                    <a:pt x="6270" y="4190"/>
                  </a:moveTo>
                  <a:cubicBezTo>
                    <a:pt x="6364" y="4190"/>
                    <a:pt x="6490" y="4253"/>
                    <a:pt x="6585" y="4379"/>
                  </a:cubicBezTo>
                  <a:lnTo>
                    <a:pt x="7089" y="5356"/>
                  </a:lnTo>
                  <a:cubicBezTo>
                    <a:pt x="7120" y="5482"/>
                    <a:pt x="7278" y="5577"/>
                    <a:pt x="7404" y="5577"/>
                  </a:cubicBezTo>
                  <a:lnTo>
                    <a:pt x="9105" y="5577"/>
                  </a:lnTo>
                  <a:cubicBezTo>
                    <a:pt x="9262" y="5577"/>
                    <a:pt x="9420" y="5671"/>
                    <a:pt x="9452" y="5829"/>
                  </a:cubicBezTo>
                  <a:lnTo>
                    <a:pt x="10586" y="10397"/>
                  </a:lnTo>
                  <a:lnTo>
                    <a:pt x="2205" y="10397"/>
                  </a:lnTo>
                  <a:lnTo>
                    <a:pt x="2205" y="10460"/>
                  </a:lnTo>
                  <a:cubicBezTo>
                    <a:pt x="2048" y="10460"/>
                    <a:pt x="1890" y="10334"/>
                    <a:pt x="1859" y="10176"/>
                  </a:cubicBezTo>
                  <a:lnTo>
                    <a:pt x="788" y="5986"/>
                  </a:lnTo>
                  <a:cubicBezTo>
                    <a:pt x="756" y="5892"/>
                    <a:pt x="788" y="5797"/>
                    <a:pt x="851" y="5734"/>
                  </a:cubicBezTo>
                  <a:cubicBezTo>
                    <a:pt x="945" y="5640"/>
                    <a:pt x="1008" y="5608"/>
                    <a:pt x="1134" y="5608"/>
                  </a:cubicBezTo>
                  <a:lnTo>
                    <a:pt x="2520" y="5608"/>
                  </a:lnTo>
                  <a:cubicBezTo>
                    <a:pt x="2709" y="5608"/>
                    <a:pt x="2867" y="5451"/>
                    <a:pt x="2867" y="5262"/>
                  </a:cubicBezTo>
                  <a:lnTo>
                    <a:pt x="2867" y="4537"/>
                  </a:lnTo>
                  <a:cubicBezTo>
                    <a:pt x="2867" y="4348"/>
                    <a:pt x="3025" y="4190"/>
                    <a:pt x="3214" y="4190"/>
                  </a:cubicBezTo>
                  <a:close/>
                  <a:moveTo>
                    <a:pt x="2489" y="0"/>
                  </a:moveTo>
                  <a:cubicBezTo>
                    <a:pt x="2268" y="0"/>
                    <a:pt x="2111" y="158"/>
                    <a:pt x="2111" y="378"/>
                  </a:cubicBezTo>
                  <a:lnTo>
                    <a:pt x="2111" y="4537"/>
                  </a:lnTo>
                  <a:lnTo>
                    <a:pt x="2111" y="4883"/>
                  </a:lnTo>
                  <a:lnTo>
                    <a:pt x="1103" y="4883"/>
                  </a:lnTo>
                  <a:cubicBezTo>
                    <a:pt x="788" y="4883"/>
                    <a:pt x="473" y="5041"/>
                    <a:pt x="284" y="5293"/>
                  </a:cubicBezTo>
                  <a:cubicBezTo>
                    <a:pt x="63" y="5514"/>
                    <a:pt x="0" y="5829"/>
                    <a:pt x="63" y="6144"/>
                  </a:cubicBezTo>
                  <a:lnTo>
                    <a:pt x="1134" y="10334"/>
                  </a:lnTo>
                  <a:cubicBezTo>
                    <a:pt x="1260" y="10806"/>
                    <a:pt x="1701" y="11121"/>
                    <a:pt x="2174" y="11121"/>
                  </a:cubicBezTo>
                  <a:lnTo>
                    <a:pt x="10995" y="11121"/>
                  </a:lnTo>
                  <a:cubicBezTo>
                    <a:pt x="11153" y="11121"/>
                    <a:pt x="11310" y="10995"/>
                    <a:pt x="11342" y="10838"/>
                  </a:cubicBezTo>
                  <a:lnTo>
                    <a:pt x="11877" y="7467"/>
                  </a:lnTo>
                  <a:cubicBezTo>
                    <a:pt x="11940" y="7152"/>
                    <a:pt x="11846" y="6868"/>
                    <a:pt x="11657" y="6616"/>
                  </a:cubicBezTo>
                  <a:cubicBezTo>
                    <a:pt x="11499" y="6427"/>
                    <a:pt x="11216" y="6301"/>
                    <a:pt x="10901" y="6301"/>
                  </a:cubicBezTo>
                  <a:lnTo>
                    <a:pt x="10239" y="6301"/>
                  </a:lnTo>
                  <a:lnTo>
                    <a:pt x="10082" y="5734"/>
                  </a:lnTo>
                  <a:cubicBezTo>
                    <a:pt x="9956" y="5262"/>
                    <a:pt x="9578" y="4946"/>
                    <a:pt x="9105" y="4883"/>
                  </a:cubicBezTo>
                  <a:lnTo>
                    <a:pt x="9105" y="2458"/>
                  </a:lnTo>
                  <a:cubicBezTo>
                    <a:pt x="9105" y="2363"/>
                    <a:pt x="9042" y="2269"/>
                    <a:pt x="8979" y="2206"/>
                  </a:cubicBezTo>
                  <a:lnTo>
                    <a:pt x="6900" y="126"/>
                  </a:lnTo>
                  <a:cubicBezTo>
                    <a:pt x="6805" y="63"/>
                    <a:pt x="6742" y="0"/>
                    <a:pt x="66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-25388025" y="2514850"/>
              <a:ext cx="104000" cy="88650"/>
            </a:xfrm>
            <a:custGeom>
              <a:rect b="b" l="l" r="r" t="t"/>
              <a:pathLst>
                <a:path extrusionOk="0" h="3546" w="4160">
                  <a:moveTo>
                    <a:pt x="1752" y="1"/>
                  </a:moveTo>
                  <a:cubicBezTo>
                    <a:pt x="1716" y="1"/>
                    <a:pt x="1678" y="6"/>
                    <a:pt x="1639" y="17"/>
                  </a:cubicBezTo>
                  <a:cubicBezTo>
                    <a:pt x="1450" y="80"/>
                    <a:pt x="1324" y="269"/>
                    <a:pt x="1418" y="458"/>
                  </a:cubicBezTo>
                  <a:lnTo>
                    <a:pt x="1639" y="1403"/>
                  </a:lnTo>
                  <a:lnTo>
                    <a:pt x="347" y="1403"/>
                  </a:lnTo>
                  <a:cubicBezTo>
                    <a:pt x="158" y="1403"/>
                    <a:pt x="1" y="1561"/>
                    <a:pt x="1" y="1750"/>
                  </a:cubicBezTo>
                  <a:cubicBezTo>
                    <a:pt x="1" y="1970"/>
                    <a:pt x="158" y="2128"/>
                    <a:pt x="347" y="2128"/>
                  </a:cubicBezTo>
                  <a:lnTo>
                    <a:pt x="1796" y="2128"/>
                  </a:lnTo>
                  <a:lnTo>
                    <a:pt x="2080" y="3262"/>
                  </a:lnTo>
                  <a:cubicBezTo>
                    <a:pt x="2111" y="3420"/>
                    <a:pt x="2269" y="3546"/>
                    <a:pt x="2426" y="3546"/>
                  </a:cubicBezTo>
                  <a:lnTo>
                    <a:pt x="2521" y="3546"/>
                  </a:lnTo>
                  <a:cubicBezTo>
                    <a:pt x="2710" y="3483"/>
                    <a:pt x="2836" y="3294"/>
                    <a:pt x="2742" y="3105"/>
                  </a:cubicBezTo>
                  <a:lnTo>
                    <a:pt x="2521" y="2159"/>
                  </a:lnTo>
                  <a:lnTo>
                    <a:pt x="3813" y="2159"/>
                  </a:lnTo>
                  <a:cubicBezTo>
                    <a:pt x="4002" y="2159"/>
                    <a:pt x="4159" y="2002"/>
                    <a:pt x="4159" y="1813"/>
                  </a:cubicBezTo>
                  <a:cubicBezTo>
                    <a:pt x="4159" y="1561"/>
                    <a:pt x="4002" y="1403"/>
                    <a:pt x="3813" y="1403"/>
                  </a:cubicBezTo>
                  <a:lnTo>
                    <a:pt x="2363" y="1403"/>
                  </a:lnTo>
                  <a:lnTo>
                    <a:pt x="2080" y="269"/>
                  </a:lnTo>
                  <a:cubicBezTo>
                    <a:pt x="2054" y="114"/>
                    <a:pt x="1921" y="1"/>
                    <a:pt x="1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</p:grpSp>
      <p:grpSp>
        <p:nvGrpSpPr>
          <p:cNvPr id="330" name="Google Shape;330;p29"/>
          <p:cNvGrpSpPr/>
          <p:nvPr/>
        </p:nvGrpSpPr>
        <p:grpSpPr>
          <a:xfrm>
            <a:off x="5163744" y="3269428"/>
            <a:ext cx="356020" cy="230770"/>
            <a:chOff x="-27728850" y="2382950"/>
            <a:chExt cx="297750" cy="193000"/>
          </a:xfrm>
        </p:grpSpPr>
        <p:sp>
          <p:nvSpPr>
            <p:cNvPr id="331" name="Google Shape;331;p29"/>
            <p:cNvSpPr/>
            <p:nvPr/>
          </p:nvSpPr>
          <p:spPr>
            <a:xfrm>
              <a:off x="-27606750" y="2453825"/>
              <a:ext cx="35450" cy="35475"/>
            </a:xfrm>
            <a:custGeom>
              <a:rect b="b" l="l" r="r" t="t"/>
              <a:pathLst>
                <a:path extrusionOk="0" h="1419" w="1418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103"/>
                    <a:pt x="315" y="1419"/>
                    <a:pt x="725" y="1419"/>
                  </a:cubicBezTo>
                  <a:cubicBezTo>
                    <a:pt x="1103" y="1419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-27728850" y="2382950"/>
              <a:ext cx="297750" cy="193000"/>
            </a:xfrm>
            <a:custGeom>
              <a:rect b="b" l="l" r="r" t="t"/>
              <a:pathLst>
                <a:path extrusionOk="0" h="7720" w="11910">
                  <a:moveTo>
                    <a:pt x="5955" y="756"/>
                  </a:moveTo>
                  <a:cubicBezTo>
                    <a:pt x="7405" y="756"/>
                    <a:pt x="8791" y="1670"/>
                    <a:pt x="9673" y="2426"/>
                  </a:cubicBezTo>
                  <a:cubicBezTo>
                    <a:pt x="10335" y="3025"/>
                    <a:pt x="10839" y="3592"/>
                    <a:pt x="11091" y="3938"/>
                  </a:cubicBezTo>
                  <a:cubicBezTo>
                    <a:pt x="10524" y="4632"/>
                    <a:pt x="8413" y="7026"/>
                    <a:pt x="5955" y="7026"/>
                  </a:cubicBezTo>
                  <a:cubicBezTo>
                    <a:pt x="4506" y="7026"/>
                    <a:pt x="3120" y="6144"/>
                    <a:pt x="2269" y="5388"/>
                  </a:cubicBezTo>
                  <a:cubicBezTo>
                    <a:pt x="1576" y="4789"/>
                    <a:pt x="1072" y="4190"/>
                    <a:pt x="852" y="3875"/>
                  </a:cubicBezTo>
                  <a:cubicBezTo>
                    <a:pt x="1419" y="3182"/>
                    <a:pt x="3529" y="788"/>
                    <a:pt x="5955" y="756"/>
                  </a:cubicBezTo>
                  <a:close/>
                  <a:moveTo>
                    <a:pt x="5955" y="0"/>
                  </a:moveTo>
                  <a:cubicBezTo>
                    <a:pt x="5199" y="0"/>
                    <a:pt x="4412" y="189"/>
                    <a:pt x="3624" y="567"/>
                  </a:cubicBezTo>
                  <a:cubicBezTo>
                    <a:pt x="2994" y="882"/>
                    <a:pt x="2364" y="1324"/>
                    <a:pt x="1797" y="1828"/>
                  </a:cubicBezTo>
                  <a:cubicBezTo>
                    <a:pt x="757" y="2741"/>
                    <a:pt x="127" y="3623"/>
                    <a:pt x="95" y="3655"/>
                  </a:cubicBezTo>
                  <a:cubicBezTo>
                    <a:pt x="1" y="3781"/>
                    <a:pt x="1" y="3938"/>
                    <a:pt x="95" y="4033"/>
                  </a:cubicBezTo>
                  <a:cubicBezTo>
                    <a:pt x="127" y="4096"/>
                    <a:pt x="757" y="4978"/>
                    <a:pt x="1797" y="5860"/>
                  </a:cubicBezTo>
                  <a:cubicBezTo>
                    <a:pt x="2427" y="6396"/>
                    <a:pt x="2994" y="6805"/>
                    <a:pt x="3624" y="7120"/>
                  </a:cubicBezTo>
                  <a:cubicBezTo>
                    <a:pt x="4412" y="7499"/>
                    <a:pt x="5199" y="7719"/>
                    <a:pt x="5955" y="7719"/>
                  </a:cubicBezTo>
                  <a:cubicBezTo>
                    <a:pt x="6711" y="7719"/>
                    <a:pt x="7499" y="7499"/>
                    <a:pt x="8287" y="7120"/>
                  </a:cubicBezTo>
                  <a:cubicBezTo>
                    <a:pt x="8917" y="6805"/>
                    <a:pt x="9547" y="6364"/>
                    <a:pt x="10145" y="5860"/>
                  </a:cubicBezTo>
                  <a:cubicBezTo>
                    <a:pt x="11154" y="4947"/>
                    <a:pt x="11784" y="4096"/>
                    <a:pt x="11815" y="4033"/>
                  </a:cubicBezTo>
                  <a:cubicBezTo>
                    <a:pt x="11910" y="3938"/>
                    <a:pt x="11910" y="3781"/>
                    <a:pt x="11815" y="3655"/>
                  </a:cubicBezTo>
                  <a:cubicBezTo>
                    <a:pt x="11784" y="3623"/>
                    <a:pt x="11154" y="2710"/>
                    <a:pt x="10145" y="1828"/>
                  </a:cubicBezTo>
                  <a:cubicBezTo>
                    <a:pt x="9515" y="1292"/>
                    <a:pt x="8917" y="882"/>
                    <a:pt x="8287" y="567"/>
                  </a:cubicBezTo>
                  <a:cubicBezTo>
                    <a:pt x="7499" y="189"/>
                    <a:pt x="6711" y="0"/>
                    <a:pt x="5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-27640625" y="2419175"/>
              <a:ext cx="122100" cy="122100"/>
            </a:xfrm>
            <a:custGeom>
              <a:rect b="b" l="l" r="r" t="t"/>
              <a:pathLst>
                <a:path extrusionOk="0" h="4884" w="4884">
                  <a:moveTo>
                    <a:pt x="2426" y="694"/>
                  </a:moveTo>
                  <a:cubicBezTo>
                    <a:pt x="3403" y="694"/>
                    <a:pt x="4159" y="1481"/>
                    <a:pt x="4159" y="2426"/>
                  </a:cubicBezTo>
                  <a:cubicBezTo>
                    <a:pt x="4159" y="3372"/>
                    <a:pt x="3371" y="4159"/>
                    <a:pt x="2426" y="4159"/>
                  </a:cubicBezTo>
                  <a:cubicBezTo>
                    <a:pt x="1481" y="4159"/>
                    <a:pt x="694" y="3372"/>
                    <a:pt x="694" y="2426"/>
                  </a:cubicBezTo>
                  <a:cubicBezTo>
                    <a:pt x="694" y="1481"/>
                    <a:pt x="1481" y="694"/>
                    <a:pt x="2426" y="694"/>
                  </a:cubicBezTo>
                  <a:close/>
                  <a:moveTo>
                    <a:pt x="2426" y="1"/>
                  </a:moveTo>
                  <a:cubicBezTo>
                    <a:pt x="1103" y="1"/>
                    <a:pt x="0" y="1103"/>
                    <a:pt x="0" y="2426"/>
                  </a:cubicBezTo>
                  <a:cubicBezTo>
                    <a:pt x="0" y="3781"/>
                    <a:pt x="1103" y="4884"/>
                    <a:pt x="2426" y="4884"/>
                  </a:cubicBezTo>
                  <a:cubicBezTo>
                    <a:pt x="3781" y="4884"/>
                    <a:pt x="4884" y="3781"/>
                    <a:pt x="4884" y="2426"/>
                  </a:cubicBezTo>
                  <a:cubicBezTo>
                    <a:pt x="4884" y="1103"/>
                    <a:pt x="3781" y="1"/>
                    <a:pt x="24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</p:grpSp>
      <p:sp>
        <p:nvSpPr>
          <p:cNvPr id="334" name="Google Shape;334;p29"/>
          <p:cNvSpPr txBox="1"/>
          <p:nvPr/>
        </p:nvSpPr>
        <p:spPr>
          <a:xfrm>
            <a:off x="5729125" y="2219250"/>
            <a:ext cx="114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Conexión básica a Internet</a:t>
            </a:r>
            <a:endParaRPr sz="12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335" name="Google Shape;335;p29"/>
          <p:cNvGrpSpPr/>
          <p:nvPr/>
        </p:nvGrpSpPr>
        <p:grpSpPr>
          <a:xfrm>
            <a:off x="6124530" y="3241648"/>
            <a:ext cx="350707" cy="286336"/>
            <a:chOff x="2144809" y="2741072"/>
            <a:chExt cx="330950" cy="270205"/>
          </a:xfrm>
        </p:grpSpPr>
        <p:sp>
          <p:nvSpPr>
            <p:cNvPr id="336" name="Google Shape;336;p29"/>
            <p:cNvSpPr/>
            <p:nvPr/>
          </p:nvSpPr>
          <p:spPr>
            <a:xfrm>
              <a:off x="2144809" y="2759187"/>
              <a:ext cx="330950" cy="252090"/>
            </a:xfrm>
            <a:custGeom>
              <a:rect b="b" l="l" r="r" t="t"/>
              <a:pathLst>
                <a:path extrusionOk="0" h="6972" w="9153">
                  <a:moveTo>
                    <a:pt x="4846" y="3218"/>
                  </a:moveTo>
                  <a:lnTo>
                    <a:pt x="4846" y="4290"/>
                  </a:lnTo>
                  <a:lnTo>
                    <a:pt x="4309" y="4290"/>
                  </a:lnTo>
                  <a:lnTo>
                    <a:pt x="4309" y="3218"/>
                  </a:lnTo>
                  <a:close/>
                  <a:moveTo>
                    <a:pt x="7812" y="4826"/>
                  </a:moveTo>
                  <a:cubicBezTo>
                    <a:pt x="8256" y="4826"/>
                    <a:pt x="8617" y="5188"/>
                    <a:pt x="8617" y="5631"/>
                  </a:cubicBezTo>
                  <a:cubicBezTo>
                    <a:pt x="8617" y="6075"/>
                    <a:pt x="8256" y="6436"/>
                    <a:pt x="7812" y="6436"/>
                  </a:cubicBezTo>
                  <a:lnTo>
                    <a:pt x="1342" y="6436"/>
                  </a:lnTo>
                  <a:cubicBezTo>
                    <a:pt x="898" y="6436"/>
                    <a:pt x="537" y="6075"/>
                    <a:pt x="537" y="5631"/>
                  </a:cubicBezTo>
                  <a:cubicBezTo>
                    <a:pt x="537" y="5188"/>
                    <a:pt x="898" y="4826"/>
                    <a:pt x="1342" y="4826"/>
                  </a:cubicBezTo>
                  <a:close/>
                  <a:moveTo>
                    <a:pt x="4309" y="1"/>
                  </a:moveTo>
                  <a:lnTo>
                    <a:pt x="4309" y="2682"/>
                  </a:lnTo>
                  <a:lnTo>
                    <a:pt x="3772" y="2682"/>
                  </a:lnTo>
                  <a:lnTo>
                    <a:pt x="3772" y="4290"/>
                  </a:lnTo>
                  <a:lnTo>
                    <a:pt x="1342" y="4290"/>
                  </a:lnTo>
                  <a:cubicBezTo>
                    <a:pt x="602" y="4290"/>
                    <a:pt x="0" y="4892"/>
                    <a:pt x="0" y="5631"/>
                  </a:cubicBezTo>
                  <a:cubicBezTo>
                    <a:pt x="0" y="6370"/>
                    <a:pt x="602" y="6972"/>
                    <a:pt x="1342" y="6972"/>
                  </a:cubicBezTo>
                  <a:lnTo>
                    <a:pt x="7812" y="6972"/>
                  </a:lnTo>
                  <a:cubicBezTo>
                    <a:pt x="8552" y="6972"/>
                    <a:pt x="9153" y="6370"/>
                    <a:pt x="9153" y="5631"/>
                  </a:cubicBezTo>
                  <a:cubicBezTo>
                    <a:pt x="9153" y="4892"/>
                    <a:pt x="8552" y="4290"/>
                    <a:pt x="7812" y="4290"/>
                  </a:cubicBezTo>
                  <a:lnTo>
                    <a:pt x="5382" y="4290"/>
                  </a:lnTo>
                  <a:lnTo>
                    <a:pt x="5382" y="2682"/>
                  </a:lnTo>
                  <a:lnTo>
                    <a:pt x="4846" y="2682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37" name="Google Shape;337;p29"/>
            <p:cNvSpPr/>
            <p:nvPr/>
          </p:nvSpPr>
          <p:spPr>
            <a:xfrm>
              <a:off x="2397767" y="2741072"/>
              <a:ext cx="38580" cy="133240"/>
            </a:xfrm>
            <a:custGeom>
              <a:rect b="b" l="l" r="r" t="t"/>
              <a:pathLst>
                <a:path extrusionOk="0" h="3685" w="1067">
                  <a:moveTo>
                    <a:pt x="419" y="0"/>
                  </a:moveTo>
                  <a:lnTo>
                    <a:pt x="1" y="336"/>
                  </a:lnTo>
                  <a:cubicBezTo>
                    <a:pt x="348" y="768"/>
                    <a:pt x="530" y="1288"/>
                    <a:pt x="530" y="1842"/>
                  </a:cubicBezTo>
                  <a:cubicBezTo>
                    <a:pt x="530" y="2395"/>
                    <a:pt x="348" y="2917"/>
                    <a:pt x="1" y="3349"/>
                  </a:cubicBezTo>
                  <a:lnTo>
                    <a:pt x="419" y="3684"/>
                  </a:lnTo>
                  <a:cubicBezTo>
                    <a:pt x="836" y="3163"/>
                    <a:pt x="1067" y="2509"/>
                    <a:pt x="1067" y="1842"/>
                  </a:cubicBezTo>
                  <a:cubicBezTo>
                    <a:pt x="1067" y="1175"/>
                    <a:pt x="836" y="521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38" name="Google Shape;338;p29"/>
            <p:cNvSpPr/>
            <p:nvPr/>
          </p:nvSpPr>
          <p:spPr>
            <a:xfrm>
              <a:off x="2367503" y="2765298"/>
              <a:ext cx="30047" cy="84789"/>
            </a:xfrm>
            <a:custGeom>
              <a:rect b="b" l="l" r="r" t="t"/>
              <a:pathLst>
                <a:path extrusionOk="0" h="2345" w="831">
                  <a:moveTo>
                    <a:pt x="419" y="0"/>
                  </a:moveTo>
                  <a:lnTo>
                    <a:pt x="1" y="335"/>
                  </a:lnTo>
                  <a:cubicBezTo>
                    <a:pt x="194" y="576"/>
                    <a:pt x="295" y="865"/>
                    <a:pt x="295" y="1172"/>
                  </a:cubicBezTo>
                  <a:cubicBezTo>
                    <a:pt x="295" y="1479"/>
                    <a:pt x="194" y="1769"/>
                    <a:pt x="1" y="2009"/>
                  </a:cubicBezTo>
                  <a:lnTo>
                    <a:pt x="419" y="2345"/>
                  </a:lnTo>
                  <a:cubicBezTo>
                    <a:pt x="685" y="2013"/>
                    <a:pt x="831" y="1596"/>
                    <a:pt x="831" y="1172"/>
                  </a:cubicBezTo>
                  <a:cubicBezTo>
                    <a:pt x="831" y="748"/>
                    <a:pt x="685" y="331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39" name="Google Shape;339;p29"/>
            <p:cNvSpPr/>
            <p:nvPr/>
          </p:nvSpPr>
          <p:spPr>
            <a:xfrm>
              <a:off x="2337275" y="2789487"/>
              <a:ext cx="21514" cy="36374"/>
            </a:xfrm>
            <a:custGeom>
              <a:rect b="b" l="l" r="r" t="t"/>
              <a:pathLst>
                <a:path extrusionOk="0" h="1006" w="595">
                  <a:moveTo>
                    <a:pt x="418" y="1"/>
                  </a:moveTo>
                  <a:lnTo>
                    <a:pt x="0" y="335"/>
                  </a:lnTo>
                  <a:cubicBezTo>
                    <a:pt x="26" y="369"/>
                    <a:pt x="59" y="425"/>
                    <a:pt x="59" y="503"/>
                  </a:cubicBezTo>
                  <a:cubicBezTo>
                    <a:pt x="59" y="581"/>
                    <a:pt x="26" y="637"/>
                    <a:pt x="0" y="671"/>
                  </a:cubicBezTo>
                  <a:lnTo>
                    <a:pt x="418" y="1006"/>
                  </a:lnTo>
                  <a:cubicBezTo>
                    <a:pt x="532" y="863"/>
                    <a:pt x="595" y="685"/>
                    <a:pt x="595" y="503"/>
                  </a:cubicBezTo>
                  <a:cubicBezTo>
                    <a:pt x="595" y="321"/>
                    <a:pt x="532" y="142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2184257" y="2741072"/>
              <a:ext cx="38580" cy="133240"/>
            </a:xfrm>
            <a:custGeom>
              <a:rect b="b" l="l" r="r" t="t"/>
              <a:pathLst>
                <a:path extrusionOk="0" h="3685" w="1067">
                  <a:moveTo>
                    <a:pt x="648" y="0"/>
                  </a:moveTo>
                  <a:cubicBezTo>
                    <a:pt x="231" y="521"/>
                    <a:pt x="0" y="1175"/>
                    <a:pt x="0" y="1842"/>
                  </a:cubicBezTo>
                  <a:cubicBezTo>
                    <a:pt x="0" y="2509"/>
                    <a:pt x="231" y="3163"/>
                    <a:pt x="648" y="3684"/>
                  </a:cubicBezTo>
                  <a:lnTo>
                    <a:pt x="1066" y="3349"/>
                  </a:lnTo>
                  <a:cubicBezTo>
                    <a:pt x="720" y="2917"/>
                    <a:pt x="536" y="2395"/>
                    <a:pt x="536" y="1842"/>
                  </a:cubicBezTo>
                  <a:cubicBezTo>
                    <a:pt x="536" y="1288"/>
                    <a:pt x="720" y="768"/>
                    <a:pt x="1066" y="336"/>
                  </a:cubicBezTo>
                  <a:lnTo>
                    <a:pt x="6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2223054" y="2765298"/>
              <a:ext cx="30047" cy="84789"/>
            </a:xfrm>
            <a:custGeom>
              <a:rect b="b" l="l" r="r" t="t"/>
              <a:pathLst>
                <a:path extrusionOk="0" h="2345" w="831">
                  <a:moveTo>
                    <a:pt x="411" y="0"/>
                  </a:moveTo>
                  <a:cubicBezTo>
                    <a:pt x="146" y="331"/>
                    <a:pt x="0" y="748"/>
                    <a:pt x="0" y="1172"/>
                  </a:cubicBezTo>
                  <a:cubicBezTo>
                    <a:pt x="0" y="1596"/>
                    <a:pt x="146" y="2013"/>
                    <a:pt x="411" y="2345"/>
                  </a:cubicBezTo>
                  <a:lnTo>
                    <a:pt x="830" y="2009"/>
                  </a:lnTo>
                  <a:cubicBezTo>
                    <a:pt x="638" y="1769"/>
                    <a:pt x="536" y="1479"/>
                    <a:pt x="536" y="1172"/>
                  </a:cubicBezTo>
                  <a:cubicBezTo>
                    <a:pt x="536" y="865"/>
                    <a:pt x="638" y="576"/>
                    <a:pt x="830" y="335"/>
                  </a:cubicBezTo>
                  <a:lnTo>
                    <a:pt x="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42" name="Google Shape;342;p29"/>
            <p:cNvSpPr/>
            <p:nvPr/>
          </p:nvSpPr>
          <p:spPr>
            <a:xfrm>
              <a:off x="2261815" y="2789451"/>
              <a:ext cx="21514" cy="36411"/>
            </a:xfrm>
            <a:custGeom>
              <a:rect b="b" l="l" r="r" t="t"/>
              <a:pathLst>
                <a:path extrusionOk="0" h="1007" w="595">
                  <a:moveTo>
                    <a:pt x="177" y="1"/>
                  </a:moveTo>
                  <a:cubicBezTo>
                    <a:pt x="63" y="143"/>
                    <a:pt x="0" y="322"/>
                    <a:pt x="0" y="504"/>
                  </a:cubicBezTo>
                  <a:cubicBezTo>
                    <a:pt x="0" y="686"/>
                    <a:pt x="63" y="864"/>
                    <a:pt x="177" y="1007"/>
                  </a:cubicBezTo>
                  <a:lnTo>
                    <a:pt x="595" y="672"/>
                  </a:lnTo>
                  <a:cubicBezTo>
                    <a:pt x="569" y="638"/>
                    <a:pt x="536" y="582"/>
                    <a:pt x="536" y="504"/>
                  </a:cubicBezTo>
                  <a:cubicBezTo>
                    <a:pt x="536" y="426"/>
                    <a:pt x="569" y="370"/>
                    <a:pt x="595" y="336"/>
                  </a:cubicBezTo>
                  <a:lnTo>
                    <a:pt x="1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43" name="Google Shape;343;p29"/>
            <p:cNvSpPr/>
            <p:nvPr/>
          </p:nvSpPr>
          <p:spPr>
            <a:xfrm>
              <a:off x="2319992" y="2953100"/>
              <a:ext cx="19417" cy="19417"/>
            </a:xfrm>
            <a:custGeom>
              <a:rect b="b" l="l" r="r" t="t"/>
              <a:pathLst>
                <a:path extrusionOk="0" h="537" w="537">
                  <a:moveTo>
                    <a:pt x="1" y="0"/>
                  </a:moveTo>
                  <a:lnTo>
                    <a:pt x="1" y="537"/>
                  </a:lnTo>
                  <a:lnTo>
                    <a:pt x="537" y="537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44" name="Google Shape;344;p29"/>
            <p:cNvSpPr/>
            <p:nvPr/>
          </p:nvSpPr>
          <p:spPr>
            <a:xfrm>
              <a:off x="2358753" y="2953100"/>
              <a:ext cx="19417" cy="19417"/>
            </a:xfrm>
            <a:custGeom>
              <a:rect b="b" l="l" r="r" t="t"/>
              <a:pathLst>
                <a:path extrusionOk="0" h="537" w="537">
                  <a:moveTo>
                    <a:pt x="1" y="0"/>
                  </a:moveTo>
                  <a:lnTo>
                    <a:pt x="1" y="537"/>
                  </a:lnTo>
                  <a:lnTo>
                    <a:pt x="537" y="537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2397514" y="2953100"/>
              <a:ext cx="19453" cy="19417"/>
            </a:xfrm>
            <a:custGeom>
              <a:rect b="b" l="l" r="r" t="t"/>
              <a:pathLst>
                <a:path extrusionOk="0" h="537" w="538">
                  <a:moveTo>
                    <a:pt x="1" y="0"/>
                  </a:moveTo>
                  <a:lnTo>
                    <a:pt x="1" y="537"/>
                  </a:lnTo>
                  <a:lnTo>
                    <a:pt x="537" y="537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2202986" y="2953100"/>
              <a:ext cx="78245" cy="19417"/>
            </a:xfrm>
            <a:custGeom>
              <a:rect b="b" l="l" r="r" t="t"/>
              <a:pathLst>
                <a:path extrusionOk="0" h="537" w="2164">
                  <a:moveTo>
                    <a:pt x="1" y="0"/>
                  </a:moveTo>
                  <a:lnTo>
                    <a:pt x="1" y="537"/>
                  </a:lnTo>
                  <a:lnTo>
                    <a:pt x="2163" y="537"/>
                  </a:lnTo>
                  <a:lnTo>
                    <a:pt x="21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</p:grpSp>
      <p:sp>
        <p:nvSpPr>
          <p:cNvPr id="347" name="Google Shape;347;p29"/>
          <p:cNvSpPr txBox="1"/>
          <p:nvPr/>
        </p:nvSpPr>
        <p:spPr>
          <a:xfrm>
            <a:off x="4923400" y="4263400"/>
            <a:ext cx="114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Cámaras IP de seguridad</a:t>
            </a:r>
            <a:endParaRPr sz="12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348" name="Google Shape;348;p29"/>
          <p:cNvGrpSpPr/>
          <p:nvPr/>
        </p:nvGrpSpPr>
        <p:grpSpPr>
          <a:xfrm>
            <a:off x="909113" y="528923"/>
            <a:ext cx="351880" cy="352803"/>
            <a:chOff x="-23615075" y="3148525"/>
            <a:chExt cx="295375" cy="296150"/>
          </a:xfrm>
        </p:grpSpPr>
        <p:sp>
          <p:nvSpPr>
            <p:cNvPr id="349" name="Google Shape;349;p29"/>
            <p:cNvSpPr/>
            <p:nvPr/>
          </p:nvSpPr>
          <p:spPr>
            <a:xfrm>
              <a:off x="-23493775" y="3183950"/>
              <a:ext cx="52775" cy="53600"/>
            </a:xfrm>
            <a:custGeom>
              <a:rect b="b" l="l" r="r" t="t"/>
              <a:pathLst>
                <a:path extrusionOk="0" h="2144" w="2111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-23615075" y="3268225"/>
              <a:ext cx="34675" cy="173300"/>
            </a:xfrm>
            <a:custGeom>
              <a:rect b="b" l="l" r="r" t="t"/>
              <a:pathLst>
                <a:path extrusionOk="0" h="6932" w="1387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-23354375" y="3270600"/>
              <a:ext cx="34675" cy="173300"/>
            </a:xfrm>
            <a:custGeom>
              <a:rect b="b" l="l" r="r" t="t"/>
              <a:pathLst>
                <a:path extrusionOk="0" h="6932" w="1387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9"/>
            <p:cNvSpPr/>
            <p:nvPr/>
          </p:nvSpPr>
          <p:spPr>
            <a:xfrm>
              <a:off x="-23562300" y="3148525"/>
              <a:ext cx="191400" cy="296150"/>
            </a:xfrm>
            <a:custGeom>
              <a:rect b="b" l="l" r="r" t="t"/>
              <a:pathLst>
                <a:path extrusionOk="0" h="11846" w="7656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"/>
          <p:cNvSpPr txBox="1"/>
          <p:nvPr>
            <p:ph type="title"/>
          </p:nvPr>
        </p:nvSpPr>
        <p:spPr>
          <a:xfrm>
            <a:off x="2063750" y="526400"/>
            <a:ext cx="25443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Propuesta</a:t>
            </a:r>
            <a:endParaRPr sz="2500">
              <a:solidFill>
                <a:schemeClr val="accent1"/>
              </a:solidFill>
            </a:endParaRPr>
          </a:p>
        </p:txBody>
      </p:sp>
      <p:grpSp>
        <p:nvGrpSpPr>
          <p:cNvPr id="358" name="Google Shape;358;p30"/>
          <p:cNvGrpSpPr/>
          <p:nvPr/>
        </p:nvGrpSpPr>
        <p:grpSpPr>
          <a:xfrm>
            <a:off x="1920582" y="611079"/>
            <a:ext cx="352803" cy="289039"/>
            <a:chOff x="-26981375" y="3951875"/>
            <a:chExt cx="296150" cy="242625"/>
          </a:xfrm>
        </p:grpSpPr>
        <p:sp>
          <p:nvSpPr>
            <p:cNvPr id="359" name="Google Shape;359;p30"/>
            <p:cNvSpPr/>
            <p:nvPr/>
          </p:nvSpPr>
          <p:spPr>
            <a:xfrm>
              <a:off x="-26978225" y="3951875"/>
              <a:ext cx="173300" cy="155975"/>
            </a:xfrm>
            <a:custGeom>
              <a:rect b="b" l="l" r="r" t="t"/>
              <a:pathLst>
                <a:path extrusionOk="0" h="6239" w="6932">
                  <a:moveTo>
                    <a:pt x="3340" y="2364"/>
                  </a:moveTo>
                  <a:cubicBezTo>
                    <a:pt x="3529" y="2364"/>
                    <a:pt x="3686" y="2521"/>
                    <a:pt x="3686" y="2710"/>
                  </a:cubicBezTo>
                  <a:lnTo>
                    <a:pt x="3686" y="3435"/>
                  </a:lnTo>
                  <a:lnTo>
                    <a:pt x="4411" y="3435"/>
                  </a:lnTo>
                  <a:cubicBezTo>
                    <a:pt x="4600" y="3435"/>
                    <a:pt x="4757" y="3592"/>
                    <a:pt x="4757" y="3782"/>
                  </a:cubicBezTo>
                  <a:cubicBezTo>
                    <a:pt x="4757" y="3971"/>
                    <a:pt x="4600" y="4128"/>
                    <a:pt x="4411" y="4128"/>
                  </a:cubicBezTo>
                  <a:lnTo>
                    <a:pt x="3686" y="4128"/>
                  </a:lnTo>
                  <a:lnTo>
                    <a:pt x="3686" y="4853"/>
                  </a:lnTo>
                  <a:cubicBezTo>
                    <a:pt x="3686" y="5042"/>
                    <a:pt x="3529" y="5199"/>
                    <a:pt x="3340" y="5199"/>
                  </a:cubicBezTo>
                  <a:cubicBezTo>
                    <a:pt x="3151" y="5199"/>
                    <a:pt x="2993" y="5042"/>
                    <a:pt x="2993" y="4853"/>
                  </a:cubicBezTo>
                  <a:lnTo>
                    <a:pt x="2993" y="4128"/>
                  </a:lnTo>
                  <a:lnTo>
                    <a:pt x="2268" y="4128"/>
                  </a:lnTo>
                  <a:cubicBezTo>
                    <a:pt x="2079" y="4128"/>
                    <a:pt x="1922" y="3971"/>
                    <a:pt x="1922" y="3782"/>
                  </a:cubicBezTo>
                  <a:cubicBezTo>
                    <a:pt x="1922" y="3592"/>
                    <a:pt x="2079" y="3435"/>
                    <a:pt x="2268" y="3435"/>
                  </a:cubicBezTo>
                  <a:lnTo>
                    <a:pt x="2993" y="3435"/>
                  </a:lnTo>
                  <a:lnTo>
                    <a:pt x="2993" y="2710"/>
                  </a:lnTo>
                  <a:cubicBezTo>
                    <a:pt x="2993" y="2521"/>
                    <a:pt x="3151" y="2364"/>
                    <a:pt x="3340" y="2364"/>
                  </a:cubicBezTo>
                  <a:close/>
                  <a:moveTo>
                    <a:pt x="3434" y="1"/>
                  </a:moveTo>
                  <a:cubicBezTo>
                    <a:pt x="2836" y="1"/>
                    <a:pt x="2394" y="474"/>
                    <a:pt x="2394" y="1041"/>
                  </a:cubicBezTo>
                  <a:lnTo>
                    <a:pt x="2394" y="1387"/>
                  </a:lnTo>
                  <a:lnTo>
                    <a:pt x="1008" y="1387"/>
                  </a:lnTo>
                  <a:cubicBezTo>
                    <a:pt x="441" y="1387"/>
                    <a:pt x="0" y="1860"/>
                    <a:pt x="0" y="2395"/>
                  </a:cubicBezTo>
                  <a:lnTo>
                    <a:pt x="0" y="6239"/>
                  </a:lnTo>
                  <a:lnTo>
                    <a:pt x="6931" y="6239"/>
                  </a:lnTo>
                  <a:lnTo>
                    <a:pt x="6931" y="2395"/>
                  </a:lnTo>
                  <a:lnTo>
                    <a:pt x="6837" y="2395"/>
                  </a:lnTo>
                  <a:cubicBezTo>
                    <a:pt x="6837" y="1828"/>
                    <a:pt x="6364" y="1387"/>
                    <a:pt x="5829" y="1387"/>
                  </a:cubicBezTo>
                  <a:lnTo>
                    <a:pt x="4442" y="1387"/>
                  </a:lnTo>
                  <a:lnTo>
                    <a:pt x="4442" y="1041"/>
                  </a:lnTo>
                  <a:cubicBezTo>
                    <a:pt x="4442" y="442"/>
                    <a:pt x="3970" y="1"/>
                    <a:pt x="34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-26981375" y="4124375"/>
              <a:ext cx="174075" cy="70125"/>
            </a:xfrm>
            <a:custGeom>
              <a:rect b="b" l="l" r="r" t="t"/>
              <a:pathLst>
                <a:path extrusionOk="0" h="2805" w="6963">
                  <a:moveTo>
                    <a:pt x="2457" y="1418"/>
                  </a:moveTo>
                  <a:cubicBezTo>
                    <a:pt x="2647" y="1418"/>
                    <a:pt x="2804" y="1576"/>
                    <a:pt x="2804" y="1765"/>
                  </a:cubicBezTo>
                  <a:cubicBezTo>
                    <a:pt x="2804" y="1954"/>
                    <a:pt x="2647" y="2111"/>
                    <a:pt x="2457" y="2111"/>
                  </a:cubicBezTo>
                  <a:cubicBezTo>
                    <a:pt x="2237" y="2111"/>
                    <a:pt x="2079" y="1954"/>
                    <a:pt x="2079" y="1765"/>
                  </a:cubicBezTo>
                  <a:cubicBezTo>
                    <a:pt x="2079" y="1576"/>
                    <a:pt x="2237" y="1418"/>
                    <a:pt x="2457" y="1418"/>
                  </a:cubicBezTo>
                  <a:close/>
                  <a:moveTo>
                    <a:pt x="32" y="0"/>
                  </a:moveTo>
                  <a:lnTo>
                    <a:pt x="32" y="1009"/>
                  </a:lnTo>
                  <a:cubicBezTo>
                    <a:pt x="0" y="1607"/>
                    <a:pt x="473" y="2080"/>
                    <a:pt x="1071" y="2080"/>
                  </a:cubicBezTo>
                  <a:lnTo>
                    <a:pt x="1449" y="2080"/>
                  </a:lnTo>
                  <a:cubicBezTo>
                    <a:pt x="1607" y="2489"/>
                    <a:pt x="1985" y="2804"/>
                    <a:pt x="2457" y="2804"/>
                  </a:cubicBezTo>
                  <a:cubicBezTo>
                    <a:pt x="2867" y="2804"/>
                    <a:pt x="3277" y="2521"/>
                    <a:pt x="3434" y="2080"/>
                  </a:cubicBezTo>
                  <a:lnTo>
                    <a:pt x="6963" y="2080"/>
                  </a:lnTo>
                  <a:lnTo>
                    <a:pt x="69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-26790000" y="4002300"/>
              <a:ext cx="104775" cy="192200"/>
            </a:xfrm>
            <a:custGeom>
              <a:rect b="b" l="l" r="r" t="t"/>
              <a:pathLst>
                <a:path extrusionOk="0" h="7688" w="4191">
                  <a:moveTo>
                    <a:pt x="1513" y="693"/>
                  </a:moveTo>
                  <a:cubicBezTo>
                    <a:pt x="1954" y="693"/>
                    <a:pt x="2364" y="977"/>
                    <a:pt x="2521" y="1386"/>
                  </a:cubicBezTo>
                  <a:lnTo>
                    <a:pt x="3372" y="3497"/>
                  </a:lnTo>
                  <a:lnTo>
                    <a:pt x="1765" y="3497"/>
                  </a:lnTo>
                  <a:cubicBezTo>
                    <a:pt x="1576" y="3497"/>
                    <a:pt x="1419" y="3340"/>
                    <a:pt x="1419" y="3151"/>
                  </a:cubicBezTo>
                  <a:lnTo>
                    <a:pt x="1419" y="693"/>
                  </a:lnTo>
                  <a:close/>
                  <a:moveTo>
                    <a:pt x="1765" y="6270"/>
                  </a:moveTo>
                  <a:cubicBezTo>
                    <a:pt x="1954" y="6270"/>
                    <a:pt x="2112" y="6427"/>
                    <a:pt x="2112" y="6616"/>
                  </a:cubicBezTo>
                  <a:cubicBezTo>
                    <a:pt x="2112" y="6805"/>
                    <a:pt x="1954" y="6963"/>
                    <a:pt x="1765" y="6963"/>
                  </a:cubicBezTo>
                  <a:cubicBezTo>
                    <a:pt x="1576" y="6963"/>
                    <a:pt x="1419" y="6805"/>
                    <a:pt x="1419" y="6616"/>
                  </a:cubicBezTo>
                  <a:cubicBezTo>
                    <a:pt x="1419" y="6427"/>
                    <a:pt x="1576" y="6270"/>
                    <a:pt x="1765" y="6270"/>
                  </a:cubicBezTo>
                  <a:close/>
                  <a:moveTo>
                    <a:pt x="1" y="0"/>
                  </a:moveTo>
                  <a:lnTo>
                    <a:pt x="1" y="6963"/>
                  </a:lnTo>
                  <a:lnTo>
                    <a:pt x="788" y="6963"/>
                  </a:lnTo>
                  <a:cubicBezTo>
                    <a:pt x="946" y="7372"/>
                    <a:pt x="1293" y="7687"/>
                    <a:pt x="1765" y="7687"/>
                  </a:cubicBezTo>
                  <a:cubicBezTo>
                    <a:pt x="2206" y="7687"/>
                    <a:pt x="2584" y="7404"/>
                    <a:pt x="2742" y="6963"/>
                  </a:cubicBezTo>
                  <a:lnTo>
                    <a:pt x="3151" y="6963"/>
                  </a:lnTo>
                  <a:cubicBezTo>
                    <a:pt x="3718" y="6963"/>
                    <a:pt x="4159" y="6490"/>
                    <a:pt x="4159" y="5955"/>
                  </a:cubicBezTo>
                  <a:lnTo>
                    <a:pt x="4159" y="5577"/>
                  </a:lnTo>
                  <a:lnTo>
                    <a:pt x="3151" y="5577"/>
                  </a:lnTo>
                  <a:cubicBezTo>
                    <a:pt x="2931" y="5577"/>
                    <a:pt x="2773" y="5419"/>
                    <a:pt x="2773" y="5230"/>
                  </a:cubicBezTo>
                  <a:cubicBezTo>
                    <a:pt x="2773" y="5041"/>
                    <a:pt x="2994" y="4883"/>
                    <a:pt x="3183" y="4883"/>
                  </a:cubicBezTo>
                  <a:lnTo>
                    <a:pt x="4191" y="4883"/>
                  </a:lnTo>
                  <a:lnTo>
                    <a:pt x="4191" y="4096"/>
                  </a:lnTo>
                  <a:cubicBezTo>
                    <a:pt x="4191" y="3970"/>
                    <a:pt x="4159" y="3812"/>
                    <a:pt x="4159" y="3686"/>
                  </a:cubicBezTo>
                  <a:cubicBezTo>
                    <a:pt x="4096" y="3466"/>
                    <a:pt x="3246" y="1386"/>
                    <a:pt x="3151" y="1103"/>
                  </a:cubicBezTo>
                  <a:cubicBezTo>
                    <a:pt x="2868" y="410"/>
                    <a:pt x="2238" y="0"/>
                    <a:pt x="1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30"/>
          <p:cNvSpPr txBox="1"/>
          <p:nvPr/>
        </p:nvSpPr>
        <p:spPr>
          <a:xfrm>
            <a:off x="2240475" y="14728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Karla Light"/>
                <a:ea typeface="Karla Light"/>
                <a:cs typeface="Karla Light"/>
                <a:sym typeface="Karla Light"/>
              </a:rPr>
              <a:t>Separación Lógica de Áreas Críticas</a:t>
            </a:r>
            <a:endParaRPr sz="1200">
              <a:solidFill>
                <a:schemeClr val="accent5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63" name="Google Shape;363;p30"/>
          <p:cNvSpPr txBox="1"/>
          <p:nvPr/>
        </p:nvSpPr>
        <p:spPr>
          <a:xfrm>
            <a:off x="2240475" y="2027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Karla Light"/>
                <a:ea typeface="Karla Light"/>
                <a:cs typeface="Karla Light"/>
                <a:sym typeface="Karla Light"/>
              </a:rPr>
              <a:t>Conectividad Redundante en la DMZ</a:t>
            </a:r>
            <a:endParaRPr sz="1200">
              <a:solidFill>
                <a:schemeClr val="accent5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64" name="Google Shape;364;p30"/>
          <p:cNvSpPr txBox="1"/>
          <p:nvPr/>
        </p:nvSpPr>
        <p:spPr>
          <a:xfrm>
            <a:off x="2273375" y="25827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Karla Light"/>
                <a:ea typeface="Karla Light"/>
                <a:cs typeface="Karla Light"/>
                <a:sym typeface="Karla Light"/>
              </a:rPr>
              <a:t>Topología Leaf-Spine Simplificada</a:t>
            </a:r>
            <a:endParaRPr sz="1200">
              <a:solidFill>
                <a:schemeClr val="accent5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65" name="Google Shape;365;p30"/>
          <p:cNvSpPr txBox="1"/>
          <p:nvPr/>
        </p:nvSpPr>
        <p:spPr>
          <a:xfrm>
            <a:off x="2240475" y="3636650"/>
            <a:ext cx="465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Karla Light"/>
                <a:ea typeface="Karla Light"/>
                <a:cs typeface="Karla Light"/>
                <a:sym typeface="Karla Light"/>
              </a:rPr>
              <a:t>Acceso Remoto Seguro para Administración y Soporte Técnico</a:t>
            </a:r>
            <a:endParaRPr sz="1200">
              <a:solidFill>
                <a:schemeClr val="accent5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366" name="Google Shape;366;p30"/>
          <p:cNvSpPr txBox="1"/>
          <p:nvPr/>
        </p:nvSpPr>
        <p:spPr>
          <a:xfrm>
            <a:off x="2240475" y="3095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Karla Light"/>
                <a:ea typeface="Karla Light"/>
                <a:cs typeface="Karla Light"/>
                <a:sym typeface="Karla Light"/>
              </a:rPr>
              <a:t>Alojamiento Local de Servicios Críticos</a:t>
            </a:r>
            <a:endParaRPr sz="1200">
              <a:solidFill>
                <a:schemeClr val="accent5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367" name="Google Shape;367;p30"/>
          <p:cNvGrpSpPr/>
          <p:nvPr/>
        </p:nvGrpSpPr>
        <p:grpSpPr>
          <a:xfrm>
            <a:off x="2030844" y="1555889"/>
            <a:ext cx="209634" cy="203107"/>
            <a:chOff x="-26583625" y="3917025"/>
            <a:chExt cx="315050" cy="295600"/>
          </a:xfrm>
        </p:grpSpPr>
        <p:sp>
          <p:nvSpPr>
            <p:cNvPr id="368" name="Google Shape;368;p30"/>
            <p:cNvSpPr/>
            <p:nvPr/>
          </p:nvSpPr>
          <p:spPr>
            <a:xfrm>
              <a:off x="-26413500" y="3918400"/>
              <a:ext cx="144925" cy="135125"/>
            </a:xfrm>
            <a:custGeom>
              <a:rect b="b" l="l" r="r" t="t"/>
              <a:pathLst>
                <a:path extrusionOk="0" h="5405" w="5797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-26466275" y="4026700"/>
              <a:ext cx="78775" cy="77225"/>
            </a:xfrm>
            <a:custGeom>
              <a:rect b="b" l="l" r="r" t="t"/>
              <a:pathLst>
                <a:path extrusionOk="0" h="3089" w="3151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-26583625" y="4077125"/>
              <a:ext cx="144925" cy="134700"/>
            </a:xfrm>
            <a:custGeom>
              <a:rect b="b" l="l" r="r" t="t"/>
              <a:pathLst>
                <a:path extrusionOk="0" h="5388" w="5797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-26581275" y="3917025"/>
              <a:ext cx="311125" cy="295600"/>
            </a:xfrm>
            <a:custGeom>
              <a:rect b="b" l="l" r="r" t="t"/>
              <a:pathLst>
                <a:path extrusionOk="0" h="11824" w="12445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2" name="Google Shape;372;p30"/>
          <p:cNvGrpSpPr/>
          <p:nvPr/>
        </p:nvGrpSpPr>
        <p:grpSpPr>
          <a:xfrm>
            <a:off x="2030844" y="2110839"/>
            <a:ext cx="209634" cy="203107"/>
            <a:chOff x="-26583625" y="3917025"/>
            <a:chExt cx="315050" cy="295600"/>
          </a:xfrm>
        </p:grpSpPr>
        <p:sp>
          <p:nvSpPr>
            <p:cNvPr id="373" name="Google Shape;373;p30"/>
            <p:cNvSpPr/>
            <p:nvPr/>
          </p:nvSpPr>
          <p:spPr>
            <a:xfrm>
              <a:off x="-26413500" y="3918400"/>
              <a:ext cx="144925" cy="135125"/>
            </a:xfrm>
            <a:custGeom>
              <a:rect b="b" l="l" r="r" t="t"/>
              <a:pathLst>
                <a:path extrusionOk="0" h="5405" w="5797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-26466275" y="4026700"/>
              <a:ext cx="78775" cy="77225"/>
            </a:xfrm>
            <a:custGeom>
              <a:rect b="b" l="l" r="r" t="t"/>
              <a:pathLst>
                <a:path extrusionOk="0" h="3089" w="3151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-26583625" y="4077125"/>
              <a:ext cx="144925" cy="134700"/>
            </a:xfrm>
            <a:custGeom>
              <a:rect b="b" l="l" r="r" t="t"/>
              <a:pathLst>
                <a:path extrusionOk="0" h="5388" w="5797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-26581275" y="3917025"/>
              <a:ext cx="311125" cy="295600"/>
            </a:xfrm>
            <a:custGeom>
              <a:rect b="b" l="l" r="r" t="t"/>
              <a:pathLst>
                <a:path extrusionOk="0" h="11824" w="12445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30"/>
          <p:cNvGrpSpPr/>
          <p:nvPr/>
        </p:nvGrpSpPr>
        <p:grpSpPr>
          <a:xfrm>
            <a:off x="2030844" y="2665789"/>
            <a:ext cx="209634" cy="203107"/>
            <a:chOff x="-26583625" y="3917025"/>
            <a:chExt cx="315050" cy="295600"/>
          </a:xfrm>
        </p:grpSpPr>
        <p:sp>
          <p:nvSpPr>
            <p:cNvPr id="378" name="Google Shape;378;p30"/>
            <p:cNvSpPr/>
            <p:nvPr/>
          </p:nvSpPr>
          <p:spPr>
            <a:xfrm>
              <a:off x="-26413500" y="3918400"/>
              <a:ext cx="144925" cy="135125"/>
            </a:xfrm>
            <a:custGeom>
              <a:rect b="b" l="l" r="r" t="t"/>
              <a:pathLst>
                <a:path extrusionOk="0" h="5405" w="5797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-26466275" y="4026700"/>
              <a:ext cx="78775" cy="77225"/>
            </a:xfrm>
            <a:custGeom>
              <a:rect b="b" l="l" r="r" t="t"/>
              <a:pathLst>
                <a:path extrusionOk="0" h="3089" w="3151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-26583625" y="4077125"/>
              <a:ext cx="144925" cy="134700"/>
            </a:xfrm>
            <a:custGeom>
              <a:rect b="b" l="l" r="r" t="t"/>
              <a:pathLst>
                <a:path extrusionOk="0" h="5388" w="5797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-26581275" y="3917025"/>
              <a:ext cx="311125" cy="295600"/>
            </a:xfrm>
            <a:custGeom>
              <a:rect b="b" l="l" r="r" t="t"/>
              <a:pathLst>
                <a:path extrusionOk="0" h="11824" w="12445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" name="Google Shape;382;p30"/>
          <p:cNvGrpSpPr/>
          <p:nvPr/>
        </p:nvGrpSpPr>
        <p:grpSpPr>
          <a:xfrm>
            <a:off x="2030844" y="3137514"/>
            <a:ext cx="209634" cy="203107"/>
            <a:chOff x="-26583625" y="3917025"/>
            <a:chExt cx="315050" cy="295600"/>
          </a:xfrm>
        </p:grpSpPr>
        <p:sp>
          <p:nvSpPr>
            <p:cNvPr id="383" name="Google Shape;383;p30"/>
            <p:cNvSpPr/>
            <p:nvPr/>
          </p:nvSpPr>
          <p:spPr>
            <a:xfrm>
              <a:off x="-26413500" y="3918400"/>
              <a:ext cx="144925" cy="135125"/>
            </a:xfrm>
            <a:custGeom>
              <a:rect b="b" l="l" r="r" t="t"/>
              <a:pathLst>
                <a:path extrusionOk="0" h="5405" w="5797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-26466275" y="4026700"/>
              <a:ext cx="78775" cy="77225"/>
            </a:xfrm>
            <a:custGeom>
              <a:rect b="b" l="l" r="r" t="t"/>
              <a:pathLst>
                <a:path extrusionOk="0" h="3089" w="3151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-26583625" y="4077125"/>
              <a:ext cx="144925" cy="134700"/>
            </a:xfrm>
            <a:custGeom>
              <a:rect b="b" l="l" r="r" t="t"/>
              <a:pathLst>
                <a:path extrusionOk="0" h="5388" w="5797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-26581275" y="3917025"/>
              <a:ext cx="311125" cy="295600"/>
            </a:xfrm>
            <a:custGeom>
              <a:rect b="b" l="l" r="r" t="t"/>
              <a:pathLst>
                <a:path extrusionOk="0" h="11824" w="12445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7" name="Google Shape;387;p30"/>
          <p:cNvGrpSpPr/>
          <p:nvPr/>
        </p:nvGrpSpPr>
        <p:grpSpPr>
          <a:xfrm>
            <a:off x="2030844" y="3719739"/>
            <a:ext cx="209634" cy="203107"/>
            <a:chOff x="-26583625" y="3917025"/>
            <a:chExt cx="315050" cy="295600"/>
          </a:xfrm>
        </p:grpSpPr>
        <p:sp>
          <p:nvSpPr>
            <p:cNvPr id="388" name="Google Shape;388;p30"/>
            <p:cNvSpPr/>
            <p:nvPr/>
          </p:nvSpPr>
          <p:spPr>
            <a:xfrm>
              <a:off x="-26413500" y="3918400"/>
              <a:ext cx="144925" cy="135125"/>
            </a:xfrm>
            <a:custGeom>
              <a:rect b="b" l="l" r="r" t="t"/>
              <a:pathLst>
                <a:path extrusionOk="0" h="5405" w="5797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-26466275" y="4026700"/>
              <a:ext cx="78775" cy="77225"/>
            </a:xfrm>
            <a:custGeom>
              <a:rect b="b" l="l" r="r" t="t"/>
              <a:pathLst>
                <a:path extrusionOk="0" h="3089" w="3151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-26583625" y="4077125"/>
              <a:ext cx="144925" cy="134700"/>
            </a:xfrm>
            <a:custGeom>
              <a:rect b="b" l="l" r="r" t="t"/>
              <a:pathLst>
                <a:path extrusionOk="0" h="5388" w="5797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-26581275" y="3917025"/>
              <a:ext cx="311125" cy="295600"/>
            </a:xfrm>
            <a:custGeom>
              <a:rect b="b" l="l" r="r" t="t"/>
              <a:pathLst>
                <a:path extrusionOk="0" h="11824" w="12445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/>
          <p:cNvSpPr txBox="1"/>
          <p:nvPr>
            <p:ph type="title"/>
          </p:nvPr>
        </p:nvSpPr>
        <p:spPr>
          <a:xfrm>
            <a:off x="773700" y="466825"/>
            <a:ext cx="46554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Diseño de la topología</a:t>
            </a:r>
            <a:endParaRPr sz="2500">
              <a:solidFill>
                <a:schemeClr val="accent1"/>
              </a:solidFill>
            </a:endParaRPr>
          </a:p>
        </p:txBody>
      </p:sp>
      <p:pic>
        <p:nvPicPr>
          <p:cNvPr id="397" name="Google Shape;3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875" y="1163675"/>
            <a:ext cx="5110575" cy="374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31"/>
          <p:cNvGrpSpPr/>
          <p:nvPr/>
        </p:nvGrpSpPr>
        <p:grpSpPr>
          <a:xfrm>
            <a:off x="736438" y="519622"/>
            <a:ext cx="351880" cy="352803"/>
            <a:chOff x="-23244900" y="3888100"/>
            <a:chExt cx="295375" cy="296150"/>
          </a:xfrm>
        </p:grpSpPr>
        <p:sp>
          <p:nvSpPr>
            <p:cNvPr id="399" name="Google Shape;399;p31"/>
            <p:cNvSpPr/>
            <p:nvPr/>
          </p:nvSpPr>
          <p:spPr>
            <a:xfrm>
              <a:off x="-23106275" y="39589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1"/>
            <p:cNvSpPr/>
            <p:nvPr/>
          </p:nvSpPr>
          <p:spPr>
            <a:xfrm>
              <a:off x="-23106275" y="399285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1"/>
            <p:cNvSpPr/>
            <p:nvPr/>
          </p:nvSpPr>
          <p:spPr>
            <a:xfrm>
              <a:off x="-23106275" y="4062950"/>
              <a:ext cx="18150" cy="34675"/>
            </a:xfrm>
            <a:custGeom>
              <a:rect b="b" l="l" r="r" t="t"/>
              <a:pathLst>
                <a:path extrusionOk="0" h="1387" w="726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-23070825" y="3940850"/>
              <a:ext cx="52775" cy="26825"/>
            </a:xfrm>
            <a:custGeom>
              <a:rect b="b" l="l" r="r" t="t"/>
              <a:pathLst>
                <a:path extrusionOk="0" h="1073" w="2111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-23106275" y="392352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-23106275" y="402750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-23244900" y="3888100"/>
              <a:ext cx="295375" cy="296150"/>
            </a:xfrm>
            <a:custGeom>
              <a:rect b="b" l="l" r="r" t="t"/>
              <a:pathLst>
                <a:path extrusionOk="0" h="11846" w="11815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-23070825" y="3975525"/>
              <a:ext cx="43325" cy="26800"/>
            </a:xfrm>
            <a:custGeom>
              <a:rect b="b" l="l" r="r" t="t"/>
              <a:pathLst>
                <a:path extrusionOk="0" h="1072" w="1733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-23158250" y="4097600"/>
              <a:ext cx="121300" cy="52000"/>
            </a:xfrm>
            <a:custGeom>
              <a:rect b="b" l="l" r="r" t="t"/>
              <a:pathLst>
                <a:path extrusionOk="0" h="2080" w="4852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-23176375" y="3940850"/>
              <a:ext cx="52800" cy="26825"/>
            </a:xfrm>
            <a:custGeom>
              <a:rect b="b" l="l" r="r" t="t"/>
              <a:pathLst>
                <a:path extrusionOk="0" h="1073" w="2112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-23166125" y="3976300"/>
              <a:ext cx="44125" cy="26800"/>
            </a:xfrm>
            <a:custGeom>
              <a:rect b="b" l="l" r="r" t="t"/>
              <a:pathLst>
                <a:path extrusionOk="0" h="1072" w="1765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2"/>
          <p:cNvSpPr txBox="1"/>
          <p:nvPr>
            <p:ph type="title"/>
          </p:nvPr>
        </p:nvSpPr>
        <p:spPr>
          <a:xfrm>
            <a:off x="1875950" y="821075"/>
            <a:ext cx="60756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Modelo leaf-spine:  </a:t>
            </a:r>
            <a:r>
              <a:rPr lang="en" sz="2500">
                <a:solidFill>
                  <a:schemeClr val="accent6"/>
                </a:solidFill>
              </a:rPr>
              <a:t>S</a:t>
            </a:r>
            <a:r>
              <a:rPr lang="en" sz="2500">
                <a:solidFill>
                  <a:schemeClr val="accent6"/>
                </a:solidFill>
              </a:rPr>
              <a:t>pine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415" name="Google Shape;415;p32"/>
          <p:cNvSpPr txBox="1"/>
          <p:nvPr/>
        </p:nvSpPr>
        <p:spPr>
          <a:xfrm>
            <a:off x="1877238" y="1372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El tronco de la topología Spine-Leaf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6" name="Google Shape;416;p32"/>
          <p:cNvSpPr txBox="1"/>
          <p:nvPr/>
        </p:nvSpPr>
        <p:spPr>
          <a:xfrm>
            <a:off x="1877238" y="1567425"/>
            <a:ext cx="643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Son el centro de conectividad, desde donde se ramifican los leaf.</a:t>
            </a:r>
            <a:endParaRPr sz="13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17" name="Google Shape;417;p32"/>
          <p:cNvSpPr txBox="1"/>
          <p:nvPr/>
        </p:nvSpPr>
        <p:spPr>
          <a:xfrm>
            <a:off x="1115038" y="1863700"/>
            <a:ext cx="330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Switches de alto rendimiento y baja latencia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8" name="Google Shape;418;p32"/>
          <p:cNvSpPr txBox="1"/>
          <p:nvPr/>
        </p:nvSpPr>
        <p:spPr>
          <a:xfrm>
            <a:off x="1115038" y="2048050"/>
            <a:ext cx="686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Diseñados para manejar grandes volúmenes de tráfico entre Leaf, sin cuellos de botella.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19" name="Google Shape;419;p32"/>
          <p:cNvSpPr txBox="1"/>
          <p:nvPr/>
        </p:nvSpPr>
        <p:spPr>
          <a:xfrm>
            <a:off x="1771638" y="2331625"/>
            <a:ext cx="421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No se conectan entre sí ni a dispositivos finales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0" name="Google Shape;420;p32"/>
          <p:cNvSpPr txBox="1"/>
          <p:nvPr/>
        </p:nvSpPr>
        <p:spPr>
          <a:xfrm>
            <a:off x="1771638" y="2539100"/>
            <a:ext cx="62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No enlazan con servidores ni se conectan entre ellos. Su función es solo </a:t>
            </a:r>
            <a:r>
              <a:rPr lang="en" sz="1100">
                <a:solidFill>
                  <a:schemeClr val="lt2"/>
                </a:solidFill>
                <a:latin typeface="Karla Light"/>
                <a:ea typeface="Karla Light"/>
                <a:cs typeface="Karla Light"/>
                <a:sym typeface="Karla Light"/>
              </a:rPr>
              <a:t>transporte eficiente.</a:t>
            </a:r>
            <a:endParaRPr sz="1100">
              <a:solidFill>
                <a:schemeClr val="lt2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421" name="Google Shape;421;p32"/>
          <p:cNvGrpSpPr/>
          <p:nvPr/>
        </p:nvGrpSpPr>
        <p:grpSpPr>
          <a:xfrm>
            <a:off x="1382491" y="762573"/>
            <a:ext cx="450470" cy="449325"/>
            <a:chOff x="-20946600" y="3317850"/>
            <a:chExt cx="304825" cy="304050"/>
          </a:xfrm>
        </p:grpSpPr>
        <p:sp>
          <p:nvSpPr>
            <p:cNvPr id="422" name="Google Shape;422;p32"/>
            <p:cNvSpPr/>
            <p:nvPr/>
          </p:nvSpPr>
          <p:spPr>
            <a:xfrm>
              <a:off x="-20946600" y="3317850"/>
              <a:ext cx="232350" cy="248925"/>
            </a:xfrm>
            <a:custGeom>
              <a:rect b="b" l="l" r="r" t="t"/>
              <a:pathLst>
                <a:path extrusionOk="0" h="9957" w="9294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2"/>
            <p:cNvSpPr/>
            <p:nvPr/>
          </p:nvSpPr>
          <p:spPr>
            <a:xfrm>
              <a:off x="-20775700" y="3318650"/>
              <a:ext cx="133925" cy="249700"/>
            </a:xfrm>
            <a:custGeom>
              <a:rect b="b" l="l" r="r" t="t"/>
              <a:pathLst>
                <a:path extrusionOk="0" h="9988" w="5357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2"/>
            <p:cNvSpPr/>
            <p:nvPr/>
          </p:nvSpPr>
          <p:spPr>
            <a:xfrm>
              <a:off x="-20890700" y="3586425"/>
              <a:ext cx="195375" cy="35475"/>
            </a:xfrm>
            <a:custGeom>
              <a:rect b="b" l="l" r="r" t="t"/>
              <a:pathLst>
                <a:path extrusionOk="0" h="1419" w="7815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5" name="Google Shape;425;p32"/>
          <p:cNvSpPr txBox="1"/>
          <p:nvPr/>
        </p:nvSpPr>
        <p:spPr>
          <a:xfrm>
            <a:off x="1115038" y="2827513"/>
            <a:ext cx="421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Malla total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6" name="Google Shape;426;p32"/>
          <p:cNvSpPr txBox="1"/>
          <p:nvPr/>
        </p:nvSpPr>
        <p:spPr>
          <a:xfrm>
            <a:off x="1115038" y="3021663"/>
            <a:ext cx="62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Esto garantiza rutas redundantes, tráfico balanceado y latencia uniforme.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27" name="Google Shape;427;p32"/>
          <p:cNvSpPr txBox="1"/>
          <p:nvPr/>
        </p:nvSpPr>
        <p:spPr>
          <a:xfrm>
            <a:off x="1965038" y="3260950"/>
            <a:ext cx="421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Escalado horizontal sencillo y limpio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1965038" y="3468425"/>
            <a:ext cx="62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Esto garantiza rutas redundantes, tráfico balanceado y latencia uniforme.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29" name="Google Shape;429;p32"/>
          <p:cNvSpPr txBox="1"/>
          <p:nvPr/>
        </p:nvSpPr>
        <p:spPr>
          <a:xfrm>
            <a:off x="1367063" y="3830650"/>
            <a:ext cx="421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Distribución, no concentración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0" name="Google Shape;430;p32"/>
          <p:cNvSpPr txBox="1"/>
          <p:nvPr/>
        </p:nvSpPr>
        <p:spPr>
          <a:xfrm>
            <a:off x="1367063" y="4038125"/>
            <a:ext cx="62406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No acumulan funciones, sino que reparten la carga y mantienen la red fluida y simétrica, entre cualquier par de nodos finales.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431" name="Google Shape;431;p32"/>
          <p:cNvGrpSpPr/>
          <p:nvPr/>
        </p:nvGrpSpPr>
        <p:grpSpPr>
          <a:xfrm>
            <a:off x="1552491" y="1499968"/>
            <a:ext cx="280873" cy="296283"/>
            <a:chOff x="-18645175" y="3334200"/>
            <a:chExt cx="307200" cy="305825"/>
          </a:xfrm>
        </p:grpSpPr>
        <p:sp>
          <p:nvSpPr>
            <p:cNvPr id="432" name="Google Shape;432;p32"/>
            <p:cNvSpPr/>
            <p:nvPr/>
          </p:nvSpPr>
          <p:spPr>
            <a:xfrm>
              <a:off x="-18627850" y="3424975"/>
              <a:ext cx="289875" cy="215050"/>
            </a:xfrm>
            <a:custGeom>
              <a:rect b="b" l="l" r="r" t="t"/>
              <a:pathLst>
                <a:path extrusionOk="0" h="8602" w="11595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2"/>
            <p:cNvSpPr/>
            <p:nvPr/>
          </p:nvSpPr>
          <p:spPr>
            <a:xfrm>
              <a:off x="-18645175" y="3424975"/>
              <a:ext cx="141800" cy="159900"/>
            </a:xfrm>
            <a:custGeom>
              <a:rect b="b" l="l" r="r" t="t"/>
              <a:pathLst>
                <a:path extrusionOk="0" h="6396" w="5672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2"/>
            <p:cNvSpPr/>
            <p:nvPr/>
          </p:nvSpPr>
          <p:spPr>
            <a:xfrm>
              <a:off x="-18466375" y="3334200"/>
              <a:ext cx="54350" cy="71100"/>
            </a:xfrm>
            <a:custGeom>
              <a:rect b="b" l="l" r="r" t="t"/>
              <a:pathLst>
                <a:path extrusionOk="0" h="2844" w="2174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2"/>
            <p:cNvSpPr/>
            <p:nvPr/>
          </p:nvSpPr>
          <p:spPr>
            <a:xfrm>
              <a:off x="-18428575" y="3352500"/>
              <a:ext cx="87450" cy="82725"/>
            </a:xfrm>
            <a:custGeom>
              <a:rect b="b" l="l" r="r" t="t"/>
              <a:pathLst>
                <a:path extrusionOk="0" h="3309" w="3498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2"/>
            <p:cNvSpPr/>
            <p:nvPr/>
          </p:nvSpPr>
          <p:spPr>
            <a:xfrm>
              <a:off x="-18645175" y="3334400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" name="Google Shape;437;p32"/>
          <p:cNvGrpSpPr/>
          <p:nvPr/>
        </p:nvGrpSpPr>
        <p:grpSpPr>
          <a:xfrm>
            <a:off x="834166" y="2025243"/>
            <a:ext cx="280873" cy="296283"/>
            <a:chOff x="-18645175" y="3334200"/>
            <a:chExt cx="307200" cy="305825"/>
          </a:xfrm>
        </p:grpSpPr>
        <p:sp>
          <p:nvSpPr>
            <p:cNvPr id="438" name="Google Shape;438;p32"/>
            <p:cNvSpPr/>
            <p:nvPr/>
          </p:nvSpPr>
          <p:spPr>
            <a:xfrm>
              <a:off x="-18627850" y="3424975"/>
              <a:ext cx="289875" cy="215050"/>
            </a:xfrm>
            <a:custGeom>
              <a:rect b="b" l="l" r="r" t="t"/>
              <a:pathLst>
                <a:path extrusionOk="0" h="8602" w="11595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-18645175" y="3424975"/>
              <a:ext cx="141800" cy="159900"/>
            </a:xfrm>
            <a:custGeom>
              <a:rect b="b" l="l" r="r" t="t"/>
              <a:pathLst>
                <a:path extrusionOk="0" h="6396" w="5672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-18466375" y="3334200"/>
              <a:ext cx="54350" cy="71100"/>
            </a:xfrm>
            <a:custGeom>
              <a:rect b="b" l="l" r="r" t="t"/>
              <a:pathLst>
                <a:path extrusionOk="0" h="2844" w="2174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-18428575" y="3352500"/>
              <a:ext cx="87450" cy="82725"/>
            </a:xfrm>
            <a:custGeom>
              <a:rect b="b" l="l" r="r" t="t"/>
              <a:pathLst>
                <a:path extrusionOk="0" h="3309" w="3498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2"/>
            <p:cNvSpPr/>
            <p:nvPr/>
          </p:nvSpPr>
          <p:spPr>
            <a:xfrm>
              <a:off x="-18645175" y="3334400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3" name="Google Shape;443;p32"/>
          <p:cNvGrpSpPr/>
          <p:nvPr/>
        </p:nvGrpSpPr>
        <p:grpSpPr>
          <a:xfrm>
            <a:off x="1490766" y="2451818"/>
            <a:ext cx="280873" cy="296283"/>
            <a:chOff x="-18645175" y="3334200"/>
            <a:chExt cx="307200" cy="305825"/>
          </a:xfrm>
        </p:grpSpPr>
        <p:sp>
          <p:nvSpPr>
            <p:cNvPr id="444" name="Google Shape;444;p32"/>
            <p:cNvSpPr/>
            <p:nvPr/>
          </p:nvSpPr>
          <p:spPr>
            <a:xfrm>
              <a:off x="-18627850" y="3424975"/>
              <a:ext cx="289875" cy="215050"/>
            </a:xfrm>
            <a:custGeom>
              <a:rect b="b" l="l" r="r" t="t"/>
              <a:pathLst>
                <a:path extrusionOk="0" h="8602" w="11595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-18645175" y="3424975"/>
              <a:ext cx="141800" cy="159900"/>
            </a:xfrm>
            <a:custGeom>
              <a:rect b="b" l="l" r="r" t="t"/>
              <a:pathLst>
                <a:path extrusionOk="0" h="6396" w="5672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-18466375" y="3334200"/>
              <a:ext cx="54350" cy="71100"/>
            </a:xfrm>
            <a:custGeom>
              <a:rect b="b" l="l" r="r" t="t"/>
              <a:pathLst>
                <a:path extrusionOk="0" h="2844" w="2174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-18428575" y="3352500"/>
              <a:ext cx="87450" cy="82725"/>
            </a:xfrm>
            <a:custGeom>
              <a:rect b="b" l="l" r="r" t="t"/>
              <a:pathLst>
                <a:path extrusionOk="0" h="3309" w="3498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-18645175" y="3334400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32"/>
          <p:cNvGrpSpPr/>
          <p:nvPr/>
        </p:nvGrpSpPr>
        <p:grpSpPr>
          <a:xfrm>
            <a:off x="834166" y="2944193"/>
            <a:ext cx="280873" cy="296283"/>
            <a:chOff x="-18645175" y="3334200"/>
            <a:chExt cx="307200" cy="305825"/>
          </a:xfrm>
        </p:grpSpPr>
        <p:sp>
          <p:nvSpPr>
            <p:cNvPr id="450" name="Google Shape;450;p32"/>
            <p:cNvSpPr/>
            <p:nvPr/>
          </p:nvSpPr>
          <p:spPr>
            <a:xfrm>
              <a:off x="-18627850" y="3424975"/>
              <a:ext cx="289875" cy="215050"/>
            </a:xfrm>
            <a:custGeom>
              <a:rect b="b" l="l" r="r" t="t"/>
              <a:pathLst>
                <a:path extrusionOk="0" h="8602" w="11595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-18645175" y="3424975"/>
              <a:ext cx="141800" cy="159900"/>
            </a:xfrm>
            <a:custGeom>
              <a:rect b="b" l="l" r="r" t="t"/>
              <a:pathLst>
                <a:path extrusionOk="0" h="6396" w="5672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-18466375" y="3334200"/>
              <a:ext cx="54350" cy="71100"/>
            </a:xfrm>
            <a:custGeom>
              <a:rect b="b" l="l" r="r" t="t"/>
              <a:pathLst>
                <a:path extrusionOk="0" h="2844" w="2174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-18428575" y="3352500"/>
              <a:ext cx="87450" cy="82725"/>
            </a:xfrm>
            <a:custGeom>
              <a:rect b="b" l="l" r="r" t="t"/>
              <a:pathLst>
                <a:path extrusionOk="0" h="3309" w="3498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2"/>
            <p:cNvSpPr/>
            <p:nvPr/>
          </p:nvSpPr>
          <p:spPr>
            <a:xfrm>
              <a:off x="-18645175" y="3334400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32"/>
          <p:cNvGrpSpPr/>
          <p:nvPr/>
        </p:nvGrpSpPr>
        <p:grpSpPr>
          <a:xfrm>
            <a:off x="1652441" y="3412293"/>
            <a:ext cx="280873" cy="296283"/>
            <a:chOff x="-18645175" y="3334200"/>
            <a:chExt cx="307200" cy="305825"/>
          </a:xfrm>
        </p:grpSpPr>
        <p:sp>
          <p:nvSpPr>
            <p:cNvPr id="456" name="Google Shape;456;p32"/>
            <p:cNvSpPr/>
            <p:nvPr/>
          </p:nvSpPr>
          <p:spPr>
            <a:xfrm>
              <a:off x="-18627850" y="3424975"/>
              <a:ext cx="289875" cy="215050"/>
            </a:xfrm>
            <a:custGeom>
              <a:rect b="b" l="l" r="r" t="t"/>
              <a:pathLst>
                <a:path extrusionOk="0" h="8602" w="11595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-18645175" y="3424975"/>
              <a:ext cx="141800" cy="159900"/>
            </a:xfrm>
            <a:custGeom>
              <a:rect b="b" l="l" r="r" t="t"/>
              <a:pathLst>
                <a:path extrusionOk="0" h="6396" w="5672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-18466375" y="3334200"/>
              <a:ext cx="54350" cy="71100"/>
            </a:xfrm>
            <a:custGeom>
              <a:rect b="b" l="l" r="r" t="t"/>
              <a:pathLst>
                <a:path extrusionOk="0" h="2844" w="2174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-18428575" y="3352500"/>
              <a:ext cx="87450" cy="82725"/>
            </a:xfrm>
            <a:custGeom>
              <a:rect b="b" l="l" r="r" t="t"/>
              <a:pathLst>
                <a:path extrusionOk="0" h="3309" w="3498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-18645175" y="3334400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" name="Google Shape;461;p32"/>
          <p:cNvGrpSpPr/>
          <p:nvPr/>
        </p:nvGrpSpPr>
        <p:grpSpPr>
          <a:xfrm>
            <a:off x="1086191" y="3948968"/>
            <a:ext cx="280873" cy="296283"/>
            <a:chOff x="-18645175" y="3334200"/>
            <a:chExt cx="307200" cy="305825"/>
          </a:xfrm>
        </p:grpSpPr>
        <p:sp>
          <p:nvSpPr>
            <p:cNvPr id="462" name="Google Shape;462;p32"/>
            <p:cNvSpPr/>
            <p:nvPr/>
          </p:nvSpPr>
          <p:spPr>
            <a:xfrm>
              <a:off x="-18627850" y="3424975"/>
              <a:ext cx="289875" cy="215050"/>
            </a:xfrm>
            <a:custGeom>
              <a:rect b="b" l="l" r="r" t="t"/>
              <a:pathLst>
                <a:path extrusionOk="0" h="8602" w="11595">
                  <a:moveTo>
                    <a:pt x="7530" y="2111"/>
                  </a:moveTo>
                  <a:cubicBezTo>
                    <a:pt x="7719" y="2111"/>
                    <a:pt x="7877" y="2269"/>
                    <a:pt x="7877" y="2458"/>
                  </a:cubicBezTo>
                  <a:lnTo>
                    <a:pt x="7877" y="4568"/>
                  </a:lnTo>
                  <a:cubicBezTo>
                    <a:pt x="7877" y="4789"/>
                    <a:pt x="7719" y="4946"/>
                    <a:pt x="7530" y="4946"/>
                  </a:cubicBezTo>
                  <a:cubicBezTo>
                    <a:pt x="7341" y="4946"/>
                    <a:pt x="7184" y="4789"/>
                    <a:pt x="7184" y="4568"/>
                  </a:cubicBezTo>
                  <a:lnTo>
                    <a:pt x="7184" y="2458"/>
                  </a:lnTo>
                  <a:cubicBezTo>
                    <a:pt x="7184" y="2269"/>
                    <a:pt x="7341" y="2111"/>
                    <a:pt x="7530" y="2111"/>
                  </a:cubicBezTo>
                  <a:close/>
                  <a:moveTo>
                    <a:pt x="2584" y="0"/>
                  </a:moveTo>
                  <a:cubicBezTo>
                    <a:pt x="2364" y="0"/>
                    <a:pt x="2206" y="158"/>
                    <a:pt x="2206" y="347"/>
                  </a:cubicBezTo>
                  <a:lnTo>
                    <a:pt x="2206" y="1764"/>
                  </a:lnTo>
                  <a:lnTo>
                    <a:pt x="2206" y="2489"/>
                  </a:lnTo>
                  <a:cubicBezTo>
                    <a:pt x="2206" y="2678"/>
                    <a:pt x="2364" y="2836"/>
                    <a:pt x="2584" y="2836"/>
                  </a:cubicBezTo>
                  <a:lnTo>
                    <a:pt x="3624" y="2836"/>
                  </a:lnTo>
                  <a:cubicBezTo>
                    <a:pt x="4821" y="2836"/>
                    <a:pt x="5766" y="3781"/>
                    <a:pt x="5766" y="4978"/>
                  </a:cubicBezTo>
                  <a:cubicBezTo>
                    <a:pt x="5766" y="6144"/>
                    <a:pt x="4821" y="7089"/>
                    <a:pt x="3624" y="7089"/>
                  </a:cubicBezTo>
                  <a:lnTo>
                    <a:pt x="3277" y="7089"/>
                  </a:lnTo>
                  <a:cubicBezTo>
                    <a:pt x="2616" y="7089"/>
                    <a:pt x="1986" y="6931"/>
                    <a:pt x="1387" y="6711"/>
                  </a:cubicBezTo>
                  <a:cubicBezTo>
                    <a:pt x="1072" y="7183"/>
                    <a:pt x="694" y="7593"/>
                    <a:pt x="221" y="7908"/>
                  </a:cubicBezTo>
                  <a:cubicBezTo>
                    <a:pt x="95" y="8002"/>
                    <a:pt x="1" y="8160"/>
                    <a:pt x="64" y="8317"/>
                  </a:cubicBezTo>
                  <a:cubicBezTo>
                    <a:pt x="95" y="8475"/>
                    <a:pt x="253" y="8538"/>
                    <a:pt x="410" y="8538"/>
                  </a:cubicBezTo>
                  <a:lnTo>
                    <a:pt x="3624" y="8538"/>
                  </a:lnTo>
                  <a:lnTo>
                    <a:pt x="3624" y="8191"/>
                  </a:lnTo>
                  <a:cubicBezTo>
                    <a:pt x="3624" y="8002"/>
                    <a:pt x="3781" y="7845"/>
                    <a:pt x="4002" y="7845"/>
                  </a:cubicBezTo>
                  <a:cubicBezTo>
                    <a:pt x="4191" y="7845"/>
                    <a:pt x="4348" y="8002"/>
                    <a:pt x="4348" y="8191"/>
                  </a:cubicBezTo>
                  <a:lnTo>
                    <a:pt x="4348" y="8538"/>
                  </a:lnTo>
                  <a:lnTo>
                    <a:pt x="6522" y="8538"/>
                  </a:lnTo>
                  <a:lnTo>
                    <a:pt x="6522" y="6049"/>
                  </a:lnTo>
                  <a:cubicBezTo>
                    <a:pt x="6522" y="5829"/>
                    <a:pt x="6680" y="5671"/>
                    <a:pt x="6869" y="5671"/>
                  </a:cubicBezTo>
                  <a:cubicBezTo>
                    <a:pt x="7058" y="5671"/>
                    <a:pt x="7215" y="5829"/>
                    <a:pt x="7215" y="6049"/>
                  </a:cubicBezTo>
                  <a:lnTo>
                    <a:pt x="7215" y="8601"/>
                  </a:lnTo>
                  <a:lnTo>
                    <a:pt x="11153" y="8601"/>
                  </a:lnTo>
                  <a:cubicBezTo>
                    <a:pt x="11468" y="8538"/>
                    <a:pt x="11595" y="8128"/>
                    <a:pt x="11311" y="7939"/>
                  </a:cubicBezTo>
                  <a:cubicBezTo>
                    <a:pt x="10208" y="7215"/>
                    <a:pt x="9547" y="5986"/>
                    <a:pt x="9389" y="4726"/>
                  </a:cubicBezTo>
                  <a:lnTo>
                    <a:pt x="10681" y="3434"/>
                  </a:lnTo>
                  <a:cubicBezTo>
                    <a:pt x="10775" y="3371"/>
                    <a:pt x="10807" y="3277"/>
                    <a:pt x="10807" y="3182"/>
                  </a:cubicBezTo>
                  <a:lnTo>
                    <a:pt x="10807" y="1764"/>
                  </a:lnTo>
                  <a:cubicBezTo>
                    <a:pt x="10807" y="1563"/>
                    <a:pt x="10625" y="1422"/>
                    <a:pt x="10440" y="1422"/>
                  </a:cubicBezTo>
                  <a:cubicBezTo>
                    <a:pt x="10394" y="1422"/>
                    <a:pt x="10347" y="1431"/>
                    <a:pt x="10303" y="1449"/>
                  </a:cubicBezTo>
                  <a:lnTo>
                    <a:pt x="9389" y="1922"/>
                  </a:lnTo>
                  <a:lnTo>
                    <a:pt x="9389" y="347"/>
                  </a:lnTo>
                  <a:cubicBezTo>
                    <a:pt x="9389" y="158"/>
                    <a:pt x="9232" y="0"/>
                    <a:pt x="9043" y="0"/>
                  </a:cubicBezTo>
                  <a:lnTo>
                    <a:pt x="6522" y="0"/>
                  </a:lnTo>
                  <a:lnTo>
                    <a:pt x="6522" y="3245"/>
                  </a:lnTo>
                  <a:cubicBezTo>
                    <a:pt x="6522" y="3434"/>
                    <a:pt x="6365" y="3592"/>
                    <a:pt x="6144" y="3592"/>
                  </a:cubicBezTo>
                  <a:cubicBezTo>
                    <a:pt x="5955" y="3592"/>
                    <a:pt x="5798" y="3434"/>
                    <a:pt x="5798" y="3245"/>
                  </a:cubicBezTo>
                  <a:lnTo>
                    <a:pt x="5798" y="0"/>
                  </a:lnTo>
                  <a:lnTo>
                    <a:pt x="4348" y="0"/>
                  </a:lnTo>
                  <a:lnTo>
                    <a:pt x="4348" y="1764"/>
                  </a:lnTo>
                  <a:cubicBezTo>
                    <a:pt x="4348" y="1985"/>
                    <a:pt x="4191" y="2143"/>
                    <a:pt x="4002" y="2143"/>
                  </a:cubicBezTo>
                  <a:cubicBezTo>
                    <a:pt x="3781" y="2143"/>
                    <a:pt x="3624" y="1985"/>
                    <a:pt x="3624" y="1764"/>
                  </a:cubicBezTo>
                  <a:lnTo>
                    <a:pt x="36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-18645175" y="3424975"/>
              <a:ext cx="141800" cy="159900"/>
            </a:xfrm>
            <a:custGeom>
              <a:rect b="b" l="l" r="r" t="t"/>
              <a:pathLst>
                <a:path extrusionOk="0" h="6396" w="5672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4600"/>
                    <a:pt x="1733" y="6396"/>
                    <a:pt x="3907" y="6396"/>
                  </a:cubicBezTo>
                  <a:lnTo>
                    <a:pt x="4254" y="6396"/>
                  </a:lnTo>
                  <a:cubicBezTo>
                    <a:pt x="5041" y="6396"/>
                    <a:pt x="5671" y="5766"/>
                    <a:pt x="5671" y="4978"/>
                  </a:cubicBezTo>
                  <a:cubicBezTo>
                    <a:pt x="5671" y="4190"/>
                    <a:pt x="5041" y="3560"/>
                    <a:pt x="4254" y="3560"/>
                  </a:cubicBezTo>
                  <a:lnTo>
                    <a:pt x="3183" y="3560"/>
                  </a:lnTo>
                  <a:cubicBezTo>
                    <a:pt x="2584" y="3560"/>
                    <a:pt x="2111" y="3088"/>
                    <a:pt x="2111" y="2489"/>
                  </a:cubicBezTo>
                  <a:lnTo>
                    <a:pt x="2111" y="1764"/>
                  </a:lnTo>
                  <a:cubicBezTo>
                    <a:pt x="2111" y="788"/>
                    <a:pt x="1324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-18466375" y="3334200"/>
              <a:ext cx="54350" cy="71100"/>
            </a:xfrm>
            <a:custGeom>
              <a:rect b="b" l="l" r="r" t="t"/>
              <a:pathLst>
                <a:path extrusionOk="0" h="2844" w="2174">
                  <a:moveTo>
                    <a:pt x="1449" y="0"/>
                  </a:moveTo>
                  <a:cubicBezTo>
                    <a:pt x="1371" y="0"/>
                    <a:pt x="1292" y="24"/>
                    <a:pt x="1229" y="71"/>
                  </a:cubicBezTo>
                  <a:cubicBezTo>
                    <a:pt x="1197" y="103"/>
                    <a:pt x="0" y="953"/>
                    <a:pt x="0" y="2150"/>
                  </a:cubicBezTo>
                  <a:cubicBezTo>
                    <a:pt x="0" y="2403"/>
                    <a:pt x="95" y="2623"/>
                    <a:pt x="158" y="2844"/>
                  </a:cubicBezTo>
                  <a:lnTo>
                    <a:pt x="756" y="2844"/>
                  </a:lnTo>
                  <a:cubicBezTo>
                    <a:pt x="882" y="1898"/>
                    <a:pt x="1386" y="1048"/>
                    <a:pt x="2174" y="544"/>
                  </a:cubicBezTo>
                  <a:cubicBezTo>
                    <a:pt x="1954" y="260"/>
                    <a:pt x="1701" y="71"/>
                    <a:pt x="1670" y="71"/>
                  </a:cubicBezTo>
                  <a:cubicBezTo>
                    <a:pt x="1607" y="24"/>
                    <a:pt x="1528" y="0"/>
                    <a:pt x="1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2"/>
            <p:cNvSpPr/>
            <p:nvPr/>
          </p:nvSpPr>
          <p:spPr>
            <a:xfrm>
              <a:off x="-18428575" y="3352500"/>
              <a:ext cx="87450" cy="82725"/>
            </a:xfrm>
            <a:custGeom>
              <a:rect b="b" l="l" r="r" t="t"/>
              <a:pathLst>
                <a:path extrusionOk="0" h="3309" w="3498">
                  <a:moveTo>
                    <a:pt x="2426" y="1"/>
                  </a:moveTo>
                  <a:cubicBezTo>
                    <a:pt x="1166" y="1"/>
                    <a:pt x="158" y="946"/>
                    <a:pt x="0" y="2112"/>
                  </a:cubicBezTo>
                  <a:lnTo>
                    <a:pt x="1009" y="2112"/>
                  </a:lnTo>
                  <a:cubicBezTo>
                    <a:pt x="1607" y="2112"/>
                    <a:pt x="2080" y="2584"/>
                    <a:pt x="2080" y="3183"/>
                  </a:cubicBezTo>
                  <a:lnTo>
                    <a:pt x="2080" y="3309"/>
                  </a:lnTo>
                  <a:cubicBezTo>
                    <a:pt x="2899" y="2899"/>
                    <a:pt x="3497" y="2049"/>
                    <a:pt x="3497" y="1072"/>
                  </a:cubicBezTo>
                  <a:lnTo>
                    <a:pt x="3497" y="347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-18645175" y="3334400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47" y="2836"/>
                  </a:cubicBezTo>
                  <a:lnTo>
                    <a:pt x="1072" y="2836"/>
                  </a:lnTo>
                  <a:cubicBezTo>
                    <a:pt x="2048" y="2836"/>
                    <a:pt x="2836" y="2048"/>
                    <a:pt x="2836" y="1071"/>
                  </a:cubicBezTo>
                  <a:lnTo>
                    <a:pt x="2836" y="347"/>
                  </a:lnTo>
                  <a:cubicBezTo>
                    <a:pt x="2836" y="158"/>
                    <a:pt x="2679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"/>
          <p:cNvSpPr txBox="1"/>
          <p:nvPr>
            <p:ph type="title"/>
          </p:nvPr>
        </p:nvSpPr>
        <p:spPr>
          <a:xfrm>
            <a:off x="1738850" y="821075"/>
            <a:ext cx="46554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Modelo leaf-spine: </a:t>
            </a:r>
            <a:r>
              <a:rPr lang="en" sz="2500">
                <a:solidFill>
                  <a:schemeClr val="accent6"/>
                </a:solidFill>
              </a:rPr>
              <a:t>Leaf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472" name="Google Shape;472;p33"/>
          <p:cNvSpPr txBox="1"/>
          <p:nvPr/>
        </p:nvSpPr>
        <p:spPr>
          <a:xfrm>
            <a:off x="1288600" y="1754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Punto de conexión final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1288600" y="1929025"/>
            <a:ext cx="546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6"/>
                </a:solidFill>
                <a:latin typeface="Karla Light"/>
                <a:ea typeface="Karla Light"/>
                <a:cs typeface="Karla Light"/>
                <a:sym typeface="Karla Light"/>
              </a:rPr>
              <a:t>Representan la primera capa de conexión hacia los dispositivos finales</a:t>
            </a:r>
            <a:endParaRPr sz="1300">
              <a:solidFill>
                <a:schemeClr val="accent6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74" name="Google Shape;474;p33"/>
          <p:cNvSpPr txBox="1"/>
          <p:nvPr/>
        </p:nvSpPr>
        <p:spPr>
          <a:xfrm>
            <a:off x="1288600" y="22111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No se conectan entre sí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1288600" y="2395450"/>
            <a:ext cx="686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Los leaf solo se conectan a los spine. Esta separación garantiza latencia predecible y evita bucles.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76" name="Google Shape;476;p33"/>
          <p:cNvSpPr txBox="1"/>
          <p:nvPr/>
        </p:nvSpPr>
        <p:spPr>
          <a:xfrm>
            <a:off x="1288600" y="26513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Malla completa norte-sur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7" name="Google Shape;477;p33"/>
          <p:cNvSpPr txBox="1"/>
          <p:nvPr/>
        </p:nvSpPr>
        <p:spPr>
          <a:xfrm>
            <a:off x="1288600" y="2847675"/>
            <a:ext cx="699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Cada leaf está conectado a todos los spine, formando una red con redundancia y múltiples rutas.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78" name="Google Shape;478;p33"/>
          <p:cNvSpPr txBox="1"/>
          <p:nvPr/>
        </p:nvSpPr>
        <p:spPr>
          <a:xfrm>
            <a:off x="1288600" y="3091538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Escalabilidad horizontal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9" name="Google Shape;479;p33"/>
          <p:cNvSpPr txBox="1"/>
          <p:nvPr/>
        </p:nvSpPr>
        <p:spPr>
          <a:xfrm>
            <a:off x="1288600" y="3271313"/>
            <a:ext cx="699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Se pueden añadir nuevos Leaf sin rediseñar la red, permitiendo crecer sin romper el diseño de red.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80" name="Google Shape;480;p33"/>
          <p:cNvSpPr txBox="1"/>
          <p:nvPr/>
        </p:nvSpPr>
        <p:spPr>
          <a:xfrm>
            <a:off x="1288600" y="35317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Crítico en entornos sensibles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81" name="Google Shape;481;p33"/>
          <p:cNvSpPr txBox="1"/>
          <p:nvPr/>
        </p:nvSpPr>
        <p:spPr>
          <a:xfrm>
            <a:off x="1288600" y="3711575"/>
            <a:ext cx="699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Esenciales para asegurar alta disponibilidad, baja latencia y flujo constante de datos críticos.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482" name="Google Shape;482;p33"/>
          <p:cNvGrpSpPr/>
          <p:nvPr/>
        </p:nvGrpSpPr>
        <p:grpSpPr>
          <a:xfrm>
            <a:off x="1382491" y="762573"/>
            <a:ext cx="450470" cy="449325"/>
            <a:chOff x="-20946600" y="3317850"/>
            <a:chExt cx="304825" cy="304050"/>
          </a:xfrm>
        </p:grpSpPr>
        <p:sp>
          <p:nvSpPr>
            <p:cNvPr id="483" name="Google Shape;483;p33"/>
            <p:cNvSpPr/>
            <p:nvPr/>
          </p:nvSpPr>
          <p:spPr>
            <a:xfrm>
              <a:off x="-20946600" y="3317850"/>
              <a:ext cx="232350" cy="248925"/>
            </a:xfrm>
            <a:custGeom>
              <a:rect b="b" l="l" r="r" t="t"/>
              <a:pathLst>
                <a:path extrusionOk="0" h="9957" w="9294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-20775700" y="3318650"/>
              <a:ext cx="133925" cy="249700"/>
            </a:xfrm>
            <a:custGeom>
              <a:rect b="b" l="l" r="r" t="t"/>
              <a:pathLst>
                <a:path extrusionOk="0" h="9988" w="5357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-20890700" y="3586425"/>
              <a:ext cx="195375" cy="35475"/>
            </a:xfrm>
            <a:custGeom>
              <a:rect b="b" l="l" r="r" t="t"/>
              <a:pathLst>
                <a:path extrusionOk="0" h="1419" w="7815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86" name="Google Shape;4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1929023"/>
            <a:ext cx="2736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2366573"/>
            <a:ext cx="2736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2836998"/>
            <a:ext cx="2736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3289848"/>
            <a:ext cx="2736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3758848"/>
            <a:ext cx="2736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4"/>
          <p:cNvSpPr txBox="1"/>
          <p:nvPr>
            <p:ph type="title"/>
          </p:nvPr>
        </p:nvSpPr>
        <p:spPr>
          <a:xfrm>
            <a:off x="1738850" y="821075"/>
            <a:ext cx="60756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Modelo leaf-spine:  </a:t>
            </a:r>
            <a:r>
              <a:rPr lang="en" sz="2500">
                <a:solidFill>
                  <a:schemeClr val="accent6"/>
                </a:solidFill>
              </a:rPr>
              <a:t>B</a:t>
            </a:r>
            <a:r>
              <a:rPr lang="en" sz="2500">
                <a:solidFill>
                  <a:schemeClr val="accent6"/>
                </a:solidFill>
              </a:rPr>
              <a:t>order </a:t>
            </a:r>
            <a:r>
              <a:rPr lang="en" sz="2500">
                <a:solidFill>
                  <a:schemeClr val="accent6"/>
                </a:solidFill>
              </a:rPr>
              <a:t>leaf 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1348925" y="16454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Leaf especializado para el exterior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1348925" y="1819713"/>
            <a:ext cx="643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Conecta la red Spine-Leaf interna con Internet, redes WAN o centros de datos externos.</a:t>
            </a:r>
            <a:endParaRPr sz="13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1348925" y="2101788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Punto de control del tráfico externo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1348925" y="2286138"/>
            <a:ext cx="686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Filtra y redirige tráfico que entra o sale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1348925" y="25420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Función clave en redes virtualizadas y cloud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1370875" y="2754675"/>
            <a:ext cx="69975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Traduce entre dominios físicos y virtuales, y conecta redes segmentadas o superpuestas. Es común que trabaje con firewalls, IDS/IPS y controladores SDN.</a:t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502" name="Google Shape;502;p34"/>
          <p:cNvGrpSpPr/>
          <p:nvPr/>
        </p:nvGrpSpPr>
        <p:grpSpPr>
          <a:xfrm>
            <a:off x="1382491" y="762573"/>
            <a:ext cx="450470" cy="449325"/>
            <a:chOff x="-20946600" y="3317850"/>
            <a:chExt cx="304825" cy="304050"/>
          </a:xfrm>
        </p:grpSpPr>
        <p:sp>
          <p:nvSpPr>
            <p:cNvPr id="503" name="Google Shape;503;p34"/>
            <p:cNvSpPr/>
            <p:nvPr/>
          </p:nvSpPr>
          <p:spPr>
            <a:xfrm>
              <a:off x="-20946600" y="3317850"/>
              <a:ext cx="232350" cy="248925"/>
            </a:xfrm>
            <a:custGeom>
              <a:rect b="b" l="l" r="r" t="t"/>
              <a:pathLst>
                <a:path extrusionOk="0" h="9957" w="9294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-20775700" y="3318650"/>
              <a:ext cx="133925" cy="249700"/>
            </a:xfrm>
            <a:custGeom>
              <a:rect b="b" l="l" r="r" t="t"/>
              <a:pathLst>
                <a:path extrusionOk="0" h="9988" w="5357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-20890700" y="3586425"/>
              <a:ext cx="195375" cy="35475"/>
            </a:xfrm>
            <a:custGeom>
              <a:rect b="b" l="l" r="r" t="t"/>
              <a:pathLst>
                <a:path extrusionOk="0" h="1419" w="7815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06" name="Google Shape;5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875" y="1747779"/>
            <a:ext cx="354000" cy="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875" y="2173704"/>
            <a:ext cx="354000" cy="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875" y="2658304"/>
            <a:ext cx="354000" cy="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"/>
          <p:cNvSpPr txBox="1"/>
          <p:nvPr>
            <p:ph type="title"/>
          </p:nvPr>
        </p:nvSpPr>
        <p:spPr>
          <a:xfrm>
            <a:off x="1720775" y="756725"/>
            <a:ext cx="43305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Separación por zonas funcionales</a:t>
            </a:r>
            <a:endParaRPr sz="2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</a:endParaRPr>
          </a:p>
        </p:txBody>
      </p:sp>
      <p:grpSp>
        <p:nvGrpSpPr>
          <p:cNvPr id="514" name="Google Shape;514;p35"/>
          <p:cNvGrpSpPr/>
          <p:nvPr/>
        </p:nvGrpSpPr>
        <p:grpSpPr>
          <a:xfrm>
            <a:off x="4763306" y="2850151"/>
            <a:ext cx="1340445" cy="594022"/>
            <a:chOff x="1498221" y="4047614"/>
            <a:chExt cx="529172" cy="240787"/>
          </a:xfrm>
        </p:grpSpPr>
        <p:grpSp>
          <p:nvGrpSpPr>
            <p:cNvPr id="515" name="Google Shape;515;p35"/>
            <p:cNvGrpSpPr/>
            <p:nvPr/>
          </p:nvGrpSpPr>
          <p:grpSpPr>
            <a:xfrm>
              <a:off x="1826655" y="4224370"/>
              <a:ext cx="200738" cy="25631"/>
              <a:chOff x="1826655" y="4224370"/>
              <a:chExt cx="200738" cy="25631"/>
            </a:xfrm>
          </p:grpSpPr>
          <p:sp>
            <p:nvSpPr>
              <p:cNvPr id="516" name="Google Shape;516;p35"/>
              <p:cNvSpPr/>
              <p:nvPr/>
            </p:nvSpPr>
            <p:spPr>
              <a:xfrm>
                <a:off x="1826655" y="4238011"/>
                <a:ext cx="175094" cy="5"/>
              </a:xfrm>
              <a:custGeom>
                <a:rect b="b" l="l" r="r" t="t"/>
                <a:pathLst>
                  <a:path extrusionOk="0" fill="none" h="1" w="36535">
                    <a:moveTo>
                      <a:pt x="1" y="0"/>
                    </a:moveTo>
                    <a:lnTo>
                      <a:pt x="36535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35"/>
              <p:cNvSpPr/>
              <p:nvPr/>
            </p:nvSpPr>
            <p:spPr>
              <a:xfrm>
                <a:off x="2000728" y="4224370"/>
                <a:ext cx="26665" cy="25631"/>
              </a:xfrm>
              <a:custGeom>
                <a:rect b="b" l="l" r="r" t="t"/>
                <a:pathLst>
                  <a:path extrusionOk="0" h="5351" w="5564">
                    <a:moveTo>
                      <a:pt x="2887" y="0"/>
                    </a:moveTo>
                    <a:cubicBezTo>
                      <a:pt x="2190" y="0"/>
                      <a:pt x="1506" y="271"/>
                      <a:pt x="996" y="783"/>
                    </a:cubicBezTo>
                    <a:cubicBezTo>
                      <a:pt x="230" y="1550"/>
                      <a:pt x="0" y="2699"/>
                      <a:pt x="416" y="3698"/>
                    </a:cubicBezTo>
                    <a:cubicBezTo>
                      <a:pt x="828" y="4698"/>
                      <a:pt x="1806" y="5351"/>
                      <a:pt x="2886" y="5351"/>
                    </a:cubicBezTo>
                    <a:cubicBezTo>
                      <a:pt x="4363" y="5351"/>
                      <a:pt x="5560" y="4150"/>
                      <a:pt x="5563" y="2677"/>
                    </a:cubicBezTo>
                    <a:cubicBezTo>
                      <a:pt x="5560" y="1593"/>
                      <a:pt x="4911" y="619"/>
                      <a:pt x="3911" y="203"/>
                    </a:cubicBezTo>
                    <a:cubicBezTo>
                      <a:pt x="3580" y="67"/>
                      <a:pt x="3232" y="0"/>
                      <a:pt x="2887" y="0"/>
                    </a:cubicBezTo>
                    <a:close/>
                  </a:path>
                </a:pathLst>
              </a:custGeom>
              <a:solidFill>
                <a:srgbClr val="213B55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35"/>
            <p:cNvGrpSpPr/>
            <p:nvPr/>
          </p:nvGrpSpPr>
          <p:grpSpPr>
            <a:xfrm>
              <a:off x="1498221" y="4047614"/>
              <a:ext cx="416878" cy="240787"/>
              <a:chOff x="1498221" y="4047614"/>
              <a:chExt cx="416878" cy="240787"/>
            </a:xfrm>
          </p:grpSpPr>
          <p:sp>
            <p:nvSpPr>
              <p:cNvPr id="519" name="Google Shape;519;p35"/>
              <p:cNvSpPr/>
              <p:nvPr/>
            </p:nvSpPr>
            <p:spPr>
              <a:xfrm>
                <a:off x="1648778" y="4185665"/>
                <a:ext cx="266322" cy="102736"/>
              </a:xfrm>
              <a:custGeom>
                <a:rect b="b" l="l" r="r" t="t"/>
                <a:pathLst>
                  <a:path extrusionOk="0" h="21448" w="37118">
                    <a:moveTo>
                      <a:pt x="4950" y="1"/>
                    </a:moveTo>
                    <a:cubicBezTo>
                      <a:pt x="2218" y="1"/>
                      <a:pt x="0" y="2679"/>
                      <a:pt x="0" y="5984"/>
                    </a:cubicBezTo>
                    <a:lnTo>
                      <a:pt x="0" y="15461"/>
                    </a:lnTo>
                    <a:cubicBezTo>
                      <a:pt x="0" y="18766"/>
                      <a:pt x="2218" y="21447"/>
                      <a:pt x="4950" y="21447"/>
                    </a:cubicBezTo>
                    <a:lnTo>
                      <a:pt x="32168" y="21447"/>
                    </a:lnTo>
                    <a:cubicBezTo>
                      <a:pt x="34904" y="21447"/>
                      <a:pt x="37118" y="18766"/>
                      <a:pt x="37118" y="15461"/>
                    </a:cubicBezTo>
                    <a:lnTo>
                      <a:pt x="37118" y="5984"/>
                    </a:lnTo>
                    <a:cubicBezTo>
                      <a:pt x="37118" y="2679"/>
                      <a:pt x="34904" y="1"/>
                      <a:pt x="32168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 cap="flat" cmpd="sng" w="9525">
                <a:solidFill>
                  <a:schemeClr val="accent1"/>
                </a:solidFill>
                <a:prstDash val="solid"/>
                <a:miter lim="36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0" name="Google Shape;520;p35"/>
              <p:cNvGrpSpPr/>
              <p:nvPr/>
            </p:nvGrpSpPr>
            <p:grpSpPr>
              <a:xfrm>
                <a:off x="1498221" y="4047614"/>
                <a:ext cx="150566" cy="190416"/>
                <a:chOff x="1498221" y="4047614"/>
                <a:chExt cx="150566" cy="190416"/>
              </a:xfrm>
            </p:grpSpPr>
            <p:sp>
              <p:nvSpPr>
                <p:cNvPr id="521" name="Google Shape;521;p35"/>
                <p:cNvSpPr/>
                <p:nvPr/>
              </p:nvSpPr>
              <p:spPr>
                <a:xfrm>
                  <a:off x="1510686" y="4060421"/>
                  <a:ext cx="138101" cy="177608"/>
                </a:xfrm>
                <a:custGeom>
                  <a:rect b="b" l="l" r="r" t="t"/>
                  <a:pathLst>
                    <a:path extrusionOk="0" fill="none" h="37079" w="28816">
                      <a:moveTo>
                        <a:pt x="28815" y="37078"/>
                      </a:moveTo>
                      <a:lnTo>
                        <a:pt x="17922" y="37078"/>
                      </a:lnTo>
                      <a:cubicBezTo>
                        <a:pt x="14829" y="37078"/>
                        <a:pt x="14212" y="33613"/>
                        <a:pt x="14212" y="33613"/>
                      </a:cubicBezTo>
                      <a:lnTo>
                        <a:pt x="14212" y="10631"/>
                      </a:lnTo>
                      <a:lnTo>
                        <a:pt x="0" y="10631"/>
                      </a:lnTo>
                      <a:lnTo>
                        <a:pt x="0" y="1"/>
                      </a:lnTo>
                    </a:path>
                  </a:pathLst>
                </a:custGeom>
                <a:noFill/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35"/>
                <p:cNvSpPr/>
                <p:nvPr/>
              </p:nvSpPr>
              <p:spPr>
                <a:xfrm>
                  <a:off x="1498221" y="4047614"/>
                  <a:ext cx="26646" cy="25622"/>
                </a:xfrm>
                <a:custGeom>
                  <a:rect b="b" l="l" r="r" t="t"/>
                  <a:pathLst>
                    <a:path extrusionOk="0" h="5349" w="5560">
                      <a:moveTo>
                        <a:pt x="2886" y="1"/>
                      </a:moveTo>
                      <a:cubicBezTo>
                        <a:pt x="1806" y="1"/>
                        <a:pt x="828" y="654"/>
                        <a:pt x="416" y="1653"/>
                      </a:cubicBezTo>
                      <a:cubicBezTo>
                        <a:pt x="0" y="2649"/>
                        <a:pt x="230" y="3802"/>
                        <a:pt x="996" y="4564"/>
                      </a:cubicBezTo>
                      <a:cubicBezTo>
                        <a:pt x="1506" y="5077"/>
                        <a:pt x="2190" y="5349"/>
                        <a:pt x="2886" y="5349"/>
                      </a:cubicBezTo>
                      <a:cubicBezTo>
                        <a:pt x="3232" y="5349"/>
                        <a:pt x="3580" y="5282"/>
                        <a:pt x="3911" y="5144"/>
                      </a:cubicBezTo>
                      <a:cubicBezTo>
                        <a:pt x="4910" y="4732"/>
                        <a:pt x="5560" y="3758"/>
                        <a:pt x="5560" y="2675"/>
                      </a:cubicBezTo>
                      <a:cubicBezTo>
                        <a:pt x="5560" y="1197"/>
                        <a:pt x="4363" y="1"/>
                        <a:pt x="288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23" name="Google Shape;523;p35"/>
          <p:cNvSpPr/>
          <p:nvPr/>
        </p:nvSpPr>
        <p:spPr>
          <a:xfrm>
            <a:off x="5993625" y="2842520"/>
            <a:ext cx="57643" cy="63212"/>
          </a:xfrm>
          <a:custGeom>
            <a:rect b="b" l="l" r="r" t="t"/>
            <a:pathLst>
              <a:path extrusionOk="0" h="5349" w="5560">
                <a:moveTo>
                  <a:pt x="2886" y="0"/>
                </a:moveTo>
                <a:cubicBezTo>
                  <a:pt x="1806" y="0"/>
                  <a:pt x="828" y="650"/>
                  <a:pt x="416" y="1649"/>
                </a:cubicBezTo>
                <a:cubicBezTo>
                  <a:pt x="0" y="2649"/>
                  <a:pt x="230" y="3802"/>
                  <a:pt x="993" y="4564"/>
                </a:cubicBezTo>
                <a:cubicBezTo>
                  <a:pt x="1505" y="5076"/>
                  <a:pt x="2190" y="5349"/>
                  <a:pt x="2887" y="5349"/>
                </a:cubicBezTo>
                <a:cubicBezTo>
                  <a:pt x="3232" y="5349"/>
                  <a:pt x="3580" y="5282"/>
                  <a:pt x="3911" y="5144"/>
                </a:cubicBezTo>
                <a:cubicBezTo>
                  <a:pt x="4910" y="4732"/>
                  <a:pt x="5560" y="3758"/>
                  <a:pt x="5560" y="2674"/>
                </a:cubicBezTo>
                <a:cubicBezTo>
                  <a:pt x="5560" y="1197"/>
                  <a:pt x="4363" y="0"/>
                  <a:pt x="2886" y="0"/>
                </a:cubicBezTo>
                <a:close/>
              </a:path>
            </a:pathLst>
          </a:custGeom>
          <a:solidFill>
            <a:srgbClr val="869FB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5"/>
          <p:cNvSpPr/>
          <p:nvPr/>
        </p:nvSpPr>
        <p:spPr>
          <a:xfrm>
            <a:off x="4244608" y="2234514"/>
            <a:ext cx="654863" cy="746405"/>
          </a:xfrm>
          <a:custGeom>
            <a:rect b="b" l="l" r="r" t="t"/>
            <a:pathLst>
              <a:path extrusionOk="0" fill="none" h="63161" w="63165">
                <a:moveTo>
                  <a:pt x="63165" y="31580"/>
                </a:moveTo>
                <a:cubicBezTo>
                  <a:pt x="63165" y="49021"/>
                  <a:pt x="49025" y="63161"/>
                  <a:pt x="31585" y="63161"/>
                </a:cubicBezTo>
                <a:cubicBezTo>
                  <a:pt x="14140" y="63161"/>
                  <a:pt x="1" y="49021"/>
                  <a:pt x="1" y="31580"/>
                </a:cubicBezTo>
                <a:cubicBezTo>
                  <a:pt x="1" y="14140"/>
                  <a:pt x="14140" y="0"/>
                  <a:pt x="31585" y="0"/>
                </a:cubicBezTo>
                <a:cubicBezTo>
                  <a:pt x="49025" y="0"/>
                  <a:pt x="63165" y="14140"/>
                  <a:pt x="63165" y="31580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364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5" name="Google Shape;525;p35"/>
          <p:cNvGrpSpPr/>
          <p:nvPr/>
        </p:nvGrpSpPr>
        <p:grpSpPr>
          <a:xfrm>
            <a:off x="3221244" y="1759400"/>
            <a:ext cx="1157931" cy="614908"/>
            <a:chOff x="785350" y="3605480"/>
            <a:chExt cx="535311" cy="249243"/>
          </a:xfrm>
        </p:grpSpPr>
        <p:grpSp>
          <p:nvGrpSpPr>
            <p:cNvPr id="526" name="Google Shape;526;p35"/>
            <p:cNvGrpSpPr/>
            <p:nvPr/>
          </p:nvGrpSpPr>
          <p:grpSpPr>
            <a:xfrm>
              <a:off x="785350" y="3605480"/>
              <a:ext cx="376226" cy="102736"/>
              <a:chOff x="785350" y="3605480"/>
              <a:chExt cx="376226" cy="102736"/>
            </a:xfrm>
          </p:grpSpPr>
          <p:sp>
            <p:nvSpPr>
              <p:cNvPr id="527" name="Google Shape;527;p35"/>
              <p:cNvSpPr/>
              <p:nvPr/>
            </p:nvSpPr>
            <p:spPr>
              <a:xfrm>
                <a:off x="808023" y="3655851"/>
                <a:ext cx="175636" cy="5"/>
              </a:xfrm>
              <a:custGeom>
                <a:rect b="b" l="l" r="r" t="t"/>
                <a:pathLst>
                  <a:path extrusionOk="0" fill="none" h="1" w="36648">
                    <a:moveTo>
                      <a:pt x="36648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35"/>
              <p:cNvSpPr/>
              <p:nvPr/>
            </p:nvSpPr>
            <p:spPr>
              <a:xfrm>
                <a:off x="785350" y="3643867"/>
                <a:ext cx="25635" cy="25622"/>
              </a:xfrm>
              <a:custGeom>
                <a:rect b="b" l="l" r="r" t="t"/>
                <a:pathLst>
                  <a:path extrusionOk="0" h="5349" w="5349">
                    <a:moveTo>
                      <a:pt x="2674" y="0"/>
                    </a:moveTo>
                    <a:cubicBezTo>
                      <a:pt x="1197" y="0"/>
                      <a:pt x="0" y="1197"/>
                      <a:pt x="0" y="2674"/>
                    </a:cubicBezTo>
                    <a:cubicBezTo>
                      <a:pt x="0" y="4152"/>
                      <a:pt x="1197" y="5348"/>
                      <a:pt x="2674" y="5348"/>
                    </a:cubicBezTo>
                    <a:cubicBezTo>
                      <a:pt x="4152" y="5348"/>
                      <a:pt x="5348" y="4152"/>
                      <a:pt x="5348" y="2674"/>
                    </a:cubicBezTo>
                    <a:cubicBezTo>
                      <a:pt x="5348" y="1197"/>
                      <a:pt x="4152" y="0"/>
                      <a:pt x="2674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35"/>
              <p:cNvSpPr/>
              <p:nvPr/>
            </p:nvSpPr>
            <p:spPr>
              <a:xfrm>
                <a:off x="918817" y="3605480"/>
                <a:ext cx="242758" cy="102736"/>
              </a:xfrm>
              <a:custGeom>
                <a:rect b="b" l="l" r="r" t="t"/>
                <a:pathLst>
                  <a:path extrusionOk="0" h="21448" w="37119">
                    <a:moveTo>
                      <a:pt x="4951" y="1"/>
                    </a:moveTo>
                    <a:cubicBezTo>
                      <a:pt x="2219" y="1"/>
                      <a:pt x="1" y="2682"/>
                      <a:pt x="1" y="5987"/>
                    </a:cubicBezTo>
                    <a:lnTo>
                      <a:pt x="1" y="15464"/>
                    </a:lnTo>
                    <a:cubicBezTo>
                      <a:pt x="1" y="18769"/>
                      <a:pt x="2219" y="21447"/>
                      <a:pt x="4951" y="21447"/>
                    </a:cubicBezTo>
                    <a:lnTo>
                      <a:pt x="32172" y="21447"/>
                    </a:lnTo>
                    <a:cubicBezTo>
                      <a:pt x="34904" y="21447"/>
                      <a:pt x="37119" y="18769"/>
                      <a:pt x="37119" y="15464"/>
                    </a:cubicBezTo>
                    <a:lnTo>
                      <a:pt x="37119" y="5987"/>
                    </a:lnTo>
                    <a:cubicBezTo>
                      <a:pt x="37119" y="2682"/>
                      <a:pt x="34904" y="1"/>
                      <a:pt x="32172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cap="flat" cmpd="sng" w="9525">
                <a:solidFill>
                  <a:schemeClr val="accent1"/>
                </a:solidFill>
                <a:prstDash val="solid"/>
                <a:miter lim="36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0" name="Google Shape;530;p35"/>
            <p:cNvGrpSpPr/>
            <p:nvPr/>
          </p:nvGrpSpPr>
          <p:grpSpPr>
            <a:xfrm>
              <a:off x="1161530" y="3655851"/>
              <a:ext cx="159131" cy="198872"/>
              <a:chOff x="1161530" y="3655851"/>
              <a:chExt cx="159131" cy="198872"/>
            </a:xfrm>
          </p:grpSpPr>
          <p:sp>
            <p:nvSpPr>
              <p:cNvPr id="531" name="Google Shape;531;p35"/>
              <p:cNvSpPr/>
              <p:nvPr/>
            </p:nvSpPr>
            <p:spPr>
              <a:xfrm>
                <a:off x="1161530" y="3655851"/>
                <a:ext cx="146440" cy="186082"/>
              </a:xfrm>
              <a:custGeom>
                <a:rect b="b" l="l" r="r" t="t"/>
                <a:pathLst>
                  <a:path extrusionOk="0" fill="none" h="38848" w="30556">
                    <a:moveTo>
                      <a:pt x="1" y="1"/>
                    </a:moveTo>
                    <a:lnTo>
                      <a:pt x="12633" y="1"/>
                    </a:lnTo>
                    <a:cubicBezTo>
                      <a:pt x="15723" y="1"/>
                      <a:pt x="16343" y="3466"/>
                      <a:pt x="16343" y="3466"/>
                    </a:cubicBezTo>
                    <a:lnTo>
                      <a:pt x="16343" y="26448"/>
                    </a:lnTo>
                    <a:lnTo>
                      <a:pt x="30556" y="26448"/>
                    </a:lnTo>
                    <a:lnTo>
                      <a:pt x="30556" y="38848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35"/>
              <p:cNvSpPr/>
              <p:nvPr/>
            </p:nvSpPr>
            <p:spPr>
              <a:xfrm>
                <a:off x="1293991" y="3829092"/>
                <a:ext cx="26670" cy="25631"/>
              </a:xfrm>
              <a:custGeom>
                <a:rect b="b" l="l" r="r" t="t"/>
                <a:pathLst>
                  <a:path extrusionOk="0" h="5351" w="5565">
                    <a:moveTo>
                      <a:pt x="2890" y="0"/>
                    </a:moveTo>
                    <a:cubicBezTo>
                      <a:pt x="1807" y="0"/>
                      <a:pt x="833" y="653"/>
                      <a:pt x="417" y="1653"/>
                    </a:cubicBezTo>
                    <a:cubicBezTo>
                      <a:pt x="1" y="2652"/>
                      <a:pt x="231" y="3801"/>
                      <a:pt x="997" y="4567"/>
                    </a:cubicBezTo>
                    <a:cubicBezTo>
                      <a:pt x="1509" y="5080"/>
                      <a:pt x="2193" y="5350"/>
                      <a:pt x="2888" y="5350"/>
                    </a:cubicBezTo>
                    <a:cubicBezTo>
                      <a:pt x="3233" y="5350"/>
                      <a:pt x="3580" y="5284"/>
                      <a:pt x="3912" y="5147"/>
                    </a:cubicBezTo>
                    <a:cubicBezTo>
                      <a:pt x="4911" y="4731"/>
                      <a:pt x="5564" y="3757"/>
                      <a:pt x="5564" y="2678"/>
                    </a:cubicBezTo>
                    <a:cubicBezTo>
                      <a:pt x="5564" y="1200"/>
                      <a:pt x="4364" y="0"/>
                      <a:pt x="2890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33" name="Google Shape;533;p35"/>
          <p:cNvGrpSpPr/>
          <p:nvPr/>
        </p:nvGrpSpPr>
        <p:grpSpPr>
          <a:xfrm>
            <a:off x="3221244" y="2850189"/>
            <a:ext cx="1157931" cy="594046"/>
            <a:chOff x="785350" y="4047614"/>
            <a:chExt cx="535311" cy="240787"/>
          </a:xfrm>
        </p:grpSpPr>
        <p:grpSp>
          <p:nvGrpSpPr>
            <p:cNvPr id="534" name="Google Shape;534;p35"/>
            <p:cNvGrpSpPr/>
            <p:nvPr/>
          </p:nvGrpSpPr>
          <p:grpSpPr>
            <a:xfrm>
              <a:off x="1161636" y="4047614"/>
              <a:ext cx="159025" cy="190415"/>
              <a:chOff x="1161636" y="4047614"/>
              <a:chExt cx="159025" cy="190415"/>
            </a:xfrm>
          </p:grpSpPr>
          <p:sp>
            <p:nvSpPr>
              <p:cNvPr id="535" name="Google Shape;535;p35"/>
              <p:cNvSpPr/>
              <p:nvPr/>
            </p:nvSpPr>
            <p:spPr>
              <a:xfrm>
                <a:off x="1293991" y="4047614"/>
                <a:ext cx="26670" cy="25631"/>
              </a:xfrm>
              <a:custGeom>
                <a:rect b="b" l="l" r="r" t="t"/>
                <a:pathLst>
                  <a:path extrusionOk="0" h="5351" w="5565">
                    <a:moveTo>
                      <a:pt x="2890" y="1"/>
                    </a:moveTo>
                    <a:cubicBezTo>
                      <a:pt x="1807" y="1"/>
                      <a:pt x="833" y="654"/>
                      <a:pt x="417" y="1653"/>
                    </a:cubicBezTo>
                    <a:cubicBezTo>
                      <a:pt x="1" y="2653"/>
                      <a:pt x="231" y="3802"/>
                      <a:pt x="997" y="4568"/>
                    </a:cubicBezTo>
                    <a:cubicBezTo>
                      <a:pt x="1510" y="5078"/>
                      <a:pt x="2195" y="5350"/>
                      <a:pt x="2891" y="5350"/>
                    </a:cubicBezTo>
                    <a:cubicBezTo>
                      <a:pt x="3235" y="5350"/>
                      <a:pt x="3581" y="5284"/>
                      <a:pt x="3912" y="5148"/>
                    </a:cubicBezTo>
                    <a:cubicBezTo>
                      <a:pt x="4911" y="4732"/>
                      <a:pt x="5564" y="3758"/>
                      <a:pt x="5564" y="2675"/>
                    </a:cubicBezTo>
                    <a:cubicBezTo>
                      <a:pt x="5564" y="1197"/>
                      <a:pt x="4364" y="1"/>
                      <a:pt x="2890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5"/>
              <p:cNvSpPr/>
              <p:nvPr/>
            </p:nvSpPr>
            <p:spPr>
              <a:xfrm>
                <a:off x="1161636" y="4073229"/>
                <a:ext cx="146334" cy="164800"/>
              </a:xfrm>
              <a:custGeom>
                <a:rect b="b" l="l" r="r" t="t"/>
                <a:pathLst>
                  <a:path extrusionOk="0" fill="none" h="34405" w="30534">
                    <a:moveTo>
                      <a:pt x="0" y="34404"/>
                    </a:moveTo>
                    <a:lnTo>
                      <a:pt x="12611" y="34404"/>
                    </a:lnTo>
                    <a:cubicBezTo>
                      <a:pt x="15705" y="34404"/>
                      <a:pt x="16325" y="30939"/>
                      <a:pt x="16325" y="30939"/>
                    </a:cubicBezTo>
                    <a:lnTo>
                      <a:pt x="16325" y="7957"/>
                    </a:lnTo>
                    <a:lnTo>
                      <a:pt x="30534" y="7957"/>
                    </a:lnTo>
                    <a:lnTo>
                      <a:pt x="30534" y="1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7" name="Google Shape;537;p35"/>
            <p:cNvGrpSpPr/>
            <p:nvPr/>
          </p:nvGrpSpPr>
          <p:grpSpPr>
            <a:xfrm>
              <a:off x="785350" y="4185665"/>
              <a:ext cx="376147" cy="102736"/>
              <a:chOff x="785350" y="4185665"/>
              <a:chExt cx="376147" cy="102736"/>
            </a:xfrm>
          </p:grpSpPr>
          <p:sp>
            <p:nvSpPr>
              <p:cNvPr id="538" name="Google Shape;538;p35"/>
              <p:cNvSpPr/>
              <p:nvPr/>
            </p:nvSpPr>
            <p:spPr>
              <a:xfrm>
                <a:off x="808023" y="4238011"/>
                <a:ext cx="175636" cy="5"/>
              </a:xfrm>
              <a:custGeom>
                <a:rect b="b" l="l" r="r" t="t"/>
                <a:pathLst>
                  <a:path extrusionOk="0" fill="none" h="1" w="36648">
                    <a:moveTo>
                      <a:pt x="36648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35"/>
              <p:cNvSpPr/>
              <p:nvPr/>
            </p:nvSpPr>
            <p:spPr>
              <a:xfrm>
                <a:off x="905376" y="4185665"/>
                <a:ext cx="256121" cy="102736"/>
              </a:xfrm>
              <a:custGeom>
                <a:rect b="b" l="l" r="r" t="t"/>
                <a:pathLst>
                  <a:path extrusionOk="0" h="21448" w="37119">
                    <a:moveTo>
                      <a:pt x="4951" y="1"/>
                    </a:moveTo>
                    <a:cubicBezTo>
                      <a:pt x="2219" y="1"/>
                      <a:pt x="1" y="2679"/>
                      <a:pt x="1" y="5984"/>
                    </a:cubicBezTo>
                    <a:lnTo>
                      <a:pt x="1" y="15461"/>
                    </a:lnTo>
                    <a:cubicBezTo>
                      <a:pt x="1" y="18766"/>
                      <a:pt x="2219" y="21447"/>
                      <a:pt x="4951" y="21447"/>
                    </a:cubicBezTo>
                    <a:lnTo>
                      <a:pt x="32172" y="21447"/>
                    </a:lnTo>
                    <a:cubicBezTo>
                      <a:pt x="34904" y="21447"/>
                      <a:pt x="37119" y="18766"/>
                      <a:pt x="37119" y="15461"/>
                    </a:cubicBezTo>
                    <a:lnTo>
                      <a:pt x="37119" y="5984"/>
                    </a:lnTo>
                    <a:cubicBezTo>
                      <a:pt x="37119" y="2679"/>
                      <a:pt x="34904" y="1"/>
                      <a:pt x="32172" y="1"/>
                    </a:cubicBezTo>
                    <a:close/>
                  </a:path>
                </a:pathLst>
              </a:custGeom>
              <a:solidFill>
                <a:srgbClr val="E4E9ED"/>
              </a:solidFill>
              <a:ln cap="flat" cmpd="sng" w="9525">
                <a:solidFill>
                  <a:schemeClr val="accent1"/>
                </a:solidFill>
                <a:prstDash val="solid"/>
                <a:miter lim="36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35"/>
              <p:cNvSpPr/>
              <p:nvPr/>
            </p:nvSpPr>
            <p:spPr>
              <a:xfrm>
                <a:off x="785350" y="4224370"/>
                <a:ext cx="26646" cy="25631"/>
              </a:xfrm>
              <a:custGeom>
                <a:rect b="b" l="l" r="r" t="t"/>
                <a:pathLst>
                  <a:path extrusionOk="0" h="5351" w="5560">
                    <a:moveTo>
                      <a:pt x="2674" y="0"/>
                    </a:moveTo>
                    <a:cubicBezTo>
                      <a:pt x="2328" y="0"/>
                      <a:pt x="1980" y="67"/>
                      <a:pt x="1649" y="203"/>
                    </a:cubicBezTo>
                    <a:cubicBezTo>
                      <a:pt x="650" y="619"/>
                      <a:pt x="0" y="1593"/>
                      <a:pt x="0" y="2677"/>
                    </a:cubicBezTo>
                    <a:cubicBezTo>
                      <a:pt x="0" y="4150"/>
                      <a:pt x="1197" y="5351"/>
                      <a:pt x="2674" y="5351"/>
                    </a:cubicBezTo>
                    <a:cubicBezTo>
                      <a:pt x="3754" y="5351"/>
                      <a:pt x="4732" y="4698"/>
                      <a:pt x="5144" y="3698"/>
                    </a:cubicBezTo>
                    <a:cubicBezTo>
                      <a:pt x="5560" y="2699"/>
                      <a:pt x="5330" y="1550"/>
                      <a:pt x="4568" y="783"/>
                    </a:cubicBezTo>
                    <a:cubicBezTo>
                      <a:pt x="4055" y="271"/>
                      <a:pt x="3370" y="0"/>
                      <a:pt x="2674" y="0"/>
                    </a:cubicBezTo>
                    <a:close/>
                  </a:path>
                </a:pathLst>
              </a:custGeom>
              <a:solidFill>
                <a:srgbClr val="E4E9ED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1" name="Google Shape;541;p35"/>
          <p:cNvGrpSpPr/>
          <p:nvPr/>
        </p:nvGrpSpPr>
        <p:grpSpPr>
          <a:xfrm>
            <a:off x="4769383" y="1759400"/>
            <a:ext cx="1138525" cy="614896"/>
            <a:chOff x="1501054" y="3605480"/>
            <a:chExt cx="526340" cy="249238"/>
          </a:xfrm>
        </p:grpSpPr>
        <p:grpSp>
          <p:nvGrpSpPr>
            <p:cNvPr id="542" name="Google Shape;542;p35"/>
            <p:cNvGrpSpPr/>
            <p:nvPr/>
          </p:nvGrpSpPr>
          <p:grpSpPr>
            <a:xfrm>
              <a:off x="1834208" y="3643867"/>
              <a:ext cx="193185" cy="25622"/>
              <a:chOff x="1834208" y="3643867"/>
              <a:chExt cx="193185" cy="25622"/>
            </a:xfrm>
          </p:grpSpPr>
          <p:sp>
            <p:nvSpPr>
              <p:cNvPr id="543" name="Google Shape;543;p35"/>
              <p:cNvSpPr/>
              <p:nvPr/>
            </p:nvSpPr>
            <p:spPr>
              <a:xfrm>
                <a:off x="1834208" y="3655851"/>
                <a:ext cx="167541" cy="5"/>
              </a:xfrm>
              <a:custGeom>
                <a:rect b="b" l="l" r="r" t="t"/>
                <a:pathLst>
                  <a:path extrusionOk="0" fill="none" h="1" w="34959">
                    <a:moveTo>
                      <a:pt x="1" y="1"/>
                    </a:moveTo>
                    <a:lnTo>
                      <a:pt x="34959" y="1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35"/>
              <p:cNvSpPr/>
              <p:nvPr/>
            </p:nvSpPr>
            <p:spPr>
              <a:xfrm>
                <a:off x="2000728" y="3643867"/>
                <a:ext cx="26665" cy="25622"/>
              </a:xfrm>
              <a:custGeom>
                <a:rect b="b" l="l" r="r" t="t"/>
                <a:pathLst>
                  <a:path extrusionOk="0" h="5349" w="5564">
                    <a:moveTo>
                      <a:pt x="2886" y="0"/>
                    </a:moveTo>
                    <a:cubicBezTo>
                      <a:pt x="1806" y="0"/>
                      <a:pt x="828" y="650"/>
                      <a:pt x="416" y="1649"/>
                    </a:cubicBezTo>
                    <a:cubicBezTo>
                      <a:pt x="0" y="2649"/>
                      <a:pt x="230" y="3802"/>
                      <a:pt x="996" y="4564"/>
                    </a:cubicBezTo>
                    <a:cubicBezTo>
                      <a:pt x="1506" y="5076"/>
                      <a:pt x="2190" y="5349"/>
                      <a:pt x="2887" y="5349"/>
                    </a:cubicBezTo>
                    <a:cubicBezTo>
                      <a:pt x="3232" y="5349"/>
                      <a:pt x="3580" y="5282"/>
                      <a:pt x="3911" y="5144"/>
                    </a:cubicBezTo>
                    <a:cubicBezTo>
                      <a:pt x="4911" y="4732"/>
                      <a:pt x="5560" y="3758"/>
                      <a:pt x="5563" y="2674"/>
                    </a:cubicBezTo>
                    <a:cubicBezTo>
                      <a:pt x="5560" y="1197"/>
                      <a:pt x="4363" y="0"/>
                      <a:pt x="2886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5" name="Google Shape;545;p35"/>
            <p:cNvGrpSpPr/>
            <p:nvPr/>
          </p:nvGrpSpPr>
          <p:grpSpPr>
            <a:xfrm>
              <a:off x="1501054" y="3605480"/>
              <a:ext cx="401362" cy="249238"/>
              <a:chOff x="1501054" y="3605480"/>
              <a:chExt cx="401362" cy="249238"/>
            </a:xfrm>
          </p:grpSpPr>
          <p:sp>
            <p:nvSpPr>
              <p:cNvPr id="546" name="Google Shape;546;p35"/>
              <p:cNvSpPr/>
              <p:nvPr/>
            </p:nvSpPr>
            <p:spPr>
              <a:xfrm>
                <a:off x="1656323" y="3605480"/>
                <a:ext cx="246092" cy="102736"/>
              </a:xfrm>
              <a:custGeom>
                <a:rect b="b" l="l" r="r" t="t"/>
                <a:pathLst>
                  <a:path extrusionOk="0" h="21448" w="37118">
                    <a:moveTo>
                      <a:pt x="4947" y="1"/>
                    </a:moveTo>
                    <a:cubicBezTo>
                      <a:pt x="2214" y="1"/>
                      <a:pt x="0" y="2682"/>
                      <a:pt x="0" y="5987"/>
                    </a:cubicBezTo>
                    <a:lnTo>
                      <a:pt x="0" y="15464"/>
                    </a:lnTo>
                    <a:cubicBezTo>
                      <a:pt x="0" y="18769"/>
                      <a:pt x="2214" y="21447"/>
                      <a:pt x="4950" y="21447"/>
                    </a:cubicBezTo>
                    <a:lnTo>
                      <a:pt x="32168" y="21447"/>
                    </a:lnTo>
                    <a:cubicBezTo>
                      <a:pt x="34900" y="21447"/>
                      <a:pt x="37118" y="18769"/>
                      <a:pt x="37118" y="15464"/>
                    </a:cubicBezTo>
                    <a:lnTo>
                      <a:pt x="37118" y="5987"/>
                    </a:lnTo>
                    <a:cubicBezTo>
                      <a:pt x="37118" y="2682"/>
                      <a:pt x="34900" y="1"/>
                      <a:pt x="32168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 cap="flat" cmpd="sng" w="9525">
                <a:solidFill>
                  <a:schemeClr val="accent1"/>
                </a:solidFill>
                <a:prstDash val="solid"/>
                <a:miter lim="36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47" name="Google Shape;547;p35"/>
              <p:cNvGrpSpPr/>
              <p:nvPr/>
            </p:nvGrpSpPr>
            <p:grpSpPr>
              <a:xfrm>
                <a:off x="1501054" y="3655851"/>
                <a:ext cx="155286" cy="198867"/>
                <a:chOff x="1501054" y="3655851"/>
                <a:chExt cx="155286" cy="198867"/>
              </a:xfrm>
            </p:grpSpPr>
            <p:sp>
              <p:nvSpPr>
                <p:cNvPr id="548" name="Google Shape;548;p35"/>
                <p:cNvSpPr/>
                <p:nvPr/>
              </p:nvSpPr>
              <p:spPr>
                <a:xfrm>
                  <a:off x="1516351" y="3655851"/>
                  <a:ext cx="139989" cy="186082"/>
                </a:xfrm>
                <a:custGeom>
                  <a:rect b="b" l="l" r="r" t="t"/>
                  <a:pathLst>
                    <a:path extrusionOk="0" fill="none" h="38848" w="29210">
                      <a:moveTo>
                        <a:pt x="29209" y="1"/>
                      </a:moveTo>
                      <a:lnTo>
                        <a:pt x="17922" y="1"/>
                      </a:lnTo>
                      <a:cubicBezTo>
                        <a:pt x="14829" y="1"/>
                        <a:pt x="14209" y="3466"/>
                        <a:pt x="14209" y="3466"/>
                      </a:cubicBezTo>
                      <a:lnTo>
                        <a:pt x="14209" y="26448"/>
                      </a:lnTo>
                      <a:lnTo>
                        <a:pt x="0" y="26448"/>
                      </a:lnTo>
                      <a:lnTo>
                        <a:pt x="0" y="38848"/>
                      </a:lnTo>
                    </a:path>
                  </a:pathLst>
                </a:custGeom>
                <a:noFill/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p35"/>
                <p:cNvSpPr/>
                <p:nvPr/>
              </p:nvSpPr>
              <p:spPr>
                <a:xfrm>
                  <a:off x="1501054" y="3829092"/>
                  <a:ext cx="26646" cy="25626"/>
                </a:xfrm>
                <a:custGeom>
                  <a:rect b="b" l="l" r="r" t="t"/>
                  <a:pathLst>
                    <a:path extrusionOk="0" h="5350" w="5560">
                      <a:moveTo>
                        <a:pt x="2886" y="0"/>
                      </a:moveTo>
                      <a:cubicBezTo>
                        <a:pt x="1806" y="0"/>
                        <a:pt x="828" y="653"/>
                        <a:pt x="416" y="1653"/>
                      </a:cubicBezTo>
                      <a:cubicBezTo>
                        <a:pt x="0" y="2652"/>
                        <a:pt x="230" y="3801"/>
                        <a:pt x="996" y="4567"/>
                      </a:cubicBezTo>
                      <a:cubicBezTo>
                        <a:pt x="1507" y="5078"/>
                        <a:pt x="2192" y="5350"/>
                        <a:pt x="2890" y="5350"/>
                      </a:cubicBezTo>
                      <a:cubicBezTo>
                        <a:pt x="3234" y="5350"/>
                        <a:pt x="3581" y="5283"/>
                        <a:pt x="3911" y="5147"/>
                      </a:cubicBezTo>
                      <a:cubicBezTo>
                        <a:pt x="4910" y="4731"/>
                        <a:pt x="5560" y="3757"/>
                        <a:pt x="5560" y="2678"/>
                      </a:cubicBezTo>
                      <a:cubicBezTo>
                        <a:pt x="5560" y="1200"/>
                        <a:pt x="4363" y="0"/>
                        <a:pt x="288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50" name="Google Shape;550;p35"/>
          <p:cNvSpPr/>
          <p:nvPr/>
        </p:nvSpPr>
        <p:spPr>
          <a:xfrm>
            <a:off x="4024863" y="2576081"/>
            <a:ext cx="57654" cy="63212"/>
          </a:xfrm>
          <a:custGeom>
            <a:rect b="b" l="l" r="r" t="t"/>
            <a:pathLst>
              <a:path extrusionOk="0" h="5349" w="5561">
                <a:moveTo>
                  <a:pt x="2886" y="1"/>
                </a:moveTo>
                <a:cubicBezTo>
                  <a:pt x="1803" y="1"/>
                  <a:pt x="829" y="650"/>
                  <a:pt x="413" y="1649"/>
                </a:cubicBezTo>
                <a:cubicBezTo>
                  <a:pt x="1" y="2649"/>
                  <a:pt x="227" y="3798"/>
                  <a:pt x="993" y="4564"/>
                </a:cubicBezTo>
                <a:cubicBezTo>
                  <a:pt x="1505" y="5076"/>
                  <a:pt x="2189" y="5349"/>
                  <a:pt x="2884" y="5349"/>
                </a:cubicBezTo>
                <a:cubicBezTo>
                  <a:pt x="3229" y="5349"/>
                  <a:pt x="3576" y="5282"/>
                  <a:pt x="3908" y="5144"/>
                </a:cubicBezTo>
                <a:cubicBezTo>
                  <a:pt x="4907" y="4732"/>
                  <a:pt x="5560" y="3758"/>
                  <a:pt x="5560" y="2674"/>
                </a:cubicBezTo>
                <a:cubicBezTo>
                  <a:pt x="5560" y="1197"/>
                  <a:pt x="4364" y="1"/>
                  <a:pt x="2886" y="1"/>
                </a:cubicBezTo>
                <a:close/>
              </a:path>
            </a:pathLst>
          </a:custGeom>
          <a:solidFill>
            <a:srgbClr val="CFD9E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35"/>
          <p:cNvGrpSpPr/>
          <p:nvPr/>
        </p:nvGrpSpPr>
        <p:grpSpPr>
          <a:xfrm rot="10800000">
            <a:off x="3016504" y="2619018"/>
            <a:ext cx="417879" cy="63211"/>
            <a:chOff x="1834208" y="3643867"/>
            <a:chExt cx="193185" cy="25622"/>
          </a:xfrm>
        </p:grpSpPr>
        <p:sp>
          <p:nvSpPr>
            <p:cNvPr id="552" name="Google Shape;552;p35"/>
            <p:cNvSpPr/>
            <p:nvPr/>
          </p:nvSpPr>
          <p:spPr>
            <a:xfrm>
              <a:off x="1834208" y="3655851"/>
              <a:ext cx="167541" cy="5"/>
            </a:xfrm>
            <a:custGeom>
              <a:rect b="b" l="l" r="r" t="t"/>
              <a:pathLst>
                <a:path extrusionOk="0" fill="none" h="1" w="34959">
                  <a:moveTo>
                    <a:pt x="1" y="1"/>
                  </a:moveTo>
                  <a:lnTo>
                    <a:pt x="34959" y="1"/>
                  </a:ln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5"/>
            <p:cNvSpPr/>
            <p:nvPr/>
          </p:nvSpPr>
          <p:spPr>
            <a:xfrm>
              <a:off x="2000728" y="3643867"/>
              <a:ext cx="26665" cy="25622"/>
            </a:xfrm>
            <a:custGeom>
              <a:rect b="b" l="l" r="r" t="t"/>
              <a:pathLst>
                <a:path extrusionOk="0" h="5349" w="5564">
                  <a:moveTo>
                    <a:pt x="2886" y="0"/>
                  </a:moveTo>
                  <a:cubicBezTo>
                    <a:pt x="1806" y="0"/>
                    <a:pt x="828" y="650"/>
                    <a:pt x="416" y="1649"/>
                  </a:cubicBezTo>
                  <a:cubicBezTo>
                    <a:pt x="0" y="2649"/>
                    <a:pt x="230" y="3802"/>
                    <a:pt x="996" y="4564"/>
                  </a:cubicBezTo>
                  <a:cubicBezTo>
                    <a:pt x="1506" y="5076"/>
                    <a:pt x="2190" y="5349"/>
                    <a:pt x="2887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1" y="4732"/>
                    <a:pt x="5560" y="3758"/>
                    <a:pt x="5563" y="2674"/>
                  </a:cubicBezTo>
                  <a:cubicBezTo>
                    <a:pt x="5560" y="1197"/>
                    <a:pt x="4363" y="0"/>
                    <a:pt x="2886" y="0"/>
                  </a:cubicBezTo>
                  <a:close/>
                </a:path>
              </a:pathLst>
            </a:custGeom>
            <a:solidFill>
              <a:srgbClr val="A5B7C5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35"/>
          <p:cNvGrpSpPr/>
          <p:nvPr/>
        </p:nvGrpSpPr>
        <p:grpSpPr>
          <a:xfrm>
            <a:off x="1368874" y="444520"/>
            <a:ext cx="351910" cy="354710"/>
            <a:chOff x="-25094250" y="3176075"/>
            <a:chExt cx="295400" cy="297750"/>
          </a:xfrm>
        </p:grpSpPr>
        <p:sp>
          <p:nvSpPr>
            <p:cNvPr id="555" name="Google Shape;555;p35"/>
            <p:cNvSpPr/>
            <p:nvPr/>
          </p:nvSpPr>
          <p:spPr>
            <a:xfrm>
              <a:off x="-24989225" y="3176075"/>
              <a:ext cx="87200" cy="122500"/>
            </a:xfrm>
            <a:custGeom>
              <a:rect b="b" l="l" r="r" t="t"/>
              <a:pathLst>
                <a:path extrusionOk="0" h="4900" w="3488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5"/>
            <p:cNvSpPr/>
            <p:nvPr/>
          </p:nvSpPr>
          <p:spPr>
            <a:xfrm>
              <a:off x="-25094250" y="3179225"/>
              <a:ext cx="295400" cy="291450"/>
            </a:xfrm>
            <a:custGeom>
              <a:rect b="b" l="l" r="r" t="t"/>
              <a:pathLst>
                <a:path extrusionOk="0" h="11658" w="11816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5"/>
            <p:cNvSpPr/>
            <p:nvPr/>
          </p:nvSpPr>
          <p:spPr>
            <a:xfrm>
              <a:off x="-24989225" y="3350975"/>
              <a:ext cx="87200" cy="122850"/>
            </a:xfrm>
            <a:custGeom>
              <a:rect b="b" l="l" r="r" t="t"/>
              <a:pathLst>
                <a:path extrusionOk="0" h="4914" w="3488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8" name="Google Shape;558;p35"/>
          <p:cNvSpPr txBox="1"/>
          <p:nvPr/>
        </p:nvSpPr>
        <p:spPr>
          <a:xfrm>
            <a:off x="1091075" y="1722525"/>
            <a:ext cx="234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Administración y soporte técnico</a:t>
            </a:r>
            <a:endParaRPr sz="10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559" name="Google Shape;559;p35"/>
          <p:cNvSpPr txBox="1"/>
          <p:nvPr/>
        </p:nvSpPr>
        <p:spPr>
          <a:xfrm>
            <a:off x="4267650" y="2435250"/>
            <a:ext cx="608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VLANS</a:t>
            </a:r>
            <a:endParaRPr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0" name="Google Shape;560;p35"/>
          <p:cNvSpPr txBox="1"/>
          <p:nvPr/>
        </p:nvSpPr>
        <p:spPr>
          <a:xfrm>
            <a:off x="3480875" y="1700150"/>
            <a:ext cx="81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VLAN 10</a:t>
            </a:r>
            <a:endParaRPr sz="10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561" name="Google Shape;561;p35"/>
          <p:cNvGrpSpPr/>
          <p:nvPr/>
        </p:nvGrpSpPr>
        <p:grpSpPr>
          <a:xfrm rot="10800000">
            <a:off x="3175427" y="2523968"/>
            <a:ext cx="1069154" cy="253450"/>
            <a:chOff x="1459655" y="3605478"/>
            <a:chExt cx="374563" cy="102736"/>
          </a:xfrm>
        </p:grpSpPr>
        <p:sp>
          <p:nvSpPr>
            <p:cNvPr id="562" name="Google Shape;562;p35"/>
            <p:cNvSpPr/>
            <p:nvPr/>
          </p:nvSpPr>
          <p:spPr>
            <a:xfrm>
              <a:off x="1656330" y="3605478"/>
              <a:ext cx="177888" cy="102736"/>
            </a:xfrm>
            <a:custGeom>
              <a:rect b="b" l="l" r="r" t="t"/>
              <a:pathLst>
                <a:path extrusionOk="0" h="21448" w="37118">
                  <a:moveTo>
                    <a:pt x="4947" y="1"/>
                  </a:moveTo>
                  <a:cubicBezTo>
                    <a:pt x="2214" y="1"/>
                    <a:pt x="0" y="2682"/>
                    <a:pt x="0" y="5987"/>
                  </a:cubicBezTo>
                  <a:lnTo>
                    <a:pt x="0" y="15464"/>
                  </a:lnTo>
                  <a:cubicBezTo>
                    <a:pt x="0" y="18769"/>
                    <a:pt x="2214" y="21447"/>
                    <a:pt x="4950" y="21447"/>
                  </a:cubicBezTo>
                  <a:lnTo>
                    <a:pt x="32168" y="21447"/>
                  </a:lnTo>
                  <a:cubicBezTo>
                    <a:pt x="34900" y="21447"/>
                    <a:pt x="37118" y="18769"/>
                    <a:pt x="37118" y="15464"/>
                  </a:cubicBezTo>
                  <a:lnTo>
                    <a:pt x="37118" y="5987"/>
                  </a:lnTo>
                  <a:cubicBezTo>
                    <a:pt x="37118" y="2682"/>
                    <a:pt x="34900" y="1"/>
                    <a:pt x="32168" y="1"/>
                  </a:cubicBezTo>
                  <a:close/>
                </a:path>
              </a:pathLst>
            </a:custGeom>
            <a:solidFill>
              <a:srgbClr val="A5B7C5"/>
            </a:solidFill>
            <a:ln cap="flat" cmpd="sng" w="9525">
              <a:solidFill>
                <a:schemeClr val="accent1"/>
              </a:solidFill>
              <a:prstDash val="solid"/>
              <a:miter lim="36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5"/>
            <p:cNvSpPr/>
            <p:nvPr/>
          </p:nvSpPr>
          <p:spPr>
            <a:xfrm rot="10800000">
              <a:off x="1459655" y="3655843"/>
              <a:ext cx="196656" cy="25640"/>
            </a:xfrm>
            <a:custGeom>
              <a:rect b="b" l="l" r="r" t="t"/>
              <a:pathLst>
                <a:path extrusionOk="0" fill="none" h="38848" w="29210">
                  <a:moveTo>
                    <a:pt x="29209" y="1"/>
                  </a:moveTo>
                  <a:lnTo>
                    <a:pt x="17922" y="1"/>
                  </a:lnTo>
                  <a:cubicBezTo>
                    <a:pt x="14829" y="1"/>
                    <a:pt x="14209" y="3466"/>
                    <a:pt x="14209" y="3466"/>
                  </a:cubicBezTo>
                  <a:lnTo>
                    <a:pt x="14209" y="26448"/>
                  </a:lnTo>
                  <a:lnTo>
                    <a:pt x="0" y="26448"/>
                  </a:lnTo>
                  <a:lnTo>
                    <a:pt x="0" y="38848"/>
                  </a:ln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4" name="Google Shape;564;p35"/>
          <p:cNvSpPr txBox="1"/>
          <p:nvPr/>
        </p:nvSpPr>
        <p:spPr>
          <a:xfrm>
            <a:off x="3099875" y="2481350"/>
            <a:ext cx="65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VLAN 20</a:t>
            </a:r>
            <a:endParaRPr sz="10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5" name="Google Shape;565;p35"/>
          <p:cNvSpPr txBox="1"/>
          <p:nvPr/>
        </p:nvSpPr>
        <p:spPr>
          <a:xfrm>
            <a:off x="711600" y="2466500"/>
            <a:ext cx="234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Servicios: DHCP, DNS, bases de datos médicas</a:t>
            </a:r>
            <a:endParaRPr sz="1300"/>
          </a:p>
        </p:txBody>
      </p:sp>
      <p:sp>
        <p:nvSpPr>
          <p:cNvPr id="566" name="Google Shape;566;p35"/>
          <p:cNvSpPr txBox="1"/>
          <p:nvPr/>
        </p:nvSpPr>
        <p:spPr>
          <a:xfrm>
            <a:off x="3434375" y="3138425"/>
            <a:ext cx="65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VLAN 30</a:t>
            </a:r>
            <a:endParaRPr sz="10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7" name="Google Shape;567;p35"/>
          <p:cNvSpPr txBox="1"/>
          <p:nvPr/>
        </p:nvSpPr>
        <p:spPr>
          <a:xfrm>
            <a:off x="2157400" y="3108325"/>
            <a:ext cx="234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Videovigilancia </a:t>
            </a:r>
            <a:endParaRPr sz="10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568" name="Google Shape;568;p35"/>
          <p:cNvSpPr txBox="1"/>
          <p:nvPr/>
        </p:nvSpPr>
        <p:spPr>
          <a:xfrm>
            <a:off x="5042525" y="1700150"/>
            <a:ext cx="81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VLAN 40</a:t>
            </a:r>
            <a:endParaRPr sz="10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>
            <a:off x="5124850" y="3138425"/>
            <a:ext cx="97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VLAN 200</a:t>
            </a:r>
            <a:endParaRPr sz="10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70" name="Google Shape;570;p35"/>
          <p:cNvSpPr txBox="1"/>
          <p:nvPr/>
        </p:nvSpPr>
        <p:spPr>
          <a:xfrm>
            <a:off x="5907900" y="1670775"/>
            <a:ext cx="234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Equipos médicos especializados</a:t>
            </a:r>
            <a:endParaRPr sz="10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571" name="Google Shape;571;p35"/>
          <p:cNvSpPr txBox="1"/>
          <p:nvPr/>
        </p:nvSpPr>
        <p:spPr>
          <a:xfrm>
            <a:off x="6158050" y="3138425"/>
            <a:ext cx="234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Light"/>
                <a:ea typeface="Karla Light"/>
                <a:cs typeface="Karla Light"/>
                <a:sym typeface="Karla Light"/>
              </a:rPr>
              <a:t>Zona desmilitarizada (DMZ)</a:t>
            </a:r>
            <a:endParaRPr sz="10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450" y="1785954"/>
            <a:ext cx="2268531" cy="226853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6"/>
          <p:cNvSpPr txBox="1"/>
          <p:nvPr>
            <p:ph idx="6" type="title"/>
          </p:nvPr>
        </p:nvSpPr>
        <p:spPr>
          <a:xfrm>
            <a:off x="1056925" y="426275"/>
            <a:ext cx="60756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Zona desmilitarizada</a:t>
            </a:r>
            <a:endParaRPr sz="2500">
              <a:solidFill>
                <a:schemeClr val="accent6"/>
              </a:solidFill>
            </a:endParaRPr>
          </a:p>
        </p:txBody>
      </p:sp>
      <p:grpSp>
        <p:nvGrpSpPr>
          <p:cNvPr id="578" name="Google Shape;578;p36"/>
          <p:cNvGrpSpPr/>
          <p:nvPr/>
        </p:nvGrpSpPr>
        <p:grpSpPr>
          <a:xfrm>
            <a:off x="706347" y="479515"/>
            <a:ext cx="351880" cy="351910"/>
            <a:chOff x="-26573400" y="3546250"/>
            <a:chExt cx="295375" cy="295400"/>
          </a:xfrm>
        </p:grpSpPr>
        <p:sp>
          <p:nvSpPr>
            <p:cNvPr id="579" name="Google Shape;579;p36"/>
            <p:cNvSpPr/>
            <p:nvPr/>
          </p:nvSpPr>
          <p:spPr>
            <a:xfrm>
              <a:off x="-26464700" y="3599225"/>
              <a:ext cx="77200" cy="38425"/>
            </a:xfrm>
            <a:custGeom>
              <a:rect b="b" l="l" r="r" t="t"/>
              <a:pathLst>
                <a:path extrusionOk="0" h="1537" w="3088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-26434775" y="36864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-26520625" y="3703775"/>
              <a:ext cx="55950" cy="67775"/>
            </a:xfrm>
            <a:custGeom>
              <a:rect b="b" l="l" r="r" t="t"/>
              <a:pathLst>
                <a:path extrusionOk="0" h="2711" w="2238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-26387525" y="3703000"/>
              <a:ext cx="55950" cy="67750"/>
            </a:xfrm>
            <a:custGeom>
              <a:rect b="b" l="l" r="r" t="t"/>
              <a:pathLst>
                <a:path extrusionOk="0" h="2710" w="2238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-26573400" y="3546250"/>
              <a:ext cx="295375" cy="295400"/>
            </a:xfrm>
            <a:custGeom>
              <a:rect b="b" l="l" r="r" t="t"/>
              <a:pathLst>
                <a:path extrusionOk="0" h="11816" w="11815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4" name="Google Shape;584;p36"/>
          <p:cNvGrpSpPr/>
          <p:nvPr/>
        </p:nvGrpSpPr>
        <p:grpSpPr>
          <a:xfrm>
            <a:off x="2217029" y="831428"/>
            <a:ext cx="4036590" cy="3941676"/>
            <a:chOff x="2256567" y="677103"/>
            <a:chExt cx="4036590" cy="3941676"/>
          </a:xfrm>
        </p:grpSpPr>
        <p:sp>
          <p:nvSpPr>
            <p:cNvPr id="585" name="Google Shape;585;p36"/>
            <p:cNvSpPr/>
            <p:nvPr/>
          </p:nvSpPr>
          <p:spPr>
            <a:xfrm rot="-6597333">
              <a:off x="4296826" y="3950027"/>
              <a:ext cx="586303" cy="586303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 rot="-6599386">
              <a:off x="2318596" y="1407533"/>
              <a:ext cx="440541" cy="440541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 rot="-6598839">
              <a:off x="2887641" y="2346984"/>
              <a:ext cx="1199287" cy="1199287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 rot="-6598620">
              <a:off x="4374916" y="913763"/>
              <a:ext cx="1681581" cy="1681581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 rot="-6597866">
              <a:off x="2661829" y="2208216"/>
              <a:ext cx="629106" cy="62910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 rot="-6597701">
              <a:off x="3267625" y="1113818"/>
              <a:ext cx="274172" cy="274172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Google Shape;591;p36"/>
          <p:cNvGrpSpPr/>
          <p:nvPr/>
        </p:nvGrpSpPr>
        <p:grpSpPr>
          <a:xfrm>
            <a:off x="4407656" y="1970091"/>
            <a:ext cx="2440200" cy="2440200"/>
            <a:chOff x="4447194" y="1815766"/>
            <a:chExt cx="2440200" cy="2440200"/>
          </a:xfrm>
        </p:grpSpPr>
        <p:sp>
          <p:nvSpPr>
            <p:cNvPr id="592" name="Google Shape;592;p36"/>
            <p:cNvSpPr/>
            <p:nvPr/>
          </p:nvSpPr>
          <p:spPr>
            <a:xfrm>
              <a:off x="4447194" y="1815766"/>
              <a:ext cx="2440200" cy="244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6"/>
            <p:cNvSpPr txBox="1"/>
            <p:nvPr/>
          </p:nvSpPr>
          <p:spPr>
            <a:xfrm>
              <a:off x="4832339" y="2504275"/>
              <a:ext cx="201420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1"/>
                  </a:solidFill>
                  <a:latin typeface="Karla"/>
                  <a:ea typeface="Karla"/>
                  <a:cs typeface="Karla"/>
                  <a:sym typeface="Karla"/>
                </a:rPr>
                <a:t>Zona accesible desde el exterior</a:t>
              </a:r>
              <a:endParaRPr sz="10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Karla Light"/>
                  <a:ea typeface="Karla Light"/>
                  <a:cs typeface="Karla Light"/>
                  <a:sym typeface="Karla Light"/>
                </a:rPr>
                <a:t>Es una subred diseñada para alojar servicios públicos como portales web o apps para pacientes externos.</a:t>
              </a:r>
              <a:endParaRPr sz="10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endParaRPr>
            </a:p>
          </p:txBody>
        </p:sp>
      </p:grpSp>
      <p:sp>
        <p:nvSpPr>
          <p:cNvPr id="594" name="Google Shape;594;p36"/>
          <p:cNvSpPr/>
          <p:nvPr/>
        </p:nvSpPr>
        <p:spPr>
          <a:xfrm>
            <a:off x="3261525" y="1396450"/>
            <a:ext cx="1891800" cy="1923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6"/>
          <p:cNvSpPr/>
          <p:nvPr/>
        </p:nvSpPr>
        <p:spPr>
          <a:xfrm>
            <a:off x="3061150" y="3092625"/>
            <a:ext cx="1623900" cy="1575300"/>
          </a:xfrm>
          <a:prstGeom prst="ellipse">
            <a:avLst/>
          </a:prstGeom>
          <a:solidFill>
            <a:srgbClr val="4F81BD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6"/>
          <p:cNvSpPr/>
          <p:nvPr/>
        </p:nvSpPr>
        <p:spPr>
          <a:xfrm>
            <a:off x="5649139" y="859098"/>
            <a:ext cx="1542600" cy="1543500"/>
          </a:xfrm>
          <a:prstGeom prst="ellipse">
            <a:avLst/>
          </a:prstGeom>
          <a:solidFill>
            <a:srgbClr val="4F81BD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6"/>
          <p:cNvSpPr txBox="1"/>
          <p:nvPr/>
        </p:nvSpPr>
        <p:spPr>
          <a:xfrm>
            <a:off x="3395475" y="1873975"/>
            <a:ext cx="16239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 Doble protección</a:t>
            </a:r>
            <a:endParaRPr sz="9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Fortinet filtra tráfico desde Internet hacia la DMZ.</a:t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Palo Alto controla lo que la DMZ puede alcanzar internamente.</a:t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598" name="Google Shape;598;p36"/>
          <p:cNvSpPr txBox="1"/>
          <p:nvPr/>
        </p:nvSpPr>
        <p:spPr>
          <a:xfrm>
            <a:off x="3022725" y="3411300"/>
            <a:ext cx="16239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Zona de contención de amenazas</a:t>
            </a:r>
            <a:endParaRPr sz="9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Si un servicio de la DMZ es atacado, el daño queda confinado</a:t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599" name="Google Shape;599;p36"/>
          <p:cNvSpPr txBox="1"/>
          <p:nvPr/>
        </p:nvSpPr>
        <p:spPr>
          <a:xfrm>
            <a:off x="5647275" y="1133400"/>
            <a:ext cx="15321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Escalable y </a:t>
            </a:r>
            <a:endParaRPr sz="9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segura por diseño</a:t>
            </a:r>
            <a:endParaRPr sz="9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Pueden añadirse más servicios externos sin comprometer el rendimiento ni la seguridad del resto de la red.</a:t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600" name="Google Shape;600;p36"/>
          <p:cNvSpPr/>
          <p:nvPr/>
        </p:nvSpPr>
        <p:spPr>
          <a:xfrm>
            <a:off x="3935980" y="3169295"/>
            <a:ext cx="356556" cy="349557"/>
          </a:xfrm>
          <a:custGeom>
            <a:rect b="b" l="l" r="r" t="t"/>
            <a:pathLst>
              <a:path extrusionOk="0" h="11737" w="11972">
                <a:moveTo>
                  <a:pt x="3214" y="5522"/>
                </a:moveTo>
                <a:cubicBezTo>
                  <a:pt x="3403" y="5522"/>
                  <a:pt x="3560" y="5679"/>
                  <a:pt x="3560" y="5868"/>
                </a:cubicBezTo>
                <a:cubicBezTo>
                  <a:pt x="3560" y="6057"/>
                  <a:pt x="3403" y="6215"/>
                  <a:pt x="3214" y="6215"/>
                </a:cubicBezTo>
                <a:cubicBezTo>
                  <a:pt x="3024" y="6215"/>
                  <a:pt x="2867" y="6057"/>
                  <a:pt x="2867" y="5868"/>
                </a:cubicBezTo>
                <a:cubicBezTo>
                  <a:pt x="2867" y="5679"/>
                  <a:pt x="3024" y="5522"/>
                  <a:pt x="3214" y="5522"/>
                </a:cubicBezTo>
                <a:close/>
                <a:moveTo>
                  <a:pt x="5986" y="2749"/>
                </a:moveTo>
                <a:cubicBezTo>
                  <a:pt x="6931" y="2749"/>
                  <a:pt x="7719" y="3537"/>
                  <a:pt x="7719" y="4482"/>
                </a:cubicBezTo>
                <a:cubicBezTo>
                  <a:pt x="7719" y="5427"/>
                  <a:pt x="6963" y="6215"/>
                  <a:pt x="5986" y="6215"/>
                </a:cubicBezTo>
                <a:cubicBezTo>
                  <a:pt x="5041" y="6215"/>
                  <a:pt x="4253" y="5427"/>
                  <a:pt x="4253" y="4482"/>
                </a:cubicBezTo>
                <a:cubicBezTo>
                  <a:pt x="4253" y="3537"/>
                  <a:pt x="5041" y="2749"/>
                  <a:pt x="5986" y="2749"/>
                </a:cubicBezTo>
                <a:close/>
                <a:moveTo>
                  <a:pt x="8790" y="5522"/>
                </a:moveTo>
                <a:cubicBezTo>
                  <a:pt x="8979" y="5522"/>
                  <a:pt x="9136" y="5679"/>
                  <a:pt x="9136" y="5868"/>
                </a:cubicBezTo>
                <a:cubicBezTo>
                  <a:pt x="9136" y="6057"/>
                  <a:pt x="8979" y="6215"/>
                  <a:pt x="8790" y="6215"/>
                </a:cubicBezTo>
                <a:cubicBezTo>
                  <a:pt x="8569" y="6215"/>
                  <a:pt x="8412" y="6057"/>
                  <a:pt x="8412" y="5868"/>
                </a:cubicBezTo>
                <a:cubicBezTo>
                  <a:pt x="8412" y="5679"/>
                  <a:pt x="8569" y="5522"/>
                  <a:pt x="8790" y="5522"/>
                </a:cubicBezTo>
                <a:close/>
                <a:moveTo>
                  <a:pt x="4600" y="7601"/>
                </a:moveTo>
                <a:cubicBezTo>
                  <a:pt x="4789" y="7601"/>
                  <a:pt x="4946" y="7759"/>
                  <a:pt x="4946" y="7948"/>
                </a:cubicBezTo>
                <a:cubicBezTo>
                  <a:pt x="4946" y="8168"/>
                  <a:pt x="4789" y="8326"/>
                  <a:pt x="4600" y="8326"/>
                </a:cubicBezTo>
                <a:cubicBezTo>
                  <a:pt x="4411" y="8326"/>
                  <a:pt x="4253" y="8168"/>
                  <a:pt x="4253" y="7948"/>
                </a:cubicBezTo>
                <a:cubicBezTo>
                  <a:pt x="4253" y="7759"/>
                  <a:pt x="4411" y="7601"/>
                  <a:pt x="4600" y="7601"/>
                </a:cubicBezTo>
                <a:close/>
                <a:moveTo>
                  <a:pt x="6679" y="6939"/>
                </a:moveTo>
                <a:cubicBezTo>
                  <a:pt x="7278" y="6939"/>
                  <a:pt x="7719" y="7412"/>
                  <a:pt x="7719" y="7948"/>
                </a:cubicBezTo>
                <a:cubicBezTo>
                  <a:pt x="7719" y="8515"/>
                  <a:pt x="7246" y="8987"/>
                  <a:pt x="6679" y="8987"/>
                </a:cubicBezTo>
                <a:cubicBezTo>
                  <a:pt x="6080" y="8987"/>
                  <a:pt x="5671" y="8515"/>
                  <a:pt x="5671" y="7948"/>
                </a:cubicBezTo>
                <a:cubicBezTo>
                  <a:pt x="5671" y="7412"/>
                  <a:pt x="6143" y="6939"/>
                  <a:pt x="6679" y="6939"/>
                </a:cubicBezTo>
                <a:close/>
                <a:moveTo>
                  <a:pt x="5309" y="1"/>
                </a:moveTo>
                <a:cubicBezTo>
                  <a:pt x="5222" y="1"/>
                  <a:pt x="5135" y="24"/>
                  <a:pt x="5072" y="71"/>
                </a:cubicBezTo>
                <a:cubicBezTo>
                  <a:pt x="4946" y="197"/>
                  <a:pt x="4946" y="449"/>
                  <a:pt x="5072" y="544"/>
                </a:cubicBezTo>
                <a:cubicBezTo>
                  <a:pt x="5356" y="828"/>
                  <a:pt x="5545" y="1080"/>
                  <a:pt x="5639" y="1363"/>
                </a:cubicBezTo>
                <a:cubicBezTo>
                  <a:pt x="5356" y="1426"/>
                  <a:pt x="5041" y="1458"/>
                  <a:pt x="4757" y="1552"/>
                </a:cubicBezTo>
                <a:cubicBezTo>
                  <a:pt x="4474" y="1017"/>
                  <a:pt x="4096" y="796"/>
                  <a:pt x="3592" y="576"/>
                </a:cubicBezTo>
                <a:cubicBezTo>
                  <a:pt x="3552" y="560"/>
                  <a:pt x="3507" y="552"/>
                  <a:pt x="3460" y="552"/>
                </a:cubicBezTo>
                <a:cubicBezTo>
                  <a:pt x="3320" y="552"/>
                  <a:pt x="3166" y="623"/>
                  <a:pt x="3119" y="765"/>
                </a:cubicBezTo>
                <a:cubicBezTo>
                  <a:pt x="3024" y="922"/>
                  <a:pt x="3119" y="1143"/>
                  <a:pt x="3277" y="1206"/>
                </a:cubicBezTo>
                <a:cubicBezTo>
                  <a:pt x="3623" y="1363"/>
                  <a:pt x="3907" y="1552"/>
                  <a:pt x="4064" y="1804"/>
                </a:cubicBezTo>
                <a:cubicBezTo>
                  <a:pt x="3781" y="1930"/>
                  <a:pt x="3529" y="2088"/>
                  <a:pt x="3308" y="2245"/>
                </a:cubicBezTo>
                <a:cubicBezTo>
                  <a:pt x="2867" y="1836"/>
                  <a:pt x="2394" y="1773"/>
                  <a:pt x="1890" y="1741"/>
                </a:cubicBezTo>
                <a:cubicBezTo>
                  <a:pt x="1701" y="1741"/>
                  <a:pt x="1544" y="1836"/>
                  <a:pt x="1481" y="2056"/>
                </a:cubicBezTo>
                <a:cubicBezTo>
                  <a:pt x="1481" y="2245"/>
                  <a:pt x="1607" y="2403"/>
                  <a:pt x="1796" y="2434"/>
                </a:cubicBezTo>
                <a:cubicBezTo>
                  <a:pt x="2205" y="2466"/>
                  <a:pt x="2489" y="2529"/>
                  <a:pt x="2741" y="2718"/>
                </a:cubicBezTo>
                <a:cubicBezTo>
                  <a:pt x="2552" y="2907"/>
                  <a:pt x="2363" y="3159"/>
                  <a:pt x="2205" y="3379"/>
                </a:cubicBezTo>
                <a:cubicBezTo>
                  <a:pt x="1949" y="3294"/>
                  <a:pt x="1725" y="3260"/>
                  <a:pt x="1508" y="3260"/>
                </a:cubicBezTo>
                <a:cubicBezTo>
                  <a:pt x="1243" y="3260"/>
                  <a:pt x="987" y="3310"/>
                  <a:pt x="693" y="3379"/>
                </a:cubicBezTo>
                <a:cubicBezTo>
                  <a:pt x="504" y="3411"/>
                  <a:pt x="441" y="3631"/>
                  <a:pt x="473" y="3821"/>
                </a:cubicBezTo>
                <a:cubicBezTo>
                  <a:pt x="498" y="3970"/>
                  <a:pt x="621" y="4060"/>
                  <a:pt x="781" y="4060"/>
                </a:cubicBezTo>
                <a:cubicBezTo>
                  <a:pt x="823" y="4060"/>
                  <a:pt x="868" y="4054"/>
                  <a:pt x="914" y="4041"/>
                </a:cubicBezTo>
                <a:cubicBezTo>
                  <a:pt x="1160" y="3979"/>
                  <a:pt x="1366" y="3931"/>
                  <a:pt x="1567" y="3931"/>
                </a:cubicBezTo>
                <a:cubicBezTo>
                  <a:pt x="1674" y="3931"/>
                  <a:pt x="1780" y="3945"/>
                  <a:pt x="1890" y="3978"/>
                </a:cubicBezTo>
                <a:cubicBezTo>
                  <a:pt x="1764" y="4262"/>
                  <a:pt x="1638" y="4514"/>
                  <a:pt x="1607" y="4797"/>
                </a:cubicBezTo>
                <a:cubicBezTo>
                  <a:pt x="1071" y="4797"/>
                  <a:pt x="630" y="4986"/>
                  <a:pt x="189" y="5301"/>
                </a:cubicBezTo>
                <a:cubicBezTo>
                  <a:pt x="32" y="5427"/>
                  <a:pt x="0" y="5616"/>
                  <a:pt x="126" y="5774"/>
                </a:cubicBezTo>
                <a:cubicBezTo>
                  <a:pt x="186" y="5874"/>
                  <a:pt x="296" y="5935"/>
                  <a:pt x="409" y="5935"/>
                </a:cubicBezTo>
                <a:cubicBezTo>
                  <a:pt x="474" y="5935"/>
                  <a:pt x="541" y="5915"/>
                  <a:pt x="599" y="5868"/>
                </a:cubicBezTo>
                <a:cubicBezTo>
                  <a:pt x="914" y="5616"/>
                  <a:pt x="1166" y="5459"/>
                  <a:pt x="1481" y="5459"/>
                </a:cubicBezTo>
                <a:cubicBezTo>
                  <a:pt x="1481" y="5585"/>
                  <a:pt x="1449" y="5742"/>
                  <a:pt x="1449" y="5868"/>
                </a:cubicBezTo>
                <a:cubicBezTo>
                  <a:pt x="1449" y="6026"/>
                  <a:pt x="1449" y="6183"/>
                  <a:pt x="1481" y="6341"/>
                </a:cubicBezTo>
                <a:cubicBezTo>
                  <a:pt x="945" y="6530"/>
                  <a:pt x="662" y="6876"/>
                  <a:pt x="347" y="7318"/>
                </a:cubicBezTo>
                <a:cubicBezTo>
                  <a:pt x="221" y="7475"/>
                  <a:pt x="284" y="7664"/>
                  <a:pt x="441" y="7790"/>
                </a:cubicBezTo>
                <a:cubicBezTo>
                  <a:pt x="507" y="7843"/>
                  <a:pt x="584" y="7868"/>
                  <a:pt x="658" y="7868"/>
                </a:cubicBezTo>
                <a:cubicBezTo>
                  <a:pt x="761" y="7868"/>
                  <a:pt x="859" y="7819"/>
                  <a:pt x="914" y="7727"/>
                </a:cubicBezTo>
                <a:cubicBezTo>
                  <a:pt x="1134" y="7349"/>
                  <a:pt x="1323" y="7129"/>
                  <a:pt x="1607" y="7002"/>
                </a:cubicBezTo>
                <a:cubicBezTo>
                  <a:pt x="1701" y="7286"/>
                  <a:pt x="1764" y="7570"/>
                  <a:pt x="1922" y="7822"/>
                </a:cubicBezTo>
                <a:cubicBezTo>
                  <a:pt x="1481" y="8200"/>
                  <a:pt x="1323" y="8609"/>
                  <a:pt x="1166" y="9145"/>
                </a:cubicBezTo>
                <a:cubicBezTo>
                  <a:pt x="1134" y="9334"/>
                  <a:pt x="1260" y="9523"/>
                  <a:pt x="1418" y="9554"/>
                </a:cubicBezTo>
                <a:cubicBezTo>
                  <a:pt x="1452" y="9566"/>
                  <a:pt x="1486" y="9571"/>
                  <a:pt x="1519" y="9571"/>
                </a:cubicBezTo>
                <a:cubicBezTo>
                  <a:pt x="1671" y="9571"/>
                  <a:pt x="1807" y="9463"/>
                  <a:pt x="1859" y="9334"/>
                </a:cubicBezTo>
                <a:cubicBezTo>
                  <a:pt x="1953" y="8924"/>
                  <a:pt x="2048" y="8672"/>
                  <a:pt x="2268" y="8420"/>
                </a:cubicBezTo>
                <a:cubicBezTo>
                  <a:pt x="2426" y="8672"/>
                  <a:pt x="2646" y="8893"/>
                  <a:pt x="2835" y="9082"/>
                </a:cubicBezTo>
                <a:cubicBezTo>
                  <a:pt x="2520" y="9554"/>
                  <a:pt x="2552" y="10027"/>
                  <a:pt x="2583" y="10594"/>
                </a:cubicBezTo>
                <a:cubicBezTo>
                  <a:pt x="2583" y="10783"/>
                  <a:pt x="2741" y="10909"/>
                  <a:pt x="2961" y="10909"/>
                </a:cubicBezTo>
                <a:lnTo>
                  <a:pt x="2993" y="10909"/>
                </a:lnTo>
                <a:cubicBezTo>
                  <a:pt x="3182" y="10909"/>
                  <a:pt x="3308" y="10720"/>
                  <a:pt x="3308" y="10500"/>
                </a:cubicBezTo>
                <a:cubicBezTo>
                  <a:pt x="3277" y="10090"/>
                  <a:pt x="3277" y="9806"/>
                  <a:pt x="3371" y="9523"/>
                </a:cubicBezTo>
                <a:cubicBezTo>
                  <a:pt x="3623" y="9680"/>
                  <a:pt x="3844" y="9838"/>
                  <a:pt x="4127" y="9964"/>
                </a:cubicBezTo>
                <a:cubicBezTo>
                  <a:pt x="4001" y="10500"/>
                  <a:pt x="4159" y="10941"/>
                  <a:pt x="4411" y="11445"/>
                </a:cubicBezTo>
                <a:cubicBezTo>
                  <a:pt x="4452" y="11589"/>
                  <a:pt x="4561" y="11652"/>
                  <a:pt x="4684" y="11652"/>
                </a:cubicBezTo>
                <a:cubicBezTo>
                  <a:pt x="4749" y="11652"/>
                  <a:pt x="4818" y="11635"/>
                  <a:pt x="4883" y="11602"/>
                </a:cubicBezTo>
                <a:cubicBezTo>
                  <a:pt x="5041" y="11539"/>
                  <a:pt x="5104" y="11350"/>
                  <a:pt x="5041" y="11130"/>
                </a:cubicBezTo>
                <a:cubicBezTo>
                  <a:pt x="4883" y="10783"/>
                  <a:pt x="4757" y="10500"/>
                  <a:pt x="4789" y="10184"/>
                </a:cubicBezTo>
                <a:lnTo>
                  <a:pt x="4789" y="10184"/>
                </a:lnTo>
                <a:cubicBezTo>
                  <a:pt x="5072" y="10279"/>
                  <a:pt x="5356" y="10311"/>
                  <a:pt x="5671" y="10342"/>
                </a:cubicBezTo>
                <a:cubicBezTo>
                  <a:pt x="5734" y="10909"/>
                  <a:pt x="6049" y="11256"/>
                  <a:pt x="6427" y="11665"/>
                </a:cubicBezTo>
                <a:cubicBezTo>
                  <a:pt x="6474" y="11712"/>
                  <a:pt x="6561" y="11736"/>
                  <a:pt x="6651" y="11736"/>
                </a:cubicBezTo>
                <a:cubicBezTo>
                  <a:pt x="6742" y="11736"/>
                  <a:pt x="6837" y="11712"/>
                  <a:pt x="6900" y="11665"/>
                </a:cubicBezTo>
                <a:cubicBezTo>
                  <a:pt x="6994" y="11539"/>
                  <a:pt x="6994" y="11287"/>
                  <a:pt x="6900" y="11193"/>
                </a:cubicBezTo>
                <a:cubicBezTo>
                  <a:pt x="6616" y="10909"/>
                  <a:pt x="6427" y="10657"/>
                  <a:pt x="6333" y="10342"/>
                </a:cubicBezTo>
                <a:cubicBezTo>
                  <a:pt x="6616" y="10311"/>
                  <a:pt x="6931" y="10279"/>
                  <a:pt x="7215" y="10184"/>
                </a:cubicBezTo>
                <a:cubicBezTo>
                  <a:pt x="7467" y="10720"/>
                  <a:pt x="7876" y="10941"/>
                  <a:pt x="8380" y="11130"/>
                </a:cubicBezTo>
                <a:cubicBezTo>
                  <a:pt x="8424" y="11156"/>
                  <a:pt x="8474" y="11167"/>
                  <a:pt x="8526" y="11167"/>
                </a:cubicBezTo>
                <a:cubicBezTo>
                  <a:pt x="8662" y="11167"/>
                  <a:pt x="8807" y="11086"/>
                  <a:pt x="8853" y="10972"/>
                </a:cubicBezTo>
                <a:cubicBezTo>
                  <a:pt x="8947" y="10815"/>
                  <a:pt x="8853" y="10594"/>
                  <a:pt x="8695" y="10500"/>
                </a:cubicBezTo>
                <a:cubicBezTo>
                  <a:pt x="8349" y="10374"/>
                  <a:pt x="8065" y="10184"/>
                  <a:pt x="7908" y="9932"/>
                </a:cubicBezTo>
                <a:cubicBezTo>
                  <a:pt x="8191" y="9806"/>
                  <a:pt x="8412" y="9649"/>
                  <a:pt x="8664" y="9491"/>
                </a:cubicBezTo>
                <a:cubicBezTo>
                  <a:pt x="9105" y="9901"/>
                  <a:pt x="9578" y="9964"/>
                  <a:pt x="10082" y="9995"/>
                </a:cubicBezTo>
                <a:lnTo>
                  <a:pt x="10113" y="9995"/>
                </a:lnTo>
                <a:cubicBezTo>
                  <a:pt x="10302" y="9995"/>
                  <a:pt x="10428" y="9869"/>
                  <a:pt x="10460" y="9680"/>
                </a:cubicBezTo>
                <a:cubicBezTo>
                  <a:pt x="10460" y="9491"/>
                  <a:pt x="10365" y="9334"/>
                  <a:pt x="10145" y="9302"/>
                </a:cubicBezTo>
                <a:cubicBezTo>
                  <a:pt x="9767" y="9239"/>
                  <a:pt x="9483" y="9208"/>
                  <a:pt x="9199" y="9019"/>
                </a:cubicBezTo>
                <a:cubicBezTo>
                  <a:pt x="9388" y="8830"/>
                  <a:pt x="9609" y="8578"/>
                  <a:pt x="9767" y="8357"/>
                </a:cubicBezTo>
                <a:cubicBezTo>
                  <a:pt x="9980" y="8437"/>
                  <a:pt x="10181" y="8466"/>
                  <a:pt x="10384" y="8466"/>
                </a:cubicBezTo>
                <a:cubicBezTo>
                  <a:pt x="10660" y="8466"/>
                  <a:pt x="10938" y="8412"/>
                  <a:pt x="11247" y="8357"/>
                </a:cubicBezTo>
                <a:cubicBezTo>
                  <a:pt x="11468" y="8294"/>
                  <a:pt x="11531" y="8105"/>
                  <a:pt x="11499" y="7916"/>
                </a:cubicBezTo>
                <a:cubicBezTo>
                  <a:pt x="11472" y="7751"/>
                  <a:pt x="11300" y="7658"/>
                  <a:pt x="11131" y="7658"/>
                </a:cubicBezTo>
                <a:cubicBezTo>
                  <a:pt x="11107" y="7658"/>
                  <a:pt x="11082" y="7660"/>
                  <a:pt x="11058" y="7664"/>
                </a:cubicBezTo>
                <a:cubicBezTo>
                  <a:pt x="10806" y="7748"/>
                  <a:pt x="10596" y="7804"/>
                  <a:pt x="10391" y="7804"/>
                </a:cubicBezTo>
                <a:cubicBezTo>
                  <a:pt x="10288" y="7804"/>
                  <a:pt x="10187" y="7790"/>
                  <a:pt x="10082" y="7759"/>
                </a:cubicBezTo>
                <a:cubicBezTo>
                  <a:pt x="10208" y="7475"/>
                  <a:pt x="10302" y="7192"/>
                  <a:pt x="10365" y="6939"/>
                </a:cubicBezTo>
                <a:lnTo>
                  <a:pt x="10397" y="6939"/>
                </a:lnTo>
                <a:cubicBezTo>
                  <a:pt x="10932" y="6939"/>
                  <a:pt x="11342" y="6687"/>
                  <a:pt x="11751" y="6372"/>
                </a:cubicBezTo>
                <a:cubicBezTo>
                  <a:pt x="11940" y="6246"/>
                  <a:pt x="11972" y="6057"/>
                  <a:pt x="11846" y="5900"/>
                </a:cubicBezTo>
                <a:cubicBezTo>
                  <a:pt x="11789" y="5843"/>
                  <a:pt x="11687" y="5798"/>
                  <a:pt x="11580" y="5798"/>
                </a:cubicBezTo>
                <a:cubicBezTo>
                  <a:pt x="11509" y="5798"/>
                  <a:pt x="11436" y="5818"/>
                  <a:pt x="11373" y="5868"/>
                </a:cubicBezTo>
                <a:cubicBezTo>
                  <a:pt x="11058" y="6120"/>
                  <a:pt x="10775" y="6278"/>
                  <a:pt x="10460" y="6278"/>
                </a:cubicBezTo>
                <a:cubicBezTo>
                  <a:pt x="10460" y="6152"/>
                  <a:pt x="10491" y="5994"/>
                  <a:pt x="10491" y="5868"/>
                </a:cubicBezTo>
                <a:cubicBezTo>
                  <a:pt x="10491" y="5711"/>
                  <a:pt x="10491" y="5553"/>
                  <a:pt x="10460" y="5396"/>
                </a:cubicBezTo>
                <a:cubicBezTo>
                  <a:pt x="11027" y="5207"/>
                  <a:pt x="11279" y="4860"/>
                  <a:pt x="11594" y="4419"/>
                </a:cubicBezTo>
                <a:cubicBezTo>
                  <a:pt x="11720" y="4262"/>
                  <a:pt x="11688" y="4073"/>
                  <a:pt x="11531" y="3947"/>
                </a:cubicBezTo>
                <a:cubicBezTo>
                  <a:pt x="11465" y="3894"/>
                  <a:pt x="11394" y="3869"/>
                  <a:pt x="11324" y="3869"/>
                </a:cubicBezTo>
                <a:cubicBezTo>
                  <a:pt x="11226" y="3869"/>
                  <a:pt x="11132" y="3918"/>
                  <a:pt x="11058" y="4010"/>
                </a:cubicBezTo>
                <a:cubicBezTo>
                  <a:pt x="10838" y="4388"/>
                  <a:pt x="10617" y="4608"/>
                  <a:pt x="10365" y="4734"/>
                </a:cubicBezTo>
                <a:cubicBezTo>
                  <a:pt x="10271" y="4451"/>
                  <a:pt x="10176" y="4167"/>
                  <a:pt x="10019" y="3915"/>
                </a:cubicBezTo>
                <a:cubicBezTo>
                  <a:pt x="10460" y="3537"/>
                  <a:pt x="10617" y="3127"/>
                  <a:pt x="10775" y="2592"/>
                </a:cubicBezTo>
                <a:cubicBezTo>
                  <a:pt x="10806" y="2403"/>
                  <a:pt x="10712" y="2214"/>
                  <a:pt x="10554" y="2182"/>
                </a:cubicBezTo>
                <a:cubicBezTo>
                  <a:pt x="10520" y="2171"/>
                  <a:pt x="10485" y="2166"/>
                  <a:pt x="10450" y="2166"/>
                </a:cubicBezTo>
                <a:cubicBezTo>
                  <a:pt x="10292" y="2166"/>
                  <a:pt x="10139" y="2274"/>
                  <a:pt x="10113" y="2403"/>
                </a:cubicBezTo>
                <a:cubicBezTo>
                  <a:pt x="9987" y="2812"/>
                  <a:pt x="9924" y="3064"/>
                  <a:pt x="9672" y="3316"/>
                </a:cubicBezTo>
                <a:cubicBezTo>
                  <a:pt x="9515" y="3064"/>
                  <a:pt x="9325" y="2844"/>
                  <a:pt x="9136" y="2655"/>
                </a:cubicBezTo>
                <a:cubicBezTo>
                  <a:pt x="9451" y="2182"/>
                  <a:pt x="9388" y="1710"/>
                  <a:pt x="9357" y="1143"/>
                </a:cubicBezTo>
                <a:cubicBezTo>
                  <a:pt x="9357" y="954"/>
                  <a:pt x="9168" y="828"/>
                  <a:pt x="8979" y="828"/>
                </a:cubicBezTo>
                <a:cubicBezTo>
                  <a:pt x="8790" y="828"/>
                  <a:pt x="8664" y="1017"/>
                  <a:pt x="8664" y="1237"/>
                </a:cubicBezTo>
                <a:cubicBezTo>
                  <a:pt x="8695" y="1647"/>
                  <a:pt x="8695" y="1930"/>
                  <a:pt x="8569" y="2214"/>
                </a:cubicBezTo>
                <a:cubicBezTo>
                  <a:pt x="8349" y="2056"/>
                  <a:pt x="8097" y="1899"/>
                  <a:pt x="7813" y="1773"/>
                </a:cubicBezTo>
                <a:cubicBezTo>
                  <a:pt x="7939" y="1237"/>
                  <a:pt x="7782" y="796"/>
                  <a:pt x="7561" y="292"/>
                </a:cubicBezTo>
                <a:cubicBezTo>
                  <a:pt x="7493" y="178"/>
                  <a:pt x="7375" y="97"/>
                  <a:pt x="7243" y="97"/>
                </a:cubicBezTo>
                <a:cubicBezTo>
                  <a:pt x="7193" y="97"/>
                  <a:pt x="7141" y="108"/>
                  <a:pt x="7089" y="134"/>
                </a:cubicBezTo>
                <a:cubicBezTo>
                  <a:pt x="6931" y="197"/>
                  <a:pt x="6837" y="386"/>
                  <a:pt x="6931" y="607"/>
                </a:cubicBezTo>
                <a:cubicBezTo>
                  <a:pt x="7089" y="954"/>
                  <a:pt x="7215" y="1237"/>
                  <a:pt x="7152" y="1552"/>
                </a:cubicBezTo>
                <a:cubicBezTo>
                  <a:pt x="6900" y="1458"/>
                  <a:pt x="6616" y="1426"/>
                  <a:pt x="6301" y="1395"/>
                </a:cubicBezTo>
                <a:cubicBezTo>
                  <a:pt x="6206" y="828"/>
                  <a:pt x="5891" y="481"/>
                  <a:pt x="5545" y="71"/>
                </a:cubicBezTo>
                <a:cubicBezTo>
                  <a:pt x="5482" y="24"/>
                  <a:pt x="5395" y="1"/>
                  <a:pt x="53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1" name="Google Shape;601;p36"/>
          <p:cNvGrpSpPr/>
          <p:nvPr/>
        </p:nvGrpSpPr>
        <p:grpSpPr>
          <a:xfrm>
            <a:off x="6506509" y="3626052"/>
            <a:ext cx="311979" cy="458407"/>
            <a:chOff x="-23930925" y="3149300"/>
            <a:chExt cx="192200" cy="294625"/>
          </a:xfrm>
        </p:grpSpPr>
        <p:sp>
          <p:nvSpPr>
            <p:cNvPr id="602" name="Google Shape;602;p36"/>
            <p:cNvSpPr/>
            <p:nvPr/>
          </p:nvSpPr>
          <p:spPr>
            <a:xfrm>
              <a:off x="-23930125" y="3149300"/>
              <a:ext cx="191400" cy="35475"/>
            </a:xfrm>
            <a:custGeom>
              <a:rect b="b" l="l" r="r" t="t"/>
              <a:pathLst>
                <a:path extrusionOk="0" h="1419" w="7656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-23878925" y="3237525"/>
              <a:ext cx="86650" cy="86650"/>
            </a:xfrm>
            <a:custGeom>
              <a:rect b="b" l="l" r="r" t="t"/>
              <a:pathLst>
                <a:path extrusionOk="0" h="3466" w="3466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-23930925" y="3375350"/>
              <a:ext cx="190625" cy="68575"/>
            </a:xfrm>
            <a:custGeom>
              <a:rect b="b" l="l" r="r" t="t"/>
              <a:pathLst>
                <a:path extrusionOk="0" h="2743" w="7625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-23930925" y="3202075"/>
              <a:ext cx="190625" cy="155975"/>
            </a:xfrm>
            <a:custGeom>
              <a:rect b="b" l="l" r="r" t="t"/>
              <a:pathLst>
                <a:path extrusionOk="0" h="6239" w="7625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36"/>
          <p:cNvGrpSpPr/>
          <p:nvPr/>
        </p:nvGrpSpPr>
        <p:grpSpPr>
          <a:xfrm>
            <a:off x="4052119" y="1521174"/>
            <a:ext cx="310602" cy="352803"/>
            <a:chOff x="-28069875" y="3175300"/>
            <a:chExt cx="260725" cy="296150"/>
          </a:xfrm>
        </p:grpSpPr>
        <p:sp>
          <p:nvSpPr>
            <p:cNvPr id="607" name="Google Shape;607;p36"/>
            <p:cNvSpPr/>
            <p:nvPr/>
          </p:nvSpPr>
          <p:spPr>
            <a:xfrm>
              <a:off x="-28059650" y="3192625"/>
              <a:ext cx="26025" cy="70125"/>
            </a:xfrm>
            <a:custGeom>
              <a:rect b="b" l="l" r="r" t="t"/>
              <a:pathLst>
                <a:path extrusionOk="0" h="2805" w="1041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-27843050" y="3192625"/>
              <a:ext cx="26025" cy="69325"/>
            </a:xfrm>
            <a:custGeom>
              <a:rect b="b" l="l" r="r" t="t"/>
              <a:pathLst>
                <a:path extrusionOk="0" h="2773" w="1041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-27973000" y="3202075"/>
              <a:ext cx="26000" cy="57525"/>
            </a:xfrm>
            <a:custGeom>
              <a:rect b="b" l="l" r="r" t="t"/>
              <a:pathLst>
                <a:path extrusionOk="0" h="2301" w="104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-27929675" y="3202075"/>
              <a:ext cx="26000" cy="57525"/>
            </a:xfrm>
            <a:custGeom>
              <a:rect b="b" l="l" r="r" t="t"/>
              <a:pathLst>
                <a:path extrusionOk="0" h="2301" w="104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-28016325" y="3175300"/>
              <a:ext cx="26025" cy="91375"/>
            </a:xfrm>
            <a:custGeom>
              <a:rect b="b" l="l" r="r" t="t"/>
              <a:pathLst>
                <a:path extrusionOk="0" h="3655" w="1041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-27886375" y="3176075"/>
              <a:ext cx="26025" cy="91400"/>
            </a:xfrm>
            <a:custGeom>
              <a:rect b="b" l="l" r="r" t="t"/>
              <a:pathLst>
                <a:path extrusionOk="0" h="3656" w="1041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-28017900" y="3269025"/>
              <a:ext cx="161475" cy="133125"/>
            </a:xfrm>
            <a:custGeom>
              <a:rect b="b" l="l" r="r" t="t"/>
              <a:pathLst>
                <a:path extrusionOk="0" h="5325" w="6459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-27930475" y="3269800"/>
              <a:ext cx="121325" cy="201650"/>
            </a:xfrm>
            <a:custGeom>
              <a:rect b="b" l="l" r="r" t="t"/>
              <a:pathLst>
                <a:path extrusionOk="0" h="8066" w="4853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-28069875" y="3271375"/>
              <a:ext cx="122875" cy="200075"/>
            </a:xfrm>
            <a:custGeom>
              <a:rect b="b" l="l" r="r" t="t"/>
              <a:pathLst>
                <a:path extrusionOk="0" h="8003" w="4915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36"/>
          <p:cNvGrpSpPr/>
          <p:nvPr/>
        </p:nvGrpSpPr>
        <p:grpSpPr>
          <a:xfrm>
            <a:off x="5768082" y="2101265"/>
            <a:ext cx="315307" cy="351910"/>
            <a:chOff x="-23962425" y="3519475"/>
            <a:chExt cx="264675" cy="295400"/>
          </a:xfrm>
        </p:grpSpPr>
        <p:sp>
          <p:nvSpPr>
            <p:cNvPr id="617" name="Google Shape;617;p36"/>
            <p:cNvSpPr/>
            <p:nvPr/>
          </p:nvSpPr>
          <p:spPr>
            <a:xfrm>
              <a:off x="-23961625" y="3580925"/>
              <a:ext cx="263875" cy="233950"/>
            </a:xfrm>
            <a:custGeom>
              <a:rect b="b" l="l" r="r" t="t"/>
              <a:pathLst>
                <a:path extrusionOk="0" h="9358" w="10555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-23962425" y="3519475"/>
              <a:ext cx="158350" cy="122125"/>
            </a:xfrm>
            <a:custGeom>
              <a:rect b="b" l="l" r="r" t="t"/>
              <a:pathLst>
                <a:path extrusionOk="0" h="4885" w="6334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7"/>
          <p:cNvSpPr txBox="1"/>
          <p:nvPr>
            <p:ph idx="6" type="title"/>
          </p:nvPr>
        </p:nvSpPr>
        <p:spPr>
          <a:xfrm>
            <a:off x="1056925" y="426275"/>
            <a:ext cx="60756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Firewalls</a:t>
            </a:r>
            <a:endParaRPr sz="2500">
              <a:solidFill>
                <a:schemeClr val="accent6"/>
              </a:solidFill>
            </a:endParaRPr>
          </a:p>
        </p:txBody>
      </p:sp>
      <p:pic>
        <p:nvPicPr>
          <p:cNvPr id="624" name="Google Shape;6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2750" y="1334000"/>
            <a:ext cx="2220700" cy="247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5" name="Google Shape;625;p37"/>
          <p:cNvGrpSpPr/>
          <p:nvPr/>
        </p:nvGrpSpPr>
        <p:grpSpPr>
          <a:xfrm>
            <a:off x="2188129" y="2062993"/>
            <a:ext cx="2100479" cy="2003795"/>
            <a:chOff x="2961500" y="961400"/>
            <a:chExt cx="3221100" cy="3220500"/>
          </a:xfrm>
        </p:grpSpPr>
        <p:sp>
          <p:nvSpPr>
            <p:cNvPr id="626" name="Google Shape;626;p37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7"/>
            <p:cNvSpPr txBox="1"/>
            <p:nvPr/>
          </p:nvSpPr>
          <p:spPr>
            <a:xfrm>
              <a:off x="3590754" y="1200964"/>
              <a:ext cx="19623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Karla"/>
                  <a:ea typeface="Karla"/>
                  <a:cs typeface="Karla"/>
                  <a:sym typeface="Karla"/>
                </a:rPr>
                <a:t>Fortinet </a:t>
              </a:r>
              <a:endParaRPr sz="10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Karla"/>
                  <a:ea typeface="Karla"/>
                  <a:cs typeface="Karla"/>
                  <a:sym typeface="Karla"/>
                </a:rPr>
                <a:t>Filtro perimetral</a:t>
              </a:r>
              <a:endParaRPr sz="10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28" name="Google Shape;628;p37"/>
          <p:cNvGrpSpPr/>
          <p:nvPr/>
        </p:nvGrpSpPr>
        <p:grpSpPr>
          <a:xfrm>
            <a:off x="2522363" y="2700624"/>
            <a:ext cx="1431816" cy="1366165"/>
            <a:chOff x="3474050" y="1986200"/>
            <a:chExt cx="2195700" cy="2195700"/>
          </a:xfrm>
        </p:grpSpPr>
        <p:sp>
          <p:nvSpPr>
            <p:cNvPr id="629" name="Google Shape;629;p37"/>
            <p:cNvSpPr/>
            <p:nvPr/>
          </p:nvSpPr>
          <p:spPr>
            <a:xfrm>
              <a:off x="3474050" y="1986200"/>
              <a:ext cx="2195700" cy="2195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7"/>
            <p:cNvSpPr txBox="1"/>
            <p:nvPr/>
          </p:nvSpPr>
          <p:spPr>
            <a:xfrm>
              <a:off x="3833274" y="2817050"/>
              <a:ext cx="1477200" cy="534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Karla"/>
                  <a:ea typeface="Karla"/>
                  <a:cs typeface="Karla"/>
                  <a:sym typeface="Karla"/>
                </a:rPr>
                <a:t>Palo Alto Firewall interno</a:t>
              </a:r>
              <a:endParaRPr sz="10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31" name="Google Shape;631;p37"/>
          <p:cNvSpPr txBox="1"/>
          <p:nvPr/>
        </p:nvSpPr>
        <p:spPr>
          <a:xfrm>
            <a:off x="4524300" y="1906375"/>
            <a:ext cx="41229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Su rol es  interceptar todo el tráfico entrante desde el exterior y determinar qué puede o no ingresar a la DMZ. Aquí se aplicarán políticas de seguridad clásicas, como control de puertos, IPs permitidas, bloqueo de escaneos, y protección contra ataques de denegación de servicio.</a:t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cxnSp>
        <p:nvCxnSpPr>
          <p:cNvPr id="632" name="Google Shape;632;p37"/>
          <p:cNvCxnSpPr>
            <a:stCxn id="626" idx="7"/>
          </p:cNvCxnSpPr>
          <p:nvPr/>
        </p:nvCxnSpPr>
        <p:spPr>
          <a:xfrm flipH="1" rot="10800000">
            <a:off x="3981000" y="2265842"/>
            <a:ext cx="543300" cy="9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633" name="Google Shape;633;p37"/>
          <p:cNvCxnSpPr/>
          <p:nvPr/>
        </p:nvCxnSpPr>
        <p:spPr>
          <a:xfrm>
            <a:off x="3918154" y="3356281"/>
            <a:ext cx="6690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34" name="Google Shape;634;p37"/>
          <p:cNvSpPr txBox="1"/>
          <p:nvPr/>
        </p:nvSpPr>
        <p:spPr>
          <a:xfrm>
            <a:off x="4644400" y="2868613"/>
            <a:ext cx="41229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 Light"/>
                <a:ea typeface="Karla Light"/>
                <a:cs typeface="Karla Light"/>
                <a:sym typeface="Karla Light"/>
              </a:rPr>
              <a:t>Está enfocado hacia dentro. Controla el tráfico que intenta salir de la DMZ hacia la red interna del hospital. Este dispositivo no solo filtra por puertos o direcciones IP, sino que realiza una inspección profunda basada en aplicaciones y servicios específicos.</a:t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 txBox="1"/>
          <p:nvPr>
            <p:ph type="title"/>
          </p:nvPr>
        </p:nvSpPr>
        <p:spPr>
          <a:xfrm>
            <a:off x="1452825" y="780375"/>
            <a:ext cx="48654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Entorno de pruebas</a:t>
            </a:r>
            <a:endParaRPr sz="2500">
              <a:solidFill>
                <a:schemeClr val="accent6"/>
              </a:solidFill>
            </a:endParaRPr>
          </a:p>
        </p:txBody>
      </p:sp>
      <p:grpSp>
        <p:nvGrpSpPr>
          <p:cNvPr id="640" name="Google Shape;640;p38"/>
          <p:cNvGrpSpPr/>
          <p:nvPr/>
        </p:nvGrpSpPr>
        <p:grpSpPr>
          <a:xfrm>
            <a:off x="1659430" y="833293"/>
            <a:ext cx="353757" cy="352565"/>
            <a:chOff x="-26980600" y="3175500"/>
            <a:chExt cx="296950" cy="295950"/>
          </a:xfrm>
        </p:grpSpPr>
        <p:sp>
          <p:nvSpPr>
            <p:cNvPr id="641" name="Google Shape;641;p38"/>
            <p:cNvSpPr/>
            <p:nvPr/>
          </p:nvSpPr>
          <p:spPr>
            <a:xfrm>
              <a:off x="-26798650" y="3175500"/>
              <a:ext cx="115000" cy="114025"/>
            </a:xfrm>
            <a:custGeom>
              <a:rect b="b" l="l" r="r" t="t"/>
              <a:pathLst>
                <a:path extrusionOk="0" h="4561" w="460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8"/>
            <p:cNvSpPr/>
            <p:nvPr/>
          </p:nvSpPr>
          <p:spPr>
            <a:xfrm>
              <a:off x="-26980600" y="3325725"/>
              <a:ext cx="168575" cy="145725"/>
            </a:xfrm>
            <a:custGeom>
              <a:rect b="b" l="l" r="r" t="t"/>
              <a:pathLst>
                <a:path extrusionOk="0" h="5829" w="6743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-26893950" y="3226500"/>
              <a:ext cx="159125" cy="137850"/>
            </a:xfrm>
            <a:custGeom>
              <a:rect b="b" l="l" r="r" t="t"/>
              <a:pathLst>
                <a:path extrusionOk="0" h="5514" w="6365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644" name="Google Shape;644;p38"/>
          <p:cNvGraphicFramePr/>
          <p:nvPr/>
        </p:nvGraphicFramePr>
        <p:xfrm>
          <a:off x="1782975" y="160142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{CA4459E5-5507-42E7-A694-7A4437314B09}</a:tableStyleId>
              </a:tblPr>
              <a:tblGrid>
                <a:gridCol w="1139325"/>
                <a:gridCol w="1139325"/>
                <a:gridCol w="1139325"/>
                <a:gridCol w="1411825"/>
              </a:tblGrid>
              <a:tr h="19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Nodo</a:t>
                      </a:r>
                      <a:endParaRPr b="0" sz="80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108000" marB="108000" marR="108000" marL="108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Rol / Tipo</a:t>
                      </a:r>
                      <a:endParaRPr b="0" sz="80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108000" marB="108000" marR="108000" marL="108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Imagen utilizada</a:t>
                      </a:r>
                      <a:endParaRPr b="0" sz="80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108000" marB="108000" marR="108000" marL="10800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Función principal</a:t>
                      </a:r>
                      <a:endParaRPr b="0" sz="80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108000" marB="108000" marR="108000" marL="108000" anchor="ctr">
                    <a:solidFill>
                      <a:srgbClr val="4F81BD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spine1/2</a:t>
                      </a:r>
                      <a:endParaRPr b="0"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Spine switches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vrnetlab/cisco_iol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Núcleo de distribución de tráfico entre hojas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leaf1-4</a:t>
                      </a:r>
                      <a:endParaRPr b="0"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Switches de acceso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vrnetlab/cisco_iol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Acceso por VLAN según zona funcional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border-leaf1/2</a:t>
                      </a:r>
                      <a:endParaRPr b="0"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Conectores a firewalls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vrnetlab/cisco_iol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Conexión entre red interna y firewalls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fw_fortinet</a:t>
                      </a:r>
                      <a:endParaRPr b="0"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Firewall perimetral externo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vrnetlab/vr-fortios:fortios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Filtrado inicial desde el exterior (Internet)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fw_paloalto</a:t>
                      </a:r>
                      <a:endParaRPr b="0"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Firewall interno DMZ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vrnetlab/paloalto_pa-vm:10.0.11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Control del tráfico entre DMZ y red interna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web_server_dmz</a:t>
                      </a:r>
                      <a:endParaRPr b="0"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Servidor expuesto (DMZ)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alpine:latest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Publicación de resultados o formularios web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dns_dhcp_server, base_datos</a:t>
                      </a:r>
                      <a:endParaRPr b="0"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Servicios internos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alpine:latest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Infraestructura de red y servicios clínicos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FE2F3"/>
                    </a:solidFill>
                  </a:tcPr>
                </a:tc>
              </a:tr>
              <a:tr h="330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camaraX, host_gestion, host_electro</a:t>
                      </a:r>
                      <a:endParaRPr b="0"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Clientes y dispositivos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alpine:latest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Equipos conectados según función</a:t>
                      </a:r>
                      <a:endParaRPr sz="7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72000" marB="72000" marR="72000" marL="72000" anchor="ctr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/>
          <p:nvPr>
            <p:ph type="title"/>
          </p:nvPr>
        </p:nvSpPr>
        <p:spPr>
          <a:xfrm>
            <a:off x="1782975" y="796875"/>
            <a:ext cx="48654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Protocolos </a:t>
            </a:r>
            <a:r>
              <a:rPr lang="en" sz="2500">
                <a:solidFill>
                  <a:schemeClr val="accent1"/>
                </a:solidFill>
              </a:rPr>
              <a:t>a implementar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650" name="Google Shape;650;p39"/>
          <p:cNvSpPr/>
          <p:nvPr/>
        </p:nvSpPr>
        <p:spPr>
          <a:xfrm>
            <a:off x="1544328" y="850722"/>
            <a:ext cx="352803" cy="350719"/>
          </a:xfrm>
          <a:custGeom>
            <a:rect b="b" l="l" r="r" t="t"/>
            <a:pathLst>
              <a:path extrusionOk="0" h="11776" w="11846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9"/>
          <p:cNvSpPr txBox="1"/>
          <p:nvPr/>
        </p:nvSpPr>
        <p:spPr>
          <a:xfrm>
            <a:off x="1880650" y="1324350"/>
            <a:ext cx="69975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 Light"/>
                <a:ea typeface="Karla Light"/>
                <a:cs typeface="Karla Light"/>
                <a:sym typeface="Karla Light"/>
              </a:rPr>
              <a:t>Enrutamiento y segmentación</a:t>
            </a:r>
            <a:endParaRPr sz="900">
              <a:solidFill>
                <a:schemeClr val="accen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OSPF → Enrutamiento dinámico interno, rápido y escalable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802.1Q → Etiquetado de VLANs en enlaces troncales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 Light"/>
                <a:ea typeface="Karla Light"/>
                <a:cs typeface="Karla Light"/>
                <a:sym typeface="Karla Light"/>
              </a:rPr>
              <a:t> Gestión, monitoreo y logs</a:t>
            </a:r>
            <a:endParaRPr sz="900">
              <a:solidFill>
                <a:schemeClr val="accen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SNMP → Monitorización de estado de dispositivos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Syslog → Registro centralizado de eventos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NTP → Sincronización horaria precisa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 Light"/>
                <a:ea typeface="Karla Light"/>
                <a:cs typeface="Karla Light"/>
                <a:sym typeface="Karla Light"/>
              </a:rPr>
              <a:t>Seguridad y control de acceso</a:t>
            </a:r>
            <a:endParaRPr sz="900">
              <a:solidFill>
                <a:schemeClr val="accen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ACLs → Filtros por VLAN y tipo de tráfico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DPI (Palo Alto) → Inspección profunda por aplicación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RADIUS → Autenticación centralizada con trazabilidad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SSH / HTTPS → Acceso seguro a dispositivos y gestión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 Light"/>
                <a:ea typeface="Karla Light"/>
                <a:cs typeface="Karla Light"/>
                <a:sym typeface="Karla Light"/>
              </a:rPr>
              <a:t>Calidad de servicio y disponibilidad</a:t>
            </a:r>
            <a:endParaRPr sz="900">
              <a:solidFill>
                <a:schemeClr val="accen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QoS con DSCP → Priorización de tráfico crítico médico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 Light"/>
                <a:ea typeface="Karla Light"/>
                <a:cs typeface="Karla Light"/>
                <a:sym typeface="Karla Light"/>
              </a:rPr>
              <a:t>Descubrimiento y resolución interna</a:t>
            </a:r>
            <a:endParaRPr sz="900">
              <a:solidFill>
                <a:schemeClr val="accen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DNS interno → Resolución de nombres controlada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652" name="Google Shape;652;p39"/>
          <p:cNvGrpSpPr/>
          <p:nvPr/>
        </p:nvGrpSpPr>
        <p:grpSpPr>
          <a:xfrm>
            <a:off x="1506542" y="1485604"/>
            <a:ext cx="289039" cy="352833"/>
            <a:chOff x="-24694925" y="3518700"/>
            <a:chExt cx="242625" cy="296175"/>
          </a:xfrm>
        </p:grpSpPr>
        <p:sp>
          <p:nvSpPr>
            <p:cNvPr id="653" name="Google Shape;653;p39"/>
            <p:cNvSpPr/>
            <p:nvPr/>
          </p:nvSpPr>
          <p:spPr>
            <a:xfrm>
              <a:off x="-24694925" y="3572250"/>
              <a:ext cx="104000" cy="112650"/>
            </a:xfrm>
            <a:custGeom>
              <a:rect b="b" l="l" r="r" t="t"/>
              <a:pathLst>
                <a:path extrusionOk="0" h="4506" w="416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-24556300" y="3648650"/>
              <a:ext cx="104000" cy="113450"/>
            </a:xfrm>
            <a:custGeom>
              <a:rect b="b" l="l" r="r" t="t"/>
              <a:pathLst>
                <a:path extrusionOk="0" h="4538" w="416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-24694925" y="3702200"/>
              <a:ext cx="104000" cy="112675"/>
            </a:xfrm>
            <a:custGeom>
              <a:rect b="b" l="l" r="r" t="t"/>
              <a:pathLst>
                <a:path extrusionOk="0" h="4507" w="416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-24556300" y="3518700"/>
              <a:ext cx="104000" cy="113425"/>
            </a:xfrm>
            <a:custGeom>
              <a:rect b="b" l="l" r="r" t="t"/>
              <a:pathLst>
                <a:path extrusionOk="0" h="4537" w="416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39"/>
          <p:cNvGrpSpPr/>
          <p:nvPr/>
        </p:nvGrpSpPr>
        <p:grpSpPr>
          <a:xfrm>
            <a:off x="1506542" y="3106779"/>
            <a:ext cx="289039" cy="352833"/>
            <a:chOff x="-24694925" y="3518700"/>
            <a:chExt cx="242625" cy="296175"/>
          </a:xfrm>
        </p:grpSpPr>
        <p:sp>
          <p:nvSpPr>
            <p:cNvPr id="658" name="Google Shape;658;p39"/>
            <p:cNvSpPr/>
            <p:nvPr/>
          </p:nvSpPr>
          <p:spPr>
            <a:xfrm>
              <a:off x="-24694925" y="3572250"/>
              <a:ext cx="104000" cy="112650"/>
            </a:xfrm>
            <a:custGeom>
              <a:rect b="b" l="l" r="r" t="t"/>
              <a:pathLst>
                <a:path extrusionOk="0" h="4506" w="416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-24556300" y="3648650"/>
              <a:ext cx="104000" cy="113450"/>
            </a:xfrm>
            <a:custGeom>
              <a:rect b="b" l="l" r="r" t="t"/>
              <a:pathLst>
                <a:path extrusionOk="0" h="4538" w="416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-24694925" y="3702200"/>
              <a:ext cx="104000" cy="112675"/>
            </a:xfrm>
            <a:custGeom>
              <a:rect b="b" l="l" r="r" t="t"/>
              <a:pathLst>
                <a:path extrusionOk="0" h="4507" w="416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-24556300" y="3518700"/>
              <a:ext cx="104000" cy="113425"/>
            </a:xfrm>
            <a:custGeom>
              <a:rect b="b" l="l" r="r" t="t"/>
              <a:pathLst>
                <a:path extrusionOk="0" h="4537" w="416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2" name="Google Shape;662;p39"/>
          <p:cNvGrpSpPr/>
          <p:nvPr/>
        </p:nvGrpSpPr>
        <p:grpSpPr>
          <a:xfrm>
            <a:off x="1506542" y="2263479"/>
            <a:ext cx="289039" cy="352833"/>
            <a:chOff x="-24694925" y="3518700"/>
            <a:chExt cx="242625" cy="296175"/>
          </a:xfrm>
        </p:grpSpPr>
        <p:sp>
          <p:nvSpPr>
            <p:cNvPr id="663" name="Google Shape;663;p39"/>
            <p:cNvSpPr/>
            <p:nvPr/>
          </p:nvSpPr>
          <p:spPr>
            <a:xfrm>
              <a:off x="-24694925" y="3572250"/>
              <a:ext cx="104000" cy="112650"/>
            </a:xfrm>
            <a:custGeom>
              <a:rect b="b" l="l" r="r" t="t"/>
              <a:pathLst>
                <a:path extrusionOk="0" h="4506" w="416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-24556300" y="3648650"/>
              <a:ext cx="104000" cy="113450"/>
            </a:xfrm>
            <a:custGeom>
              <a:rect b="b" l="l" r="r" t="t"/>
              <a:pathLst>
                <a:path extrusionOk="0" h="4538" w="416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-24694925" y="3702200"/>
              <a:ext cx="104000" cy="112675"/>
            </a:xfrm>
            <a:custGeom>
              <a:rect b="b" l="l" r="r" t="t"/>
              <a:pathLst>
                <a:path extrusionOk="0" h="4507" w="416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-24556300" y="3518700"/>
              <a:ext cx="104000" cy="113425"/>
            </a:xfrm>
            <a:custGeom>
              <a:rect b="b" l="l" r="r" t="t"/>
              <a:pathLst>
                <a:path extrusionOk="0" h="4537" w="416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7" name="Google Shape;667;p39"/>
          <p:cNvGrpSpPr/>
          <p:nvPr/>
        </p:nvGrpSpPr>
        <p:grpSpPr>
          <a:xfrm>
            <a:off x="1506542" y="3785654"/>
            <a:ext cx="289039" cy="352833"/>
            <a:chOff x="-24694925" y="3518700"/>
            <a:chExt cx="242625" cy="296175"/>
          </a:xfrm>
        </p:grpSpPr>
        <p:sp>
          <p:nvSpPr>
            <p:cNvPr id="668" name="Google Shape;668;p39"/>
            <p:cNvSpPr/>
            <p:nvPr/>
          </p:nvSpPr>
          <p:spPr>
            <a:xfrm>
              <a:off x="-24694925" y="3572250"/>
              <a:ext cx="104000" cy="112650"/>
            </a:xfrm>
            <a:custGeom>
              <a:rect b="b" l="l" r="r" t="t"/>
              <a:pathLst>
                <a:path extrusionOk="0" h="4506" w="416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-24556300" y="3648650"/>
              <a:ext cx="104000" cy="113450"/>
            </a:xfrm>
            <a:custGeom>
              <a:rect b="b" l="l" r="r" t="t"/>
              <a:pathLst>
                <a:path extrusionOk="0" h="4538" w="416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-24694925" y="3702200"/>
              <a:ext cx="104000" cy="112675"/>
            </a:xfrm>
            <a:custGeom>
              <a:rect b="b" l="l" r="r" t="t"/>
              <a:pathLst>
                <a:path extrusionOk="0" h="4507" w="416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-24556300" y="3518700"/>
              <a:ext cx="104000" cy="113425"/>
            </a:xfrm>
            <a:custGeom>
              <a:rect b="b" l="l" r="r" t="t"/>
              <a:pathLst>
                <a:path extrusionOk="0" h="4537" w="416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2" name="Google Shape;672;p39"/>
          <p:cNvGrpSpPr/>
          <p:nvPr/>
        </p:nvGrpSpPr>
        <p:grpSpPr>
          <a:xfrm>
            <a:off x="1506542" y="4284629"/>
            <a:ext cx="289039" cy="352833"/>
            <a:chOff x="-24694925" y="3518700"/>
            <a:chExt cx="242625" cy="296175"/>
          </a:xfrm>
        </p:grpSpPr>
        <p:sp>
          <p:nvSpPr>
            <p:cNvPr id="673" name="Google Shape;673;p39"/>
            <p:cNvSpPr/>
            <p:nvPr/>
          </p:nvSpPr>
          <p:spPr>
            <a:xfrm>
              <a:off x="-24694925" y="3572250"/>
              <a:ext cx="104000" cy="112650"/>
            </a:xfrm>
            <a:custGeom>
              <a:rect b="b" l="l" r="r" t="t"/>
              <a:pathLst>
                <a:path extrusionOk="0" h="4506" w="416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-24556300" y="3648650"/>
              <a:ext cx="104000" cy="113450"/>
            </a:xfrm>
            <a:custGeom>
              <a:rect b="b" l="l" r="r" t="t"/>
              <a:pathLst>
                <a:path extrusionOk="0" h="4538" w="416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-24694925" y="3702200"/>
              <a:ext cx="104000" cy="112675"/>
            </a:xfrm>
            <a:custGeom>
              <a:rect b="b" l="l" r="r" t="t"/>
              <a:pathLst>
                <a:path extrusionOk="0" h="4507" w="416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-24556300" y="3518700"/>
              <a:ext cx="104000" cy="113425"/>
            </a:xfrm>
            <a:custGeom>
              <a:rect b="b" l="l" r="r" t="t"/>
              <a:pathLst>
                <a:path extrusionOk="0" h="4537" w="416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0"/>
          <p:cNvSpPr txBox="1"/>
          <p:nvPr>
            <p:ph type="title"/>
          </p:nvPr>
        </p:nvSpPr>
        <p:spPr>
          <a:xfrm>
            <a:off x="1782975" y="796875"/>
            <a:ext cx="48654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Limitaciones y mejoras</a:t>
            </a:r>
            <a:endParaRPr sz="2500">
              <a:solidFill>
                <a:schemeClr val="accent1"/>
              </a:solidFill>
            </a:endParaRPr>
          </a:p>
        </p:txBody>
      </p:sp>
      <p:sp>
        <p:nvSpPr>
          <p:cNvPr id="682" name="Google Shape;682;p40"/>
          <p:cNvSpPr txBox="1"/>
          <p:nvPr/>
        </p:nvSpPr>
        <p:spPr>
          <a:xfrm>
            <a:off x="1880650" y="1324350"/>
            <a:ext cx="6997500" cy="3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Limitaciones técnicas</a:t>
            </a:r>
            <a:endParaRPr sz="9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Containerlab no emula el plano de datos real</a:t>
            </a:r>
            <a:endParaRPr sz="900">
              <a:solidFill>
                <a:schemeClr val="accent4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No reemplaza una red física ni simula carga o congestión con precisión.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Imágenes vrnetlab demandan muchos recursos</a:t>
            </a:r>
            <a:endParaRPr sz="900">
              <a:solidFill>
                <a:schemeClr val="accent4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Especialmente las basadas en VMs: alto uso de CPU, RAM y disco.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Licencias limitadas</a:t>
            </a:r>
            <a:endParaRPr sz="900">
              <a:solidFill>
                <a:schemeClr val="accent4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Algunas imágenes (Fortinet, Palo Alto) requieren licencias no accesibles para estudiantes.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Sin interfaz gráfica nativa</a:t>
            </a:r>
            <a:endParaRPr sz="900">
              <a:solidFill>
                <a:schemeClr val="accent4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Todo se configura por terminal, YAML, Python y logs. Visualizar errores o flujos puede ser complejo.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 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Limitaciones formativas</a:t>
            </a:r>
            <a:endParaRPr sz="9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Somos estudiantes en proceso de aprendizaje</a:t>
            </a:r>
            <a:endParaRPr sz="900">
              <a:solidFill>
                <a:schemeClr val="accent4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Este fue nuestro primer contacto con Spine-Leaf, DMZ, ACLs, firewalls en serie, etc.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Muchas decisiones fueron resultado de prueba, error y ajuste</a:t>
            </a:r>
            <a:endParaRPr sz="900">
              <a:solidFill>
                <a:schemeClr val="accent4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Karla Light"/>
                <a:ea typeface="Karla Light"/>
                <a:cs typeface="Karla Light"/>
                <a:sym typeface="Karla Light"/>
              </a:rPr>
              <a:t>Un proceso valioso, pero que puede implicar simplificaciones o enfoques seguramente mejorables.</a:t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grpSp>
        <p:nvGrpSpPr>
          <p:cNvPr id="683" name="Google Shape;683;p40"/>
          <p:cNvGrpSpPr/>
          <p:nvPr/>
        </p:nvGrpSpPr>
        <p:grpSpPr>
          <a:xfrm>
            <a:off x="1523149" y="1428876"/>
            <a:ext cx="357509" cy="352595"/>
            <a:chOff x="-25834600" y="3915850"/>
            <a:chExt cx="300100" cy="295975"/>
          </a:xfrm>
        </p:grpSpPr>
        <p:sp>
          <p:nvSpPr>
            <p:cNvPr id="684" name="Google Shape;684;p40"/>
            <p:cNvSpPr/>
            <p:nvPr/>
          </p:nvSpPr>
          <p:spPr>
            <a:xfrm>
              <a:off x="-25677875" y="3915850"/>
              <a:ext cx="143375" cy="137675"/>
            </a:xfrm>
            <a:custGeom>
              <a:rect b="b" l="l" r="r" t="t"/>
              <a:pathLst>
                <a:path extrusionOk="0" h="5507" w="5735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-25834600" y="4167700"/>
              <a:ext cx="43350" cy="44125"/>
            </a:xfrm>
            <a:custGeom>
              <a:rect b="b" l="l" r="r" t="t"/>
              <a:pathLst>
                <a:path extrusionOk="0" h="1765" w="1734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-25800725" y="3972375"/>
              <a:ext cx="206375" cy="207950"/>
            </a:xfrm>
            <a:custGeom>
              <a:rect b="b" l="l" r="r" t="t"/>
              <a:pathLst>
                <a:path extrusionOk="0" h="8318" w="8255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687" name="Google Shape;687;p40"/>
          <p:cNvGrpSpPr/>
          <p:nvPr/>
        </p:nvGrpSpPr>
        <p:grpSpPr>
          <a:xfrm>
            <a:off x="1523149" y="3572651"/>
            <a:ext cx="357509" cy="352595"/>
            <a:chOff x="-25834600" y="3915850"/>
            <a:chExt cx="300100" cy="295975"/>
          </a:xfrm>
        </p:grpSpPr>
        <p:sp>
          <p:nvSpPr>
            <p:cNvPr id="688" name="Google Shape;688;p40"/>
            <p:cNvSpPr/>
            <p:nvPr/>
          </p:nvSpPr>
          <p:spPr>
            <a:xfrm>
              <a:off x="-25677875" y="3915850"/>
              <a:ext cx="143375" cy="137675"/>
            </a:xfrm>
            <a:custGeom>
              <a:rect b="b" l="l" r="r" t="t"/>
              <a:pathLst>
                <a:path extrusionOk="0" h="5507" w="5735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-25834600" y="4167700"/>
              <a:ext cx="43350" cy="44125"/>
            </a:xfrm>
            <a:custGeom>
              <a:rect b="b" l="l" r="r" t="t"/>
              <a:pathLst>
                <a:path extrusionOk="0" h="1765" w="1734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-25800725" y="3972375"/>
              <a:ext cx="206375" cy="207950"/>
            </a:xfrm>
            <a:custGeom>
              <a:rect b="b" l="l" r="r" t="t"/>
              <a:pathLst>
                <a:path extrusionOk="0" h="8318" w="8255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691" name="Google Shape;691;p40"/>
          <p:cNvGrpSpPr/>
          <p:nvPr/>
        </p:nvGrpSpPr>
        <p:grpSpPr>
          <a:xfrm>
            <a:off x="1880662" y="850136"/>
            <a:ext cx="299344" cy="351880"/>
            <a:chOff x="-27691025" y="3175300"/>
            <a:chExt cx="251275" cy="295375"/>
          </a:xfrm>
        </p:grpSpPr>
        <p:sp>
          <p:nvSpPr>
            <p:cNvPr id="692" name="Google Shape;692;p40"/>
            <p:cNvSpPr/>
            <p:nvPr/>
          </p:nvSpPr>
          <p:spPr>
            <a:xfrm>
              <a:off x="-27492550" y="3298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-27613050" y="3175300"/>
              <a:ext cx="60650" cy="105550"/>
            </a:xfrm>
            <a:custGeom>
              <a:rect b="b" l="l" r="r" t="t"/>
              <a:pathLst>
                <a:path extrusionOk="0" h="4222" w="2426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-27691025" y="3175300"/>
              <a:ext cx="60650" cy="105550"/>
            </a:xfrm>
            <a:custGeom>
              <a:rect b="b" l="l" r="r" t="t"/>
              <a:pathLst>
                <a:path extrusionOk="0" h="4222" w="2426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-27691025" y="3263500"/>
              <a:ext cx="251275" cy="207175"/>
            </a:xfrm>
            <a:custGeom>
              <a:rect b="b" l="l" r="r" t="t"/>
              <a:pathLst>
                <a:path extrusionOk="0" h="8287" w="10051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1"/>
          <p:cNvSpPr txBox="1"/>
          <p:nvPr/>
        </p:nvSpPr>
        <p:spPr>
          <a:xfrm>
            <a:off x="829975" y="801750"/>
            <a:ext cx="74223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Oleg Fernández-Llebrez Rodríguez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Oleg F. | LinkedIn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Laura Ramos Granados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 Laura Ramos Granados | LinkedIn</a:t>
            </a:r>
            <a:endParaRPr sz="11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Queremos agradecer profundamente a </a:t>
            </a:r>
            <a:r>
              <a:rPr lang="en" sz="1000">
                <a:solidFill>
                  <a:schemeClr val="accent1"/>
                </a:solidFill>
                <a:latin typeface="Karla Medium"/>
                <a:ea typeface="Karla Medium"/>
                <a:cs typeface="Karla Medium"/>
                <a:sym typeface="Karla Medium"/>
              </a:rPr>
              <a:t>Kyndryl</a:t>
            </a:r>
            <a:r>
              <a:rPr lang="en" sz="10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 por brindarnos la oportunidad de integrarnos en un entorno profesional de alto nivel, y por permitirnos aplicar y ampliar nuestros conocimientos en un contexto real.</a:t>
            </a:r>
            <a:endParaRPr sz="1000">
              <a:solidFill>
                <a:schemeClr val="accent4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En especial, agradecemos a nuestros tutores, </a:t>
            </a:r>
            <a:r>
              <a:rPr lang="en" sz="1000">
                <a:solidFill>
                  <a:schemeClr val="accent1"/>
                </a:solidFill>
                <a:latin typeface="Karla Medium"/>
                <a:ea typeface="Karla Medium"/>
                <a:cs typeface="Karla Medium"/>
                <a:sym typeface="Karla Medium"/>
              </a:rPr>
              <a:t>Daniel Gastelut y Carla María Platero</a:t>
            </a:r>
            <a:r>
              <a:rPr lang="en" sz="10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. </a:t>
            </a:r>
            <a:endParaRPr sz="1000">
              <a:solidFill>
                <a:schemeClr val="accent4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De manera muy especial, a </a:t>
            </a:r>
            <a:r>
              <a:rPr lang="en" sz="1000">
                <a:solidFill>
                  <a:schemeClr val="accent1"/>
                </a:solidFill>
                <a:latin typeface="Karla Medium"/>
                <a:ea typeface="Karla Medium"/>
                <a:cs typeface="Karla Medium"/>
                <a:sym typeface="Karla Medium"/>
              </a:rPr>
              <a:t>José Valle y Diego Gutiérrez</a:t>
            </a:r>
            <a:r>
              <a:rPr lang="en" sz="1000">
                <a:solidFill>
                  <a:schemeClr val="accent4"/>
                </a:solidFill>
                <a:latin typeface="Karla"/>
                <a:ea typeface="Karla"/>
                <a:cs typeface="Karla"/>
                <a:sym typeface="Karla"/>
              </a:rPr>
              <a:t>, por su cercanía, orientación y apoyo constante durante esta etapa.</a:t>
            </a:r>
            <a:endParaRPr sz="10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701" name="Google Shape;701;p41"/>
          <p:cNvSpPr txBox="1"/>
          <p:nvPr>
            <p:ph idx="4294967295" type="title"/>
          </p:nvPr>
        </p:nvSpPr>
        <p:spPr>
          <a:xfrm>
            <a:off x="2129625" y="503325"/>
            <a:ext cx="60756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Gracias por su atención</a:t>
            </a:r>
            <a:endParaRPr sz="2500">
              <a:solidFill>
                <a:schemeClr val="accent6"/>
              </a:solidFill>
            </a:endParaRPr>
          </a:p>
        </p:txBody>
      </p:sp>
      <p:grpSp>
        <p:nvGrpSpPr>
          <p:cNvPr id="702" name="Google Shape;702;p41"/>
          <p:cNvGrpSpPr/>
          <p:nvPr/>
        </p:nvGrpSpPr>
        <p:grpSpPr>
          <a:xfrm>
            <a:off x="3531920" y="1277386"/>
            <a:ext cx="192856" cy="181516"/>
            <a:chOff x="1379798" y="1723250"/>
            <a:chExt cx="397887" cy="397887"/>
          </a:xfrm>
        </p:grpSpPr>
        <p:sp>
          <p:nvSpPr>
            <p:cNvPr id="703" name="Google Shape;703;p41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1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1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1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41"/>
          <p:cNvGrpSpPr/>
          <p:nvPr/>
        </p:nvGrpSpPr>
        <p:grpSpPr>
          <a:xfrm>
            <a:off x="3013195" y="1820361"/>
            <a:ext cx="192856" cy="181516"/>
            <a:chOff x="1379798" y="1723250"/>
            <a:chExt cx="397887" cy="397887"/>
          </a:xfrm>
        </p:grpSpPr>
        <p:sp>
          <p:nvSpPr>
            <p:cNvPr id="708" name="Google Shape;708;p41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1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1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1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41"/>
          <p:cNvSpPr txBox="1"/>
          <p:nvPr/>
        </p:nvSpPr>
        <p:spPr>
          <a:xfrm>
            <a:off x="3244250" y="3253375"/>
            <a:ext cx="30000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Karla Light"/>
                <a:ea typeface="Karla Light"/>
                <a:cs typeface="Karla Light"/>
                <a:sym typeface="Karla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LaoLink Consulting | GitHub Organizations</a:t>
            </a:r>
            <a:endParaRPr sz="1000">
              <a:solidFill>
                <a:schemeClr val="accent1"/>
              </a:solidFill>
              <a:latin typeface="Karla Light"/>
              <a:ea typeface="Karla Light"/>
              <a:cs typeface="Karla Light"/>
              <a:sym typeface="Karl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 u="sng">
                <a:solidFill>
                  <a:schemeClr val="accent1"/>
                </a:solidFill>
                <a:latin typeface="Karla Light"/>
                <a:ea typeface="Karla Light"/>
                <a:cs typeface="Karla Light"/>
                <a:sym typeface="Karla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Proyecto | GitHub Repositories</a:t>
            </a:r>
            <a:endParaRPr sz="1000">
              <a:solidFill>
                <a:schemeClr val="accent1"/>
              </a:solidFill>
              <a:latin typeface="Karla Light"/>
              <a:ea typeface="Karla Light"/>
              <a:cs typeface="Karla Light"/>
              <a:sym typeface="Karla Light"/>
            </a:endParaRPr>
          </a:p>
        </p:txBody>
      </p:sp>
      <p:pic>
        <p:nvPicPr>
          <p:cNvPr id="713" name="Google Shape;713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57250" y="3518050"/>
            <a:ext cx="323850" cy="323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4" name="Google Shape;714;p41"/>
          <p:cNvGrpSpPr/>
          <p:nvPr/>
        </p:nvGrpSpPr>
        <p:grpSpPr>
          <a:xfrm>
            <a:off x="1642427" y="578151"/>
            <a:ext cx="355663" cy="308725"/>
            <a:chOff x="-28462125" y="3199700"/>
            <a:chExt cx="298550" cy="259150"/>
          </a:xfrm>
        </p:grpSpPr>
        <p:sp>
          <p:nvSpPr>
            <p:cNvPr id="715" name="Google Shape;715;p41"/>
            <p:cNvSpPr/>
            <p:nvPr/>
          </p:nvSpPr>
          <p:spPr>
            <a:xfrm>
              <a:off x="-28459750" y="3284775"/>
              <a:ext cx="296175" cy="104775"/>
            </a:xfrm>
            <a:custGeom>
              <a:rect b="b" l="l" r="r" t="t"/>
              <a:pathLst>
                <a:path extrusionOk="0" h="4191" w="11847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1"/>
            <p:cNvSpPr/>
            <p:nvPr/>
          </p:nvSpPr>
          <p:spPr>
            <a:xfrm>
              <a:off x="-28462125" y="3199700"/>
              <a:ext cx="295400" cy="125275"/>
            </a:xfrm>
            <a:custGeom>
              <a:rect b="b" l="l" r="r" t="t"/>
              <a:pathLst>
                <a:path extrusionOk="0" h="5011" w="11816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1"/>
            <p:cNvSpPr/>
            <p:nvPr/>
          </p:nvSpPr>
          <p:spPr>
            <a:xfrm>
              <a:off x="-28405400" y="3360375"/>
              <a:ext cx="186675" cy="98475"/>
            </a:xfrm>
            <a:custGeom>
              <a:rect b="b" l="l" r="r" t="t"/>
              <a:pathLst>
                <a:path extrusionOk="0" h="3939" w="7467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yber-Futuristic AI Technology Thesis Defense by Slidesgo">
  <a:themeElements>
    <a:clrScheme name="Simple Light">
      <a:dk1>
        <a:srgbClr val="031126"/>
      </a:dk1>
      <a:lt1>
        <a:srgbClr val="FFFFFF"/>
      </a:lt1>
      <a:dk2>
        <a:srgbClr val="10355F"/>
      </a:dk2>
      <a:lt2>
        <a:srgbClr val="3B8794"/>
      </a:lt2>
      <a:accent1>
        <a:srgbClr val="51AF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