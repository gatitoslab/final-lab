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Audiowide" panose="020B0604020202020204" charset="0"/>
      <p:regular r:id="rId21"/>
    </p:embeddedFont>
    <p:embeddedFont>
      <p:font typeface="Bebas Neue" panose="020B0606020202050201" pitchFamily="34" charset="0"/>
      <p:regular r:id="rId22"/>
    </p:embeddedFont>
    <p:embeddedFont>
      <p:font typeface="Dosis" pitchFamily="2" charset="0"/>
      <p:regular r:id="rId23"/>
      <p:bold r:id="rId24"/>
    </p:embeddedFont>
    <p:embeddedFont>
      <p:font typeface="Dosis Light" pitchFamily="2" charset="0"/>
      <p:regular r:id="rId25"/>
      <p:bold r:id="rId26"/>
    </p:embeddedFont>
    <p:embeddedFont>
      <p:font typeface="Karla" pitchFamily="2" charset="0"/>
      <p:regular r:id="rId27"/>
      <p:bold r:id="rId28"/>
      <p:italic r:id="rId29"/>
      <p:boldItalic r:id="rId30"/>
    </p:embeddedFont>
    <p:embeddedFont>
      <p:font typeface="Karla Light" pitchFamily="2" charset="0"/>
      <p:regular r:id="rId31"/>
      <p:bold r:id="rId32"/>
      <p:italic r:id="rId33"/>
      <p:boldItalic r:id="rId34"/>
    </p:embeddedFont>
    <p:embeddedFont>
      <p:font typeface="Karla Medium" pitchFamily="2" charset="0"/>
      <p:regular r:id="rId35"/>
      <p:bold r:id="rId36"/>
      <p:italic r:id="rId37"/>
      <p:boldItalic r:id="rId38"/>
    </p:embeddedFont>
    <p:embeddedFont>
      <p:font typeface="Khand" panose="020B0604020202020204" charset="0"/>
      <p:regular r:id="rId39"/>
      <p:bold r:id="rId40"/>
    </p:embeddedFont>
    <p:embeddedFont>
      <p:font typeface="Manrope" panose="020B0604020202020204" charset="0"/>
      <p:regular r:id="rId41"/>
      <p:bold r:id="rId42"/>
    </p:embeddedFont>
    <p:embeddedFont>
      <p:font typeface="Nunito Light" pitchFamily="2" charset="0"/>
      <p:regular r:id="rId43"/>
      <p:italic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5E2333-3B21-44D1-9068-5403983961C8}">
  <a:tblStyle styleId="{B75E2333-3B21-44D1-9068-5403983961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>
        <a:srgbClr val="FFFFFF"/>
      </a:tcTxStyle>
      <a:tcStyle>
        <a:tcBdr/>
        <a:fill>
          <a:solidFill>
            <a:srgbClr val="00000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6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font" Target="fonts/font30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Introducción</a:t>
            </a:r>
            <a:r>
              <a:rPr lang="en-US" dirty="0"/>
              <a:t> – Laura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Contexto</a:t>
            </a:r>
            <a:r>
              <a:rPr lang="en-US" dirty="0"/>
              <a:t> y </a:t>
            </a:r>
            <a:r>
              <a:rPr lang="en-US" dirty="0" err="1"/>
              <a:t>proposito</a:t>
            </a:r>
            <a:r>
              <a:rPr lang="en-US" dirty="0"/>
              <a:t> –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Marco </a:t>
            </a:r>
            <a:r>
              <a:rPr lang="en-US" dirty="0" err="1"/>
              <a:t>situacional</a:t>
            </a:r>
            <a:r>
              <a:rPr lang="en-US" dirty="0"/>
              <a:t> – Oleg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- Centro de </a:t>
            </a:r>
            <a:r>
              <a:rPr lang="en-US" dirty="0" err="1"/>
              <a:t>salud</a:t>
            </a:r>
            <a:r>
              <a:rPr lang="en-US" dirty="0"/>
              <a:t> son </a:t>
            </a:r>
            <a:r>
              <a:rPr lang="en-US" dirty="0" err="1"/>
              <a:t>críticos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Seguridad</a:t>
            </a:r>
            <a:r>
              <a:rPr lang="en-US" dirty="0"/>
              <a:t> ante </a:t>
            </a:r>
            <a:r>
              <a:rPr lang="en-US" dirty="0" err="1"/>
              <a:t>posibles</a:t>
            </a:r>
            <a:r>
              <a:rPr lang="en-US" dirty="0"/>
              <a:t> zero days (</a:t>
            </a:r>
            <a:r>
              <a:rPr lang="en-US" dirty="0" err="1"/>
              <a:t>actualizaciones</a:t>
            </a:r>
            <a:r>
              <a:rPr lang="en-U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- Portal de </a:t>
            </a:r>
            <a:r>
              <a:rPr lang="en-US" dirty="0" err="1"/>
              <a:t>reservas</a:t>
            </a:r>
            <a:r>
              <a:rPr lang="en-US" dirty="0"/>
              <a:t> </a:t>
            </a:r>
            <a:r>
              <a:rPr lang="en-US" dirty="0" err="1"/>
              <a:t>propias</a:t>
            </a:r>
            <a:r>
              <a:rPr lang="en-US" dirty="0"/>
              <a:t> del </a:t>
            </a:r>
            <a:r>
              <a:rPr lang="en-US" dirty="0" err="1"/>
              <a:t>centro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- </a:t>
            </a:r>
            <a:r>
              <a:rPr lang="en-US" dirty="0" err="1"/>
              <a:t>Cámaras</a:t>
            </a:r>
            <a:r>
              <a:rPr lang="en-US" dirty="0"/>
              <a:t> de </a:t>
            </a:r>
            <a:r>
              <a:rPr lang="en-US" dirty="0" err="1"/>
              <a:t>seguridad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plantas</a:t>
            </a:r>
            <a:r>
              <a:rPr lang="en-US" dirty="0"/>
              <a:t> del </a:t>
            </a:r>
            <a:r>
              <a:rPr lang="en-US" dirty="0" err="1"/>
              <a:t>centro</a:t>
            </a:r>
            <a:br>
              <a:rPr lang="en-US" dirty="0"/>
            </a:br>
            <a:r>
              <a:rPr lang="en-US" dirty="0"/>
              <a:t>- Red de </a:t>
            </a:r>
            <a:r>
              <a:rPr lang="en-US" dirty="0" err="1"/>
              <a:t>invitados</a:t>
            </a:r>
            <a:r>
              <a:rPr lang="en-US" dirty="0"/>
              <a:t> con radius (</a:t>
            </a:r>
            <a:r>
              <a:rPr lang="en-US" dirty="0" err="1"/>
              <a:t>abierta</a:t>
            </a:r>
            <a:r>
              <a:rPr lang="en-US" dirty="0"/>
              <a:t> y </a:t>
            </a:r>
            <a:r>
              <a:rPr lang="en-US" dirty="0" err="1"/>
              <a:t>otro</a:t>
            </a:r>
            <a:r>
              <a:rPr lang="en-US" dirty="0"/>
              <a:t> con portal </a:t>
            </a:r>
            <a:r>
              <a:rPr lang="en-US" dirty="0" err="1"/>
              <a:t>cautivo</a:t>
            </a:r>
            <a:r>
              <a:rPr lang="en-US" dirty="0"/>
              <a:t> para </a:t>
            </a:r>
            <a:r>
              <a:rPr lang="en-US" dirty="0" err="1"/>
              <a:t>habitaciones</a:t>
            </a:r>
            <a:r>
              <a:rPr lang="en-US" dirty="0"/>
              <a:t> para </a:t>
            </a:r>
            <a:r>
              <a:rPr lang="en-US" dirty="0" err="1"/>
              <a:t>logearse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d5260bdd8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d5260bdd8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Propuesta</a:t>
            </a:r>
            <a:r>
              <a:rPr lang="en-US" dirty="0"/>
              <a:t> – Oleg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Separación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VLANs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Redundancia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conexiones</a:t>
            </a:r>
            <a:r>
              <a:rPr lang="en-US" dirty="0"/>
              <a:t> con HSRP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spine,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nuestro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ECMP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falta</a:t>
            </a:r>
            <a:r>
              <a:rPr lang="en-US" dirty="0"/>
              <a:t> de switch L3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Alojamiento</a:t>
            </a:r>
            <a:r>
              <a:rPr lang="en-US" dirty="0"/>
              <a:t> de </a:t>
            </a:r>
            <a:r>
              <a:rPr lang="en-US" dirty="0" err="1"/>
              <a:t>paginas</a:t>
            </a:r>
            <a:r>
              <a:rPr lang="en-US" dirty="0"/>
              <a:t> webs </a:t>
            </a:r>
            <a:r>
              <a:rPr lang="en-US" dirty="0" err="1"/>
              <a:t>internas</a:t>
            </a:r>
            <a:r>
              <a:rPr lang="en-US" dirty="0"/>
              <a:t> de a </a:t>
            </a:r>
            <a:r>
              <a:rPr lang="en-US" dirty="0" err="1"/>
              <a:t>clinica</a:t>
            </a:r>
            <a:br>
              <a:rPr lang="en-US" dirty="0"/>
            </a:br>
            <a:r>
              <a:rPr lang="en-US" dirty="0"/>
              <a:t>- Acceso </a:t>
            </a:r>
            <a:r>
              <a:rPr lang="en-US" dirty="0" err="1"/>
              <a:t>por</a:t>
            </a:r>
            <a:r>
              <a:rPr lang="en-US" dirty="0"/>
              <a:t> SSH con VPN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Diseño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de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topología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– Oleg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Leafs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por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plantas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de la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clínica</a:t>
            </a:r>
            <a:endParaRPr lang="en-US" sz="1200" b="0" i="0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Redundancia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entre spines,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si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se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cae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un spine,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el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trafico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se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redirige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al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otro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spine ECMP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Fortinet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en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el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extremo perimetral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Palo alto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como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interno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gestionando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el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DMZ también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Borders switch L2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Problema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con SWITCH L3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Borders leaf L2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DNS_SERVER, DHCP_SERVER, BASE_DATOS, HOST_GESTION   ----- 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Debian:latest</a:t>
            </a:r>
            <a:endParaRPr lang="en-US" sz="1200" b="0" i="0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camara1, camara2, camara3, camara4,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host_gestion_camaras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 ----- 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alpine:latest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host_gamma_knife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host_electro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host_pruebas_medicas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         -----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alpine:latest</a:t>
            </a:r>
            <a:b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- Para </a:t>
            </a:r>
            <a:r>
              <a:rPr lang="en-US" sz="1200" b="0" i="0" dirty="0" err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pruebas</a:t>
            </a:r>
            <a:r>
              <a:rPr lang="en-US" sz="1200" b="0" i="0" dirty="0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                                                                               ----- </a:t>
            </a:r>
            <a:r>
              <a:rPr lang="en-US" sz="2000" dirty="0" err="1">
                <a:solidFill>
                  <a:srgbClr val="BCBEC4"/>
                </a:solidFill>
                <a:effectLst/>
              </a:rPr>
              <a:t>nicolaka</a:t>
            </a:r>
            <a:r>
              <a:rPr lang="en-US" sz="2000" dirty="0">
                <a:solidFill>
                  <a:srgbClr val="BCBEC4"/>
                </a:solidFill>
                <a:effectLst/>
              </a:rPr>
              <a:t>/</a:t>
            </a:r>
            <a:r>
              <a:rPr lang="en-US" sz="2000" dirty="0" err="1">
                <a:solidFill>
                  <a:srgbClr val="BCBEC4"/>
                </a:solidFill>
                <a:effectLst/>
              </a:rPr>
              <a:t>netshoot:latest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SPINE –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deb22303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5deb22303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Leaf –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deb22303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deb223035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Border-Leaf –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deb22303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5deb22303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Separación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zonas </a:t>
            </a:r>
            <a:r>
              <a:rPr lang="en-US" dirty="0" err="1"/>
              <a:t>fucionales</a:t>
            </a:r>
            <a:r>
              <a:rPr lang="en-US" dirty="0"/>
              <a:t> – Oleg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Implementación</a:t>
            </a:r>
            <a:r>
              <a:rPr lang="en-US" dirty="0"/>
              <a:t> de inter-</a:t>
            </a:r>
            <a:r>
              <a:rPr lang="en-US" dirty="0" err="1"/>
              <a:t>vlan</a:t>
            </a:r>
            <a:r>
              <a:rPr lang="en-US" dirty="0"/>
              <a:t> routing </a:t>
            </a:r>
            <a:r>
              <a:rPr lang="en-US" dirty="0" err="1"/>
              <a:t>segmentación</a:t>
            </a:r>
            <a:r>
              <a:rPr lang="en-US" dirty="0"/>
              <a:t> de </a:t>
            </a:r>
            <a:r>
              <a:rPr lang="en-US" dirty="0" err="1"/>
              <a:t>tráfico</a:t>
            </a:r>
            <a:r>
              <a:rPr lang="en-US" dirty="0"/>
              <a:t> a L2</a:t>
            </a:r>
            <a:br>
              <a:rPr lang="en-US" dirty="0"/>
            </a:br>
            <a:r>
              <a:rPr lang="en-US" dirty="0"/>
              <a:t>- División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sublans</a:t>
            </a:r>
            <a:r>
              <a:rPr lang="en-US" dirty="0"/>
              <a:t> 11-14 21-24 31-34 (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pisos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Uso de 802.1Q y trunk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deb22303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deb22303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Zona </a:t>
            </a:r>
            <a:r>
              <a:rPr lang="en-US" dirty="0" err="1"/>
              <a:t>desmilitarizada</a:t>
            </a:r>
            <a:r>
              <a:rPr lang="en-US" dirty="0"/>
              <a:t> – Oleg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segmento</a:t>
            </a:r>
            <a:r>
              <a:rPr lang="en-US" dirty="0"/>
              <a:t> </a:t>
            </a:r>
            <a:r>
              <a:rPr lang="en-US" dirty="0" err="1"/>
              <a:t>aislado</a:t>
            </a:r>
            <a:r>
              <a:rPr lang="en-US" dirty="0"/>
              <a:t> al resto de </a:t>
            </a:r>
            <a:r>
              <a:rPr lang="en-US" dirty="0" err="1"/>
              <a:t>equipos</a:t>
            </a:r>
            <a:r>
              <a:rPr lang="en-US" dirty="0"/>
              <a:t> de la red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Defensa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profundida</a:t>
            </a:r>
            <a:r>
              <a:rPr lang="en-US" dirty="0"/>
              <a:t>, primero </a:t>
            </a:r>
            <a:r>
              <a:rPr lang="en-US" dirty="0" err="1"/>
              <a:t>el</a:t>
            </a:r>
            <a:r>
              <a:rPr lang="en-US" dirty="0"/>
              <a:t> FW perimetral, luego </a:t>
            </a:r>
            <a:r>
              <a:rPr lang="en-US" dirty="0" err="1"/>
              <a:t>paloalto</a:t>
            </a:r>
            <a:r>
              <a:rPr lang="en-US" dirty="0"/>
              <a:t> y luego DMZ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/>
              <a:t>Posibilidad</a:t>
            </a:r>
            <a:r>
              <a:rPr lang="en-US" dirty="0"/>
              <a:t> de </a:t>
            </a:r>
            <a:r>
              <a:rPr lang="en-US" dirty="0" err="1"/>
              <a:t>monitorizacion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deb22303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5deb22303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Firewalls –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Implementación</a:t>
            </a:r>
            <a:r>
              <a:rPr lang="en-US" dirty="0"/>
              <a:t> de backups de la </a:t>
            </a:r>
            <a:r>
              <a:rPr lang="en-US" dirty="0" err="1"/>
              <a:t>configuración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deb223035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5deb223035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Fortinet &amp; </a:t>
            </a:r>
            <a:r>
              <a:rPr lang="en-US" dirty="0" err="1"/>
              <a:t>Paloalto</a:t>
            </a:r>
            <a:r>
              <a:rPr lang="en-US" dirty="0"/>
              <a:t> –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deb223035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5deb223035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Entornos</a:t>
            </a:r>
            <a:r>
              <a:rPr lang="en-US" dirty="0"/>
              <a:t> de </a:t>
            </a:r>
            <a:r>
              <a:rPr lang="en-US" dirty="0" err="1"/>
              <a:t>pruebas</a:t>
            </a:r>
            <a:r>
              <a:rPr lang="en-US" dirty="0"/>
              <a:t> – Oleg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- </a:t>
            </a:r>
            <a:r>
              <a:rPr lang="en-US" dirty="0" err="1"/>
              <a:t>Problemas</a:t>
            </a:r>
            <a:r>
              <a:rPr lang="en-US" dirty="0"/>
              <a:t> con routers L3 y switch L3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Problemas</a:t>
            </a:r>
            <a:r>
              <a:rPr lang="en-US" dirty="0"/>
              <a:t> con </a:t>
            </a:r>
            <a:r>
              <a:rPr lang="en-US" dirty="0" err="1">
                <a:solidFill>
                  <a:srgbClr val="BCBEC4"/>
                </a:solidFill>
                <a:effectLst/>
              </a:rPr>
              <a:t>nicolaka</a:t>
            </a:r>
            <a:r>
              <a:rPr lang="en-US" dirty="0">
                <a:solidFill>
                  <a:srgbClr val="BCBEC4"/>
                </a:solidFill>
                <a:effectLst/>
              </a:rPr>
              <a:t>/</a:t>
            </a:r>
            <a:r>
              <a:rPr lang="en-US" dirty="0" err="1">
                <a:solidFill>
                  <a:srgbClr val="BCBEC4"/>
                </a:solidFill>
                <a:effectLst/>
              </a:rPr>
              <a:t>netshoot:latest</a:t>
            </a:r>
            <a:r>
              <a:rPr lang="en-US" dirty="0">
                <a:solidFill>
                  <a:srgbClr val="BCBEC4"/>
                </a:solidFill>
                <a:effectLst/>
              </a:rPr>
              <a:t> para </a:t>
            </a:r>
            <a:r>
              <a:rPr lang="en-US" dirty="0" err="1">
                <a:solidFill>
                  <a:srgbClr val="BCBEC4"/>
                </a:solidFill>
                <a:effectLst/>
              </a:rPr>
              <a:t>los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en-US" dirty="0" err="1">
                <a:solidFill>
                  <a:srgbClr val="BCBEC4"/>
                </a:solidFill>
                <a:effectLst/>
              </a:rPr>
              <a:t>testeos</a:t>
            </a:r>
            <a:endParaRPr lang="en-US" dirty="0">
              <a:solidFill>
                <a:srgbClr val="BCBEC4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BCBEC4"/>
                </a:solidFill>
                <a:effectLst/>
              </a:rPr>
              <a:t>- </a:t>
            </a:r>
            <a:r>
              <a:rPr lang="en-US" dirty="0" err="1">
                <a:solidFill>
                  <a:srgbClr val="BCBEC4"/>
                </a:solidFill>
                <a:effectLst/>
              </a:rPr>
              <a:t>Cambiar</a:t>
            </a:r>
            <a:r>
              <a:rPr lang="en-US" dirty="0">
                <a:solidFill>
                  <a:srgbClr val="BCBEC4"/>
                </a:solidFill>
                <a:effectLst/>
              </a:rPr>
              <a:t> de inter-</a:t>
            </a:r>
            <a:r>
              <a:rPr lang="en-US" dirty="0" err="1">
                <a:solidFill>
                  <a:srgbClr val="BCBEC4"/>
                </a:solidFill>
                <a:effectLst/>
              </a:rPr>
              <a:t>vlan</a:t>
            </a:r>
            <a:r>
              <a:rPr lang="en-US" dirty="0">
                <a:solidFill>
                  <a:srgbClr val="BCBEC4"/>
                </a:solidFill>
                <a:effectLst/>
              </a:rPr>
              <a:t> routing al </a:t>
            </a:r>
            <a:r>
              <a:rPr lang="en-US" dirty="0" err="1">
                <a:solidFill>
                  <a:srgbClr val="BCBEC4"/>
                </a:solidFill>
                <a:effectLst/>
              </a:rPr>
              <a:t>routeo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en-US" dirty="0" err="1">
                <a:solidFill>
                  <a:srgbClr val="BCBEC4"/>
                </a:solidFill>
                <a:effectLst/>
              </a:rPr>
              <a:t>por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en-US" dirty="0" err="1">
                <a:solidFill>
                  <a:srgbClr val="BCBEC4"/>
                </a:solidFill>
                <a:effectLst/>
              </a:rPr>
              <a:t>el</a:t>
            </a:r>
            <a:r>
              <a:rPr lang="en-US" dirty="0">
                <a:solidFill>
                  <a:srgbClr val="BCBEC4"/>
                </a:solidFill>
                <a:effectLst/>
              </a:rPr>
              <a:t> firewall de palo alto y </a:t>
            </a:r>
            <a:r>
              <a:rPr lang="en-US" dirty="0" err="1">
                <a:solidFill>
                  <a:srgbClr val="BCBEC4"/>
                </a:solidFill>
                <a:effectLst/>
              </a:rPr>
              <a:t>vlans</a:t>
            </a:r>
            <a:r>
              <a:rPr lang="en-US" dirty="0">
                <a:solidFill>
                  <a:srgbClr val="BCBEC4"/>
                </a:solidFill>
                <a:effectLst/>
              </a:rPr>
              <a:t> también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- </a:t>
            </a:r>
            <a:r>
              <a:rPr lang="en-US" dirty="0" err="1">
                <a:solidFill>
                  <a:srgbClr val="BCBEC4"/>
                </a:solidFill>
                <a:effectLst/>
              </a:rPr>
              <a:t>Posibilidad</a:t>
            </a:r>
            <a:r>
              <a:rPr lang="en-US" dirty="0">
                <a:solidFill>
                  <a:srgbClr val="BCBEC4"/>
                </a:solidFill>
                <a:effectLst/>
              </a:rPr>
              <a:t> de meter ACLs, </a:t>
            </a:r>
            <a:r>
              <a:rPr lang="en-US" dirty="0" err="1">
                <a:solidFill>
                  <a:srgbClr val="BCBEC4"/>
                </a:solidFill>
                <a:effectLst/>
              </a:rPr>
              <a:t>pero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en-US" dirty="0" err="1">
                <a:solidFill>
                  <a:srgbClr val="BCBEC4"/>
                </a:solidFill>
                <a:effectLst/>
              </a:rPr>
              <a:t>entonces</a:t>
            </a:r>
            <a:r>
              <a:rPr lang="en-US" dirty="0">
                <a:solidFill>
                  <a:srgbClr val="BCBEC4"/>
                </a:solidFill>
                <a:effectLst/>
              </a:rPr>
              <a:t> la carga la </a:t>
            </a:r>
            <a:r>
              <a:rPr lang="en-US" dirty="0" err="1">
                <a:solidFill>
                  <a:srgbClr val="BCBEC4"/>
                </a:solidFill>
                <a:effectLst/>
              </a:rPr>
              <a:t>llevarían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en-US" dirty="0" err="1">
                <a:solidFill>
                  <a:srgbClr val="BCBEC4"/>
                </a:solidFill>
                <a:effectLst/>
              </a:rPr>
              <a:t>los</a:t>
            </a:r>
            <a:r>
              <a:rPr lang="en-US" dirty="0">
                <a:solidFill>
                  <a:srgbClr val="BCBEC4"/>
                </a:solidFill>
                <a:effectLst/>
              </a:rPr>
              <a:t> routers y no </a:t>
            </a:r>
            <a:r>
              <a:rPr lang="en-US" dirty="0" err="1">
                <a:solidFill>
                  <a:srgbClr val="BCBEC4"/>
                </a:solidFill>
                <a:effectLst/>
              </a:rPr>
              <a:t>el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en-US" dirty="0" err="1">
                <a:solidFill>
                  <a:srgbClr val="BCBEC4"/>
                </a:solidFill>
                <a:effectLst/>
              </a:rPr>
              <a:t>paloalto</a:t>
            </a:r>
            <a:endParaRPr lang="en-US" dirty="0">
              <a:solidFill>
                <a:srgbClr val="BCBEC4"/>
              </a:solidFill>
              <a:effectLst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deb223035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deb223035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Protocolos</a:t>
            </a:r>
            <a:r>
              <a:rPr lang="en-US" dirty="0"/>
              <a:t> a </a:t>
            </a:r>
            <a:r>
              <a:rPr lang="en-US" dirty="0" err="1"/>
              <a:t>implementar</a:t>
            </a:r>
            <a:r>
              <a:rPr lang="en-US" dirty="0"/>
              <a:t> – Oleg &amp; Laura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NTP para </a:t>
            </a:r>
            <a:r>
              <a:rPr lang="en-US" dirty="0" err="1"/>
              <a:t>sincronizaciones</a:t>
            </a:r>
            <a:r>
              <a:rPr lang="en-US" dirty="0"/>
              <a:t> entre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DPI </a:t>
            </a:r>
            <a:r>
              <a:rPr lang="en-US" dirty="0" err="1"/>
              <a:t>inspección</a:t>
            </a:r>
            <a:r>
              <a:rPr lang="en-US" dirty="0"/>
              <a:t> de </a:t>
            </a:r>
            <a:r>
              <a:rPr lang="en-US" dirty="0" err="1"/>
              <a:t>paquetes</a:t>
            </a:r>
            <a:r>
              <a:rPr lang="en-US" dirty="0"/>
              <a:t> mas </a:t>
            </a:r>
            <a:r>
              <a:rPr lang="en-US" dirty="0" err="1"/>
              <a:t>alla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encabezados</a:t>
            </a:r>
            <a:r>
              <a:rPr lang="en-US" dirty="0"/>
              <a:t> L2-L3-L4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DSCP que </a:t>
            </a:r>
            <a:r>
              <a:rPr lang="en-US" dirty="0" err="1"/>
              <a:t>sirven</a:t>
            </a:r>
            <a:r>
              <a:rPr lang="en-US" dirty="0"/>
              <a:t> para </a:t>
            </a:r>
            <a:r>
              <a:rPr lang="en-US" dirty="0" err="1"/>
              <a:t>marcar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paquetes</a:t>
            </a:r>
            <a:r>
              <a:rPr lang="en-US" dirty="0"/>
              <a:t> y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aplicar</a:t>
            </a:r>
            <a:r>
              <a:rPr lang="en-US" dirty="0"/>
              <a:t> QoS 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de red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5deb223035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5deb223035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Limitaciones</a:t>
            </a:r>
            <a:r>
              <a:rPr lang="en-US" dirty="0"/>
              <a:t> y </a:t>
            </a:r>
            <a:r>
              <a:rPr lang="en-US" dirty="0" err="1"/>
              <a:t>mejoras</a:t>
            </a:r>
            <a:r>
              <a:rPr lang="en-US" dirty="0"/>
              <a:t> – Laura &amp; Oleg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1825" y="1554825"/>
            <a:ext cx="4010400" cy="193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1825" y="3635475"/>
            <a:ext cx="4010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osis Light"/>
                <a:ea typeface="Dosis Light"/>
                <a:cs typeface="Dosis Light"/>
                <a:sym typeface="Dosi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0000" y="2490600"/>
            <a:ext cx="39084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42800" y="1521525"/>
            <a:ext cx="946200" cy="92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0000" y="3167125"/>
            <a:ext cx="3908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783" y="-1459214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215743"/>
            <a:ext cx="7704000" cy="28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1583075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643717" y="-124314"/>
            <a:ext cx="4681385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166283" y="330373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75267" y="-3073389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978750" y="1536500"/>
            <a:ext cx="3748200" cy="19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42" name="Google Shape;4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00517" y="1758711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1018025" y="1369050"/>
            <a:ext cx="30960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1018025" y="2753450"/>
            <a:ext cx="3096000" cy="9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-49950" y="-45450"/>
            <a:ext cx="9243900" cy="52344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489250" y="4014450"/>
            <a:ext cx="41655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98388"/>
            <a:ext cx="6576000" cy="14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1284000" y="3248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796117" y="282086"/>
            <a:ext cx="4681385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299883" y="78913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"/>
          </p:nvPr>
        </p:nvSpPr>
        <p:spPr>
          <a:xfrm>
            <a:off x="341925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720000" y="400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4"/>
          </p:nvPr>
        </p:nvSpPr>
        <p:spPr>
          <a:xfrm>
            <a:off x="3419250" y="400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5"/>
          </p:nvPr>
        </p:nvSpPr>
        <p:spPr>
          <a:xfrm>
            <a:off x="6118548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6118548" y="400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27170"/>
            <a:ext cx="734700" cy="71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65305"/>
            <a:ext cx="734700" cy="71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51" y="1227170"/>
            <a:ext cx="734700" cy="71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51" y="2965305"/>
            <a:ext cx="734700" cy="71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27170"/>
            <a:ext cx="734700" cy="71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65305"/>
            <a:ext cx="734700" cy="71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6"/>
          </p:nvPr>
        </p:nvSpPr>
        <p:spPr>
          <a:xfrm>
            <a:off x="720000" y="20565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7"/>
          </p:nvPr>
        </p:nvSpPr>
        <p:spPr>
          <a:xfrm>
            <a:off x="3419250" y="20565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8"/>
          </p:nvPr>
        </p:nvSpPr>
        <p:spPr>
          <a:xfrm>
            <a:off x="6118548" y="20565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9"/>
          </p:nvPr>
        </p:nvSpPr>
        <p:spPr>
          <a:xfrm>
            <a:off x="720000" y="37948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0"/>
          </p:nvPr>
        </p:nvSpPr>
        <p:spPr>
          <a:xfrm>
            <a:off x="3419250" y="37948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1"/>
          </p:nvPr>
        </p:nvSpPr>
        <p:spPr>
          <a:xfrm>
            <a:off x="6118548" y="37948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2793450" y="3100300"/>
            <a:ext cx="55623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2793300" y="1511325"/>
            <a:ext cx="5562300" cy="14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555208" y="-3834114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720000" y="1354375"/>
            <a:ext cx="30831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083100" cy="8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>
            <a:spLocks noGrp="1"/>
          </p:cNvSpPr>
          <p:nvPr>
            <p:ph type="pic" idx="2"/>
          </p:nvPr>
        </p:nvSpPr>
        <p:spPr>
          <a:xfrm>
            <a:off x="4888775" y="800700"/>
            <a:ext cx="3542100" cy="3542100"/>
          </a:xfrm>
          <a:prstGeom prst="rect">
            <a:avLst/>
          </a:prstGeom>
          <a:noFill/>
          <a:ln>
            <a:noFill/>
          </a:ln>
        </p:spPr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75267" y="-3073389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bg>
      <p:bgPr>
        <a:solidFill>
          <a:schemeClr val="dk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720000" y="1821450"/>
            <a:ext cx="3622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1"/>
          </p:nvPr>
        </p:nvSpPr>
        <p:spPr>
          <a:xfrm>
            <a:off x="720000" y="2317950"/>
            <a:ext cx="36228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539400" y="2100850"/>
            <a:ext cx="4891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3539400" y="2597350"/>
            <a:ext cx="48915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bg>
      <p:bgPr>
        <a:solidFill>
          <a:schemeClr val="dk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4807749" y="1821450"/>
            <a:ext cx="3376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1"/>
          </p:nvPr>
        </p:nvSpPr>
        <p:spPr>
          <a:xfrm>
            <a:off x="4807979" y="2317950"/>
            <a:ext cx="33765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3872317" y="663086"/>
            <a:ext cx="4681385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4923249" y="324752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ubTitle" idx="2"/>
          </p:nvPr>
        </p:nvSpPr>
        <p:spPr>
          <a:xfrm>
            <a:off x="1715375" y="324752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3"/>
          </p:nvPr>
        </p:nvSpPr>
        <p:spPr>
          <a:xfrm>
            <a:off x="1715375" y="27599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4"/>
          </p:nvPr>
        </p:nvSpPr>
        <p:spPr>
          <a:xfrm>
            <a:off x="4923249" y="27599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299883" y="101773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bg>
      <p:bgPr>
        <a:solidFill>
          <a:schemeClr val="dk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4985239" y="1667625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2"/>
          </p:nvPr>
        </p:nvSpPr>
        <p:spPr>
          <a:xfrm>
            <a:off x="1211050" y="1667625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54617" y="143778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_1"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4888650" y="1610375"/>
            <a:ext cx="34608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2"/>
          </p:nvPr>
        </p:nvSpPr>
        <p:spPr>
          <a:xfrm>
            <a:off x="1053400" y="1610375"/>
            <a:ext cx="34608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54617" y="143778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1"/>
          </p:nvPr>
        </p:nvSpPr>
        <p:spPr>
          <a:xfrm>
            <a:off x="1090025" y="322837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2"/>
          </p:nvPr>
        </p:nvSpPr>
        <p:spPr>
          <a:xfrm>
            <a:off x="3484348" y="322837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3"/>
          </p:nvPr>
        </p:nvSpPr>
        <p:spPr>
          <a:xfrm>
            <a:off x="5878675" y="322837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4"/>
          </p:nvPr>
        </p:nvSpPr>
        <p:spPr>
          <a:xfrm>
            <a:off x="1090025" y="27738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5"/>
          </p:nvPr>
        </p:nvSpPr>
        <p:spPr>
          <a:xfrm>
            <a:off x="3484348" y="27738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6"/>
          </p:nvPr>
        </p:nvSpPr>
        <p:spPr>
          <a:xfrm>
            <a:off x="5878675" y="27738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07017" y="143778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bg>
      <p:bgPr>
        <a:solidFill>
          <a:schemeClr val="dk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1"/>
          </p:nvPr>
        </p:nvSpPr>
        <p:spPr>
          <a:xfrm>
            <a:off x="2741025" y="1786926"/>
            <a:ext cx="5373600" cy="4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2"/>
          </p:nvPr>
        </p:nvSpPr>
        <p:spPr>
          <a:xfrm>
            <a:off x="2741025" y="2739426"/>
            <a:ext cx="5373600" cy="4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3"/>
          </p:nvPr>
        </p:nvSpPr>
        <p:spPr>
          <a:xfrm>
            <a:off x="2741025" y="3691925"/>
            <a:ext cx="5373600" cy="4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4"/>
          </p:nvPr>
        </p:nvSpPr>
        <p:spPr>
          <a:xfrm>
            <a:off x="2741033" y="1408550"/>
            <a:ext cx="537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5"/>
          </p:nvPr>
        </p:nvSpPr>
        <p:spPr>
          <a:xfrm>
            <a:off x="2741033" y="2361049"/>
            <a:ext cx="537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6"/>
          </p:nvPr>
        </p:nvSpPr>
        <p:spPr>
          <a:xfrm>
            <a:off x="2741033" y="3313548"/>
            <a:ext cx="537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478617" y="793511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solidFill>
          <a:schemeClr val="dk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subTitle" idx="1"/>
          </p:nvPr>
        </p:nvSpPr>
        <p:spPr>
          <a:xfrm>
            <a:off x="2308202" y="18999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ubTitle" idx="2"/>
          </p:nvPr>
        </p:nvSpPr>
        <p:spPr>
          <a:xfrm>
            <a:off x="4852905" y="18999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subTitle" idx="3"/>
          </p:nvPr>
        </p:nvSpPr>
        <p:spPr>
          <a:xfrm>
            <a:off x="2308202" y="3333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subTitle" idx="4"/>
          </p:nvPr>
        </p:nvSpPr>
        <p:spPr>
          <a:xfrm>
            <a:off x="4852905" y="3333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5"/>
          </p:nvPr>
        </p:nvSpPr>
        <p:spPr>
          <a:xfrm>
            <a:off x="2308202" y="16163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subTitle" idx="6"/>
          </p:nvPr>
        </p:nvSpPr>
        <p:spPr>
          <a:xfrm>
            <a:off x="2308202" y="30498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subTitle" idx="7"/>
          </p:nvPr>
        </p:nvSpPr>
        <p:spPr>
          <a:xfrm>
            <a:off x="4852902" y="16163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8"/>
          </p:nvPr>
        </p:nvSpPr>
        <p:spPr>
          <a:xfrm>
            <a:off x="4852902" y="30498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623483" y="118283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bg>
      <p:bgPr>
        <a:solidFill>
          <a:schemeClr val="dk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1"/>
          </p:nvPr>
        </p:nvSpPr>
        <p:spPr>
          <a:xfrm>
            <a:off x="1112605" y="20948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2"/>
          </p:nvPr>
        </p:nvSpPr>
        <p:spPr>
          <a:xfrm>
            <a:off x="3582450" y="20948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subTitle" idx="3"/>
          </p:nvPr>
        </p:nvSpPr>
        <p:spPr>
          <a:xfrm>
            <a:off x="1112605" y="35282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subTitle" idx="4"/>
          </p:nvPr>
        </p:nvSpPr>
        <p:spPr>
          <a:xfrm>
            <a:off x="3582450" y="35282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5"/>
          </p:nvPr>
        </p:nvSpPr>
        <p:spPr>
          <a:xfrm>
            <a:off x="6052295" y="20948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subTitle" idx="6"/>
          </p:nvPr>
        </p:nvSpPr>
        <p:spPr>
          <a:xfrm>
            <a:off x="6052295" y="35282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ubTitle" idx="7"/>
          </p:nvPr>
        </p:nvSpPr>
        <p:spPr>
          <a:xfrm>
            <a:off x="1111105" y="18333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ubTitle" idx="8"/>
          </p:nvPr>
        </p:nvSpPr>
        <p:spPr>
          <a:xfrm>
            <a:off x="3580950" y="18333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9"/>
          </p:nvPr>
        </p:nvSpPr>
        <p:spPr>
          <a:xfrm>
            <a:off x="6050795" y="18333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13"/>
          </p:nvPr>
        </p:nvSpPr>
        <p:spPr>
          <a:xfrm>
            <a:off x="1111105" y="3265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14"/>
          </p:nvPr>
        </p:nvSpPr>
        <p:spPr>
          <a:xfrm>
            <a:off x="3580950" y="3265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15"/>
          </p:nvPr>
        </p:nvSpPr>
        <p:spPr>
          <a:xfrm>
            <a:off x="6050795" y="3265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Khand"/>
                <a:ea typeface="Khand"/>
                <a:cs typeface="Khand"/>
                <a:sym typeface="K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83217" y="143778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>
            <a:spLocks noGrp="1"/>
          </p:cNvSpPr>
          <p:nvPr>
            <p:ph type="title" hasCustomPrompt="1"/>
          </p:nvPr>
        </p:nvSpPr>
        <p:spPr>
          <a:xfrm>
            <a:off x="1094225" y="670225"/>
            <a:ext cx="2538300" cy="641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26"/>
          <p:cNvSpPr txBox="1">
            <a:spLocks noGrp="1"/>
          </p:cNvSpPr>
          <p:nvPr>
            <p:ph type="subTitle" idx="1"/>
          </p:nvPr>
        </p:nvSpPr>
        <p:spPr>
          <a:xfrm>
            <a:off x="1094225" y="1311925"/>
            <a:ext cx="31215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title" idx="2" hasCustomPrompt="1"/>
          </p:nvPr>
        </p:nvSpPr>
        <p:spPr>
          <a:xfrm>
            <a:off x="1094225" y="2120325"/>
            <a:ext cx="1884300" cy="641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26"/>
          <p:cNvSpPr txBox="1">
            <a:spLocks noGrp="1"/>
          </p:cNvSpPr>
          <p:nvPr>
            <p:ph type="subTitle" idx="3"/>
          </p:nvPr>
        </p:nvSpPr>
        <p:spPr>
          <a:xfrm>
            <a:off x="1094225" y="2771663"/>
            <a:ext cx="31215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 idx="4" hasCustomPrompt="1"/>
          </p:nvPr>
        </p:nvSpPr>
        <p:spPr>
          <a:xfrm>
            <a:off x="1094225" y="3589700"/>
            <a:ext cx="2766900" cy="641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26"/>
          <p:cNvSpPr txBox="1">
            <a:spLocks noGrp="1"/>
          </p:cNvSpPr>
          <p:nvPr>
            <p:ph type="subTitle" idx="5"/>
          </p:nvPr>
        </p:nvSpPr>
        <p:spPr>
          <a:xfrm>
            <a:off x="1094225" y="4231401"/>
            <a:ext cx="31215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dk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7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4353250" y="707775"/>
            <a:ext cx="4077900" cy="12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ubTitle" idx="1"/>
          </p:nvPr>
        </p:nvSpPr>
        <p:spPr>
          <a:xfrm>
            <a:off x="4353250" y="1841449"/>
            <a:ext cx="4077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4353250" y="3764350"/>
            <a:ext cx="4077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CREDITS:</a:t>
            </a:r>
            <a:r>
              <a:rPr lang="en" sz="12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This presentation template was created by </a:t>
            </a:r>
            <a:r>
              <a:rPr lang="en" sz="1200" b="1" u="sng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, and includes icons by </a:t>
            </a:r>
            <a:r>
              <a:rPr lang="en" sz="1200" b="1" u="sng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lang="en" sz="1200" b="1" u="sng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endParaRPr sz="1200" b="1" u="sng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dk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54617" y="143778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9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-157175" y="-388600"/>
            <a:ext cx="9555799" cy="59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318683" y="1182836"/>
            <a:ext cx="4681385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Khand"/>
              <a:buNone/>
              <a:defRPr sz="3500">
                <a:solidFill>
                  <a:schemeClr val="lt1"/>
                </a:solidFill>
                <a:latin typeface="Khand"/>
                <a:ea typeface="Khand"/>
                <a:cs typeface="Khand"/>
                <a:sym typeface="K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osis"/>
              <a:buChar char="■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olegfdezll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4.png"/><Relationship Id="rId5" Type="http://schemas.openxmlformats.org/officeDocument/2006/relationships/hyperlink" Target="https://github.com/GatitosLab" TargetMode="External"/><Relationship Id="rId4" Type="http://schemas.openxmlformats.org/officeDocument/2006/relationships/hyperlink" Target="https://www.linkedin.com/in/emele-ramos-granado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/>
        </p:nvSpPr>
        <p:spPr>
          <a:xfrm>
            <a:off x="1767138" y="2291190"/>
            <a:ext cx="5961471" cy="68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Simulación de diseño, despliegue y documentación de Red para Centro de Salud Especializado “San Vergeles” </a:t>
            </a:r>
            <a:endParaRPr sz="1600"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 rotWithShape="1">
          <a:blip r:embed="rId3">
            <a:alphaModFix/>
          </a:blip>
          <a:srcRect b="17287"/>
          <a:stretch/>
        </p:blipFill>
        <p:spPr>
          <a:xfrm>
            <a:off x="3315024" y="1120950"/>
            <a:ext cx="2865701" cy="9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1355864" y="2975660"/>
            <a:ext cx="6784018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37B97"/>
                </a:solidFill>
                <a:latin typeface="Karla Light"/>
                <a:ea typeface="Karla Light"/>
                <a:cs typeface="Karla Light"/>
                <a:sym typeface="Karla Light"/>
              </a:rPr>
              <a:t>Oleg Fernández-Llebrez Rodríguez  </a:t>
            </a: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  | Estudiante de ASIR en el centro Fomento Ocupacional - FOC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537B97"/>
                </a:solidFill>
                <a:latin typeface="Karla Light"/>
                <a:ea typeface="Karla Light"/>
                <a:cs typeface="Karla Light"/>
                <a:sym typeface="Karla Light"/>
              </a:rPr>
              <a:t>Laura Ramos Granados</a:t>
            </a: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 | Estudiante de ASIR en el IES Zaidín Vergeles - IES ZV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pic>
        <p:nvPicPr>
          <p:cNvPr id="196" name="Google Shape;196;p30" title="pngegg(4).png"/>
          <p:cNvPicPr preferRelativeResize="0"/>
          <p:nvPr/>
        </p:nvPicPr>
        <p:blipFill rotWithShape="1">
          <a:blip r:embed="rId4">
            <a:alphaModFix/>
          </a:blip>
          <a:srcRect b="49454"/>
          <a:stretch/>
        </p:blipFill>
        <p:spPr>
          <a:xfrm>
            <a:off x="-209925" y="-984075"/>
            <a:ext cx="9670374" cy="24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 title="pngegg(4).png"/>
          <p:cNvPicPr preferRelativeResize="0"/>
          <p:nvPr/>
        </p:nvPicPr>
        <p:blipFill rotWithShape="1">
          <a:blip r:embed="rId4">
            <a:alphaModFix/>
          </a:blip>
          <a:srcRect t="56644"/>
          <a:stretch/>
        </p:blipFill>
        <p:spPr>
          <a:xfrm>
            <a:off x="-579000" y="3733650"/>
            <a:ext cx="10357299" cy="223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1382241" y="1012678"/>
            <a:ext cx="3113047" cy="67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Contexto y propósito</a:t>
            </a:r>
            <a:endParaRPr sz="3000" dirty="0">
              <a:solidFill>
                <a:srgbClr val="51AFDB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1382241" y="1836401"/>
            <a:ext cx="66474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Este proyecto ha sido desarrollado con carácter educativo como parte de la fase final de nuestras prácticas de Administración de Sistemas Informáticos y Redes en Kyndryl, con la intención de: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457200" lvl="0" indent="-127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Karla Light"/>
              <a:buChar char="●"/>
            </a:pPr>
            <a:r>
              <a:rPr lang="en" sz="11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Consolidar conocimientos de redes, virtualización y seguridad.</a:t>
            </a: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457200" lvl="0" indent="-127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Karla Light"/>
              <a:buChar char="●"/>
            </a:pPr>
            <a:r>
              <a:rPr lang="en" sz="11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Simular una infraestructura realista y documentarla profesionalmente.</a:t>
            </a: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457200" lvl="0" indent="-127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Karla Light"/>
              <a:buChar char="●"/>
            </a:pPr>
            <a:r>
              <a:rPr lang="en" sz="11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Poner en práctica el diseño de redes escalables, segmentadas y seguras.</a:t>
            </a: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204" name="Google Shape;204;p31"/>
          <p:cNvGrpSpPr/>
          <p:nvPr/>
        </p:nvGrpSpPr>
        <p:grpSpPr>
          <a:xfrm>
            <a:off x="959757" y="1165524"/>
            <a:ext cx="355663" cy="308725"/>
            <a:chOff x="-28462125" y="3199700"/>
            <a:chExt cx="298550" cy="259150"/>
          </a:xfrm>
        </p:grpSpPr>
        <p:sp>
          <p:nvSpPr>
            <p:cNvPr id="205" name="Google Shape;205;p31"/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1"/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8" name="Google Shape;2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33223">
            <a:off x="-257444" y="2994296"/>
            <a:ext cx="9451388" cy="425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2051" y="3588076"/>
            <a:ext cx="6553876" cy="3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/>
        </p:nvSpPr>
        <p:spPr>
          <a:xfrm>
            <a:off x="1041027" y="549767"/>
            <a:ext cx="2770992" cy="62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Marco situacional</a:t>
            </a:r>
            <a:endParaRPr sz="3000" dirty="0">
              <a:solidFill>
                <a:srgbClr val="51AFDB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1041027" y="1246970"/>
            <a:ext cx="6860247" cy="112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El Centro de Salud Municipal “San Vergeles” busca mejorar su conectividad interna para dar soporte a sus servicios médicos y administrativos. Actualmente, el centro cuenta con un conjunto reducido de servicios digitales: 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216" name="Google Shape;216;p32"/>
          <p:cNvGrpSpPr/>
          <p:nvPr/>
        </p:nvGrpSpPr>
        <p:grpSpPr>
          <a:xfrm>
            <a:off x="2932432" y="2744871"/>
            <a:ext cx="3865976" cy="1279879"/>
            <a:chOff x="6796238" y="3158297"/>
            <a:chExt cx="1630319" cy="677257"/>
          </a:xfrm>
        </p:grpSpPr>
        <p:cxnSp>
          <p:nvCxnSpPr>
            <p:cNvPr id="217" name="Google Shape;217;p32"/>
            <p:cNvCxnSpPr/>
            <p:nvPr/>
          </p:nvCxnSpPr>
          <p:spPr>
            <a:xfrm>
              <a:off x="7012244" y="3664854"/>
              <a:ext cx="0" cy="170700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218" name="Google Shape;218;p32"/>
            <p:cNvCxnSpPr/>
            <p:nvPr/>
          </p:nvCxnSpPr>
          <p:spPr>
            <a:xfrm>
              <a:off x="7810957" y="3664854"/>
              <a:ext cx="0" cy="170700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219" name="Google Shape;219;p32"/>
            <p:cNvCxnSpPr/>
            <p:nvPr/>
          </p:nvCxnSpPr>
          <p:spPr>
            <a:xfrm rot="10800000">
              <a:off x="8196652" y="3170826"/>
              <a:ext cx="0" cy="169800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grpSp>
          <p:nvGrpSpPr>
            <p:cNvPr id="221" name="Google Shape;221;p32"/>
            <p:cNvGrpSpPr/>
            <p:nvPr/>
          </p:nvGrpSpPr>
          <p:grpSpPr>
            <a:xfrm>
              <a:off x="6796238" y="3311904"/>
              <a:ext cx="1630319" cy="377697"/>
              <a:chOff x="6796238" y="3311904"/>
              <a:chExt cx="1630319" cy="377697"/>
            </a:xfrm>
          </p:grpSpPr>
          <p:sp>
            <p:nvSpPr>
              <p:cNvPr id="222" name="Google Shape;222;p32"/>
              <p:cNvSpPr/>
              <p:nvPr/>
            </p:nvSpPr>
            <p:spPr>
              <a:xfrm>
                <a:off x="6796238" y="3311904"/>
                <a:ext cx="798025" cy="377697"/>
              </a:xfrm>
              <a:custGeom>
                <a:avLst/>
                <a:gdLst/>
                <a:ahLst/>
                <a:cxnLst/>
                <a:rect l="l" t="t" r="r" b="b"/>
                <a:pathLst>
                  <a:path w="34368" h="16266" extrusionOk="0">
                    <a:moveTo>
                      <a:pt x="4679" y="0"/>
                    </a:moveTo>
                    <a:lnTo>
                      <a:pt x="0" y="8133"/>
                    </a:lnTo>
                    <a:lnTo>
                      <a:pt x="4679" y="16265"/>
                    </a:lnTo>
                    <a:lnTo>
                      <a:pt x="14094" y="16265"/>
                    </a:lnTo>
                    <a:lnTo>
                      <a:pt x="17913" y="9590"/>
                    </a:lnTo>
                    <a:lnTo>
                      <a:pt x="22591" y="1458"/>
                    </a:lnTo>
                    <a:lnTo>
                      <a:pt x="30301" y="1458"/>
                    </a:lnTo>
                    <a:lnTo>
                      <a:pt x="33522" y="7098"/>
                    </a:lnTo>
                    <a:lnTo>
                      <a:pt x="34367" y="5640"/>
                    </a:lnTo>
                    <a:lnTo>
                      <a:pt x="33522" y="4183"/>
                    </a:lnTo>
                    <a:lnTo>
                      <a:pt x="31146" y="0"/>
                    </a:lnTo>
                    <a:lnTo>
                      <a:pt x="21746" y="0"/>
                    </a:lnTo>
                    <a:lnTo>
                      <a:pt x="17067" y="8133"/>
                    </a:lnTo>
                    <a:lnTo>
                      <a:pt x="13234" y="14808"/>
                    </a:lnTo>
                    <a:lnTo>
                      <a:pt x="5524" y="14808"/>
                    </a:lnTo>
                    <a:lnTo>
                      <a:pt x="1706" y="8133"/>
                    </a:lnTo>
                    <a:lnTo>
                      <a:pt x="5524" y="1458"/>
                    </a:lnTo>
                    <a:lnTo>
                      <a:pt x="13234" y="1458"/>
                    </a:lnTo>
                    <a:lnTo>
                      <a:pt x="16455" y="7098"/>
                    </a:lnTo>
                    <a:lnTo>
                      <a:pt x="17301" y="5640"/>
                    </a:lnTo>
                    <a:lnTo>
                      <a:pt x="16455" y="4183"/>
                    </a:lnTo>
                    <a:lnTo>
                      <a:pt x="14094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32"/>
              <p:cNvSpPr/>
              <p:nvPr/>
            </p:nvSpPr>
            <p:spPr>
              <a:xfrm>
                <a:off x="7628207" y="3311904"/>
                <a:ext cx="798350" cy="377697"/>
              </a:xfrm>
              <a:custGeom>
                <a:avLst/>
                <a:gdLst/>
                <a:ahLst/>
                <a:cxnLst/>
                <a:rect l="l" t="t" r="r" b="b"/>
                <a:pathLst>
                  <a:path w="34382" h="16266" extrusionOk="0">
                    <a:moveTo>
                      <a:pt x="20288" y="0"/>
                    </a:moveTo>
                    <a:lnTo>
                      <a:pt x="16470" y="6675"/>
                    </a:lnTo>
                    <a:lnTo>
                      <a:pt x="11791" y="14808"/>
                    </a:lnTo>
                    <a:lnTo>
                      <a:pt x="4081" y="14808"/>
                    </a:lnTo>
                    <a:lnTo>
                      <a:pt x="860" y="9167"/>
                    </a:lnTo>
                    <a:lnTo>
                      <a:pt x="0" y="10625"/>
                    </a:lnTo>
                    <a:lnTo>
                      <a:pt x="860" y="12082"/>
                    </a:lnTo>
                    <a:lnTo>
                      <a:pt x="3221" y="16265"/>
                    </a:lnTo>
                    <a:lnTo>
                      <a:pt x="12637" y="16265"/>
                    </a:lnTo>
                    <a:lnTo>
                      <a:pt x="17315" y="8133"/>
                    </a:lnTo>
                    <a:lnTo>
                      <a:pt x="21134" y="1458"/>
                    </a:lnTo>
                    <a:lnTo>
                      <a:pt x="28858" y="1458"/>
                    </a:lnTo>
                    <a:lnTo>
                      <a:pt x="32677" y="8133"/>
                    </a:lnTo>
                    <a:lnTo>
                      <a:pt x="28858" y="14808"/>
                    </a:lnTo>
                    <a:lnTo>
                      <a:pt x="21134" y="14808"/>
                    </a:lnTo>
                    <a:lnTo>
                      <a:pt x="17927" y="9167"/>
                    </a:lnTo>
                    <a:lnTo>
                      <a:pt x="17067" y="10625"/>
                    </a:lnTo>
                    <a:lnTo>
                      <a:pt x="17927" y="12082"/>
                    </a:lnTo>
                    <a:lnTo>
                      <a:pt x="20288" y="16265"/>
                    </a:lnTo>
                    <a:lnTo>
                      <a:pt x="29703" y="16265"/>
                    </a:lnTo>
                    <a:lnTo>
                      <a:pt x="34382" y="8133"/>
                    </a:lnTo>
                    <a:lnTo>
                      <a:pt x="29703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2"/>
              <p:cNvSpPr/>
              <p:nvPr/>
            </p:nvSpPr>
            <p:spPr>
              <a:xfrm>
                <a:off x="7229098" y="3311904"/>
                <a:ext cx="762823" cy="377697"/>
              </a:xfrm>
              <a:custGeom>
                <a:avLst/>
                <a:gdLst/>
                <a:ahLst/>
                <a:cxnLst/>
                <a:rect l="l" t="t" r="r" b="b"/>
                <a:pathLst>
                  <a:path w="32852" h="16266" extrusionOk="0">
                    <a:moveTo>
                      <a:pt x="20347" y="0"/>
                    </a:moveTo>
                    <a:lnTo>
                      <a:pt x="16455" y="6675"/>
                    </a:lnTo>
                    <a:lnTo>
                      <a:pt x="11850" y="14808"/>
                    </a:lnTo>
                    <a:lnTo>
                      <a:pt x="4125" y="14808"/>
                    </a:lnTo>
                    <a:lnTo>
                      <a:pt x="846" y="9167"/>
                    </a:lnTo>
                    <a:lnTo>
                      <a:pt x="0" y="10625"/>
                    </a:lnTo>
                    <a:lnTo>
                      <a:pt x="846" y="12082"/>
                    </a:lnTo>
                    <a:lnTo>
                      <a:pt x="3280" y="16265"/>
                    </a:lnTo>
                    <a:lnTo>
                      <a:pt x="12695" y="16265"/>
                    </a:lnTo>
                    <a:lnTo>
                      <a:pt x="17315" y="8133"/>
                    </a:lnTo>
                    <a:lnTo>
                      <a:pt x="21134" y="1458"/>
                    </a:lnTo>
                    <a:lnTo>
                      <a:pt x="28902" y="1458"/>
                    </a:lnTo>
                    <a:lnTo>
                      <a:pt x="32065" y="6981"/>
                    </a:lnTo>
                    <a:lnTo>
                      <a:pt x="32852" y="5524"/>
                    </a:lnTo>
                    <a:lnTo>
                      <a:pt x="29703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20" name="Google Shape;220;p32"/>
            <p:cNvCxnSpPr/>
            <p:nvPr/>
          </p:nvCxnSpPr>
          <p:spPr>
            <a:xfrm rot="10800000">
              <a:off x="7411601" y="3158297"/>
              <a:ext cx="0" cy="170700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</p:grpSp>
      <p:sp>
        <p:nvSpPr>
          <p:cNvPr id="225" name="Google Shape;225;p32"/>
          <p:cNvSpPr txBox="1"/>
          <p:nvPr/>
        </p:nvSpPr>
        <p:spPr>
          <a:xfrm>
            <a:off x="3812019" y="2108343"/>
            <a:ext cx="1141500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Servidor web de acceso público</a:t>
            </a:r>
            <a:endParaRPr sz="1200" dirty="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848253" y="3862305"/>
            <a:ext cx="1234950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Historia clínica electrónica</a:t>
            </a:r>
            <a:endParaRPr sz="1000"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4253124" y="3210091"/>
            <a:ext cx="348513" cy="349427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rgbClr val="51AF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AFDB"/>
              </a:solidFill>
            </a:endParaRPr>
          </a:p>
        </p:txBody>
      </p:sp>
      <p:grpSp>
        <p:nvGrpSpPr>
          <p:cNvPr id="228" name="Google Shape;228;p32"/>
          <p:cNvGrpSpPr/>
          <p:nvPr/>
        </p:nvGrpSpPr>
        <p:grpSpPr>
          <a:xfrm>
            <a:off x="3234031" y="3218582"/>
            <a:ext cx="356946" cy="332464"/>
            <a:chOff x="-25477800" y="2357750"/>
            <a:chExt cx="298525" cy="278050"/>
          </a:xfrm>
        </p:grpSpPr>
        <p:sp>
          <p:nvSpPr>
            <p:cNvPr id="229" name="Google Shape;229;p32"/>
            <p:cNvSpPr/>
            <p:nvPr/>
          </p:nvSpPr>
          <p:spPr>
            <a:xfrm>
              <a:off x="-25477800" y="2357750"/>
              <a:ext cx="298525" cy="278050"/>
            </a:xfrm>
            <a:custGeom>
              <a:avLst/>
              <a:gdLst/>
              <a:ahLst/>
              <a:cxnLst/>
              <a:rect l="l" t="t" r="r" b="b"/>
              <a:pathLst>
                <a:path w="11941" h="11122" extrusionOk="0">
                  <a:moveTo>
                    <a:pt x="7057" y="1229"/>
                  </a:moveTo>
                  <a:lnTo>
                    <a:pt x="7971" y="2143"/>
                  </a:lnTo>
                  <a:lnTo>
                    <a:pt x="7057" y="2143"/>
                  </a:lnTo>
                  <a:lnTo>
                    <a:pt x="7057" y="1229"/>
                  </a:lnTo>
                  <a:close/>
                  <a:moveTo>
                    <a:pt x="6333" y="756"/>
                  </a:moveTo>
                  <a:lnTo>
                    <a:pt x="6333" y="2489"/>
                  </a:lnTo>
                  <a:cubicBezTo>
                    <a:pt x="6333" y="2678"/>
                    <a:pt x="6490" y="2836"/>
                    <a:pt x="6679" y="2836"/>
                  </a:cubicBezTo>
                  <a:lnTo>
                    <a:pt x="8412" y="2836"/>
                  </a:lnTo>
                  <a:lnTo>
                    <a:pt x="8412" y="4946"/>
                  </a:lnTo>
                  <a:lnTo>
                    <a:pt x="7593" y="4946"/>
                  </a:lnTo>
                  <a:lnTo>
                    <a:pt x="7215" y="4096"/>
                  </a:lnTo>
                  <a:cubicBezTo>
                    <a:pt x="7026" y="3749"/>
                    <a:pt x="6648" y="3529"/>
                    <a:pt x="6270" y="3529"/>
                  </a:cubicBezTo>
                  <a:lnTo>
                    <a:pt x="3245" y="3529"/>
                  </a:lnTo>
                  <a:cubicBezTo>
                    <a:pt x="3119" y="3529"/>
                    <a:pt x="2993" y="3560"/>
                    <a:pt x="2867" y="3592"/>
                  </a:cubicBezTo>
                  <a:lnTo>
                    <a:pt x="2867" y="756"/>
                  </a:lnTo>
                  <a:close/>
                  <a:moveTo>
                    <a:pt x="10901" y="6994"/>
                  </a:moveTo>
                  <a:cubicBezTo>
                    <a:pt x="11027" y="6994"/>
                    <a:pt x="11090" y="7026"/>
                    <a:pt x="11184" y="7089"/>
                  </a:cubicBezTo>
                  <a:cubicBezTo>
                    <a:pt x="11247" y="7183"/>
                    <a:pt x="11247" y="7246"/>
                    <a:pt x="11247" y="7372"/>
                  </a:cubicBezTo>
                  <a:lnTo>
                    <a:pt x="10995" y="9105"/>
                  </a:lnTo>
                  <a:lnTo>
                    <a:pt x="10428" y="6994"/>
                  </a:lnTo>
                  <a:close/>
                  <a:moveTo>
                    <a:pt x="6270" y="4190"/>
                  </a:moveTo>
                  <a:cubicBezTo>
                    <a:pt x="6364" y="4190"/>
                    <a:pt x="6490" y="4253"/>
                    <a:pt x="6585" y="4379"/>
                  </a:cubicBezTo>
                  <a:lnTo>
                    <a:pt x="7089" y="5356"/>
                  </a:lnTo>
                  <a:cubicBezTo>
                    <a:pt x="7120" y="5482"/>
                    <a:pt x="7278" y="5577"/>
                    <a:pt x="7404" y="5577"/>
                  </a:cubicBezTo>
                  <a:lnTo>
                    <a:pt x="9105" y="5577"/>
                  </a:lnTo>
                  <a:cubicBezTo>
                    <a:pt x="9262" y="5577"/>
                    <a:pt x="9420" y="5671"/>
                    <a:pt x="9452" y="5829"/>
                  </a:cubicBezTo>
                  <a:lnTo>
                    <a:pt x="10586" y="10397"/>
                  </a:lnTo>
                  <a:lnTo>
                    <a:pt x="2205" y="10397"/>
                  </a:lnTo>
                  <a:lnTo>
                    <a:pt x="2205" y="10460"/>
                  </a:lnTo>
                  <a:cubicBezTo>
                    <a:pt x="2048" y="10460"/>
                    <a:pt x="1890" y="10334"/>
                    <a:pt x="1859" y="10176"/>
                  </a:cubicBezTo>
                  <a:lnTo>
                    <a:pt x="788" y="5986"/>
                  </a:lnTo>
                  <a:cubicBezTo>
                    <a:pt x="756" y="5892"/>
                    <a:pt x="788" y="5797"/>
                    <a:pt x="851" y="5734"/>
                  </a:cubicBezTo>
                  <a:cubicBezTo>
                    <a:pt x="945" y="5640"/>
                    <a:pt x="1008" y="5608"/>
                    <a:pt x="1134" y="5608"/>
                  </a:cubicBezTo>
                  <a:lnTo>
                    <a:pt x="2520" y="5608"/>
                  </a:lnTo>
                  <a:cubicBezTo>
                    <a:pt x="2709" y="5608"/>
                    <a:pt x="2867" y="5451"/>
                    <a:pt x="2867" y="5262"/>
                  </a:cubicBezTo>
                  <a:lnTo>
                    <a:pt x="2867" y="4537"/>
                  </a:lnTo>
                  <a:cubicBezTo>
                    <a:pt x="2867" y="4348"/>
                    <a:pt x="3025" y="4190"/>
                    <a:pt x="3214" y="4190"/>
                  </a:cubicBezTo>
                  <a:close/>
                  <a:moveTo>
                    <a:pt x="2489" y="0"/>
                  </a:moveTo>
                  <a:cubicBezTo>
                    <a:pt x="2268" y="0"/>
                    <a:pt x="2111" y="158"/>
                    <a:pt x="2111" y="378"/>
                  </a:cubicBezTo>
                  <a:lnTo>
                    <a:pt x="2111" y="4537"/>
                  </a:lnTo>
                  <a:lnTo>
                    <a:pt x="2111" y="4883"/>
                  </a:lnTo>
                  <a:lnTo>
                    <a:pt x="1103" y="4883"/>
                  </a:lnTo>
                  <a:cubicBezTo>
                    <a:pt x="788" y="4883"/>
                    <a:pt x="473" y="5041"/>
                    <a:pt x="284" y="5293"/>
                  </a:cubicBezTo>
                  <a:cubicBezTo>
                    <a:pt x="63" y="5514"/>
                    <a:pt x="0" y="5829"/>
                    <a:pt x="63" y="6144"/>
                  </a:cubicBezTo>
                  <a:lnTo>
                    <a:pt x="1134" y="10334"/>
                  </a:lnTo>
                  <a:cubicBezTo>
                    <a:pt x="1260" y="10806"/>
                    <a:pt x="1701" y="11121"/>
                    <a:pt x="2174" y="11121"/>
                  </a:cubicBezTo>
                  <a:lnTo>
                    <a:pt x="10995" y="11121"/>
                  </a:lnTo>
                  <a:cubicBezTo>
                    <a:pt x="11153" y="11121"/>
                    <a:pt x="11310" y="10995"/>
                    <a:pt x="11342" y="10838"/>
                  </a:cubicBezTo>
                  <a:lnTo>
                    <a:pt x="11877" y="7467"/>
                  </a:lnTo>
                  <a:cubicBezTo>
                    <a:pt x="11940" y="7152"/>
                    <a:pt x="11846" y="6868"/>
                    <a:pt x="11657" y="6616"/>
                  </a:cubicBezTo>
                  <a:cubicBezTo>
                    <a:pt x="11499" y="6427"/>
                    <a:pt x="11216" y="6301"/>
                    <a:pt x="10901" y="6301"/>
                  </a:cubicBezTo>
                  <a:lnTo>
                    <a:pt x="10239" y="6301"/>
                  </a:lnTo>
                  <a:lnTo>
                    <a:pt x="10082" y="5734"/>
                  </a:lnTo>
                  <a:cubicBezTo>
                    <a:pt x="9956" y="5262"/>
                    <a:pt x="9578" y="4946"/>
                    <a:pt x="9105" y="4883"/>
                  </a:cubicBezTo>
                  <a:lnTo>
                    <a:pt x="9105" y="2458"/>
                  </a:lnTo>
                  <a:cubicBezTo>
                    <a:pt x="9105" y="2363"/>
                    <a:pt x="9042" y="2269"/>
                    <a:pt x="8979" y="2206"/>
                  </a:cubicBezTo>
                  <a:lnTo>
                    <a:pt x="6900" y="126"/>
                  </a:lnTo>
                  <a:cubicBezTo>
                    <a:pt x="6805" y="63"/>
                    <a:pt x="6742" y="0"/>
                    <a:pt x="6648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-25388025" y="2514850"/>
              <a:ext cx="104000" cy="88650"/>
            </a:xfrm>
            <a:custGeom>
              <a:avLst/>
              <a:gdLst/>
              <a:ahLst/>
              <a:cxnLst/>
              <a:rect l="l" t="t" r="r" b="b"/>
              <a:pathLst>
                <a:path w="4160" h="3546" extrusionOk="0">
                  <a:moveTo>
                    <a:pt x="1752" y="1"/>
                  </a:moveTo>
                  <a:cubicBezTo>
                    <a:pt x="1716" y="1"/>
                    <a:pt x="1678" y="6"/>
                    <a:pt x="1639" y="17"/>
                  </a:cubicBezTo>
                  <a:cubicBezTo>
                    <a:pt x="1450" y="80"/>
                    <a:pt x="1324" y="269"/>
                    <a:pt x="1418" y="458"/>
                  </a:cubicBezTo>
                  <a:lnTo>
                    <a:pt x="1639" y="1403"/>
                  </a:lnTo>
                  <a:lnTo>
                    <a:pt x="347" y="1403"/>
                  </a:lnTo>
                  <a:cubicBezTo>
                    <a:pt x="158" y="1403"/>
                    <a:pt x="1" y="1561"/>
                    <a:pt x="1" y="1750"/>
                  </a:cubicBezTo>
                  <a:cubicBezTo>
                    <a:pt x="1" y="1970"/>
                    <a:pt x="158" y="2128"/>
                    <a:pt x="347" y="2128"/>
                  </a:cubicBezTo>
                  <a:lnTo>
                    <a:pt x="1796" y="2128"/>
                  </a:lnTo>
                  <a:lnTo>
                    <a:pt x="2080" y="3262"/>
                  </a:lnTo>
                  <a:cubicBezTo>
                    <a:pt x="2111" y="3420"/>
                    <a:pt x="2269" y="3546"/>
                    <a:pt x="2426" y="3546"/>
                  </a:cubicBezTo>
                  <a:lnTo>
                    <a:pt x="2521" y="3546"/>
                  </a:lnTo>
                  <a:cubicBezTo>
                    <a:pt x="2710" y="3483"/>
                    <a:pt x="2836" y="3294"/>
                    <a:pt x="2742" y="3105"/>
                  </a:cubicBezTo>
                  <a:lnTo>
                    <a:pt x="2521" y="2159"/>
                  </a:lnTo>
                  <a:lnTo>
                    <a:pt x="3813" y="2159"/>
                  </a:lnTo>
                  <a:cubicBezTo>
                    <a:pt x="4002" y="2159"/>
                    <a:pt x="4159" y="2002"/>
                    <a:pt x="4159" y="1813"/>
                  </a:cubicBezTo>
                  <a:cubicBezTo>
                    <a:pt x="4159" y="1561"/>
                    <a:pt x="4002" y="1403"/>
                    <a:pt x="3813" y="1403"/>
                  </a:cubicBezTo>
                  <a:lnTo>
                    <a:pt x="2363" y="1403"/>
                  </a:lnTo>
                  <a:lnTo>
                    <a:pt x="2080" y="269"/>
                  </a:lnTo>
                  <a:cubicBezTo>
                    <a:pt x="2054" y="114"/>
                    <a:pt x="1921" y="1"/>
                    <a:pt x="1752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</p:grpSp>
      <p:grpSp>
        <p:nvGrpSpPr>
          <p:cNvPr id="231" name="Google Shape;231;p32"/>
          <p:cNvGrpSpPr/>
          <p:nvPr/>
        </p:nvGrpSpPr>
        <p:grpSpPr>
          <a:xfrm>
            <a:off x="5163744" y="3269428"/>
            <a:ext cx="356020" cy="230770"/>
            <a:chOff x="-27728850" y="2382950"/>
            <a:chExt cx="297750" cy="193000"/>
          </a:xfrm>
        </p:grpSpPr>
        <p:sp>
          <p:nvSpPr>
            <p:cNvPr id="232" name="Google Shape;232;p32"/>
            <p:cNvSpPr/>
            <p:nvPr/>
          </p:nvSpPr>
          <p:spPr>
            <a:xfrm>
              <a:off x="-27606750" y="245382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9"/>
                    <a:pt x="725" y="1419"/>
                  </a:cubicBezTo>
                  <a:cubicBezTo>
                    <a:pt x="1103" y="1419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-27728850" y="2382950"/>
              <a:ext cx="297750" cy="193000"/>
            </a:xfrm>
            <a:custGeom>
              <a:avLst/>
              <a:gdLst/>
              <a:ahLst/>
              <a:cxnLst/>
              <a:rect l="l" t="t" r="r" b="b"/>
              <a:pathLst>
                <a:path w="11910" h="7720" extrusionOk="0">
                  <a:moveTo>
                    <a:pt x="5955" y="756"/>
                  </a:moveTo>
                  <a:cubicBezTo>
                    <a:pt x="7405" y="756"/>
                    <a:pt x="8791" y="1670"/>
                    <a:pt x="9673" y="2426"/>
                  </a:cubicBezTo>
                  <a:cubicBezTo>
                    <a:pt x="10335" y="3025"/>
                    <a:pt x="10839" y="3592"/>
                    <a:pt x="11091" y="3938"/>
                  </a:cubicBezTo>
                  <a:cubicBezTo>
                    <a:pt x="10524" y="4632"/>
                    <a:pt x="8413" y="7026"/>
                    <a:pt x="5955" y="7026"/>
                  </a:cubicBezTo>
                  <a:cubicBezTo>
                    <a:pt x="4506" y="7026"/>
                    <a:pt x="3120" y="6144"/>
                    <a:pt x="2269" y="5388"/>
                  </a:cubicBezTo>
                  <a:cubicBezTo>
                    <a:pt x="1576" y="4789"/>
                    <a:pt x="1072" y="4190"/>
                    <a:pt x="852" y="3875"/>
                  </a:cubicBezTo>
                  <a:cubicBezTo>
                    <a:pt x="1419" y="3182"/>
                    <a:pt x="3529" y="788"/>
                    <a:pt x="5955" y="756"/>
                  </a:cubicBezTo>
                  <a:close/>
                  <a:moveTo>
                    <a:pt x="5955" y="0"/>
                  </a:moveTo>
                  <a:cubicBezTo>
                    <a:pt x="5199" y="0"/>
                    <a:pt x="4412" y="189"/>
                    <a:pt x="3624" y="567"/>
                  </a:cubicBezTo>
                  <a:cubicBezTo>
                    <a:pt x="2994" y="882"/>
                    <a:pt x="2364" y="1324"/>
                    <a:pt x="1797" y="1828"/>
                  </a:cubicBezTo>
                  <a:cubicBezTo>
                    <a:pt x="757" y="2741"/>
                    <a:pt x="127" y="3623"/>
                    <a:pt x="95" y="3655"/>
                  </a:cubicBezTo>
                  <a:cubicBezTo>
                    <a:pt x="1" y="3781"/>
                    <a:pt x="1" y="3938"/>
                    <a:pt x="95" y="4033"/>
                  </a:cubicBezTo>
                  <a:cubicBezTo>
                    <a:pt x="127" y="4096"/>
                    <a:pt x="757" y="4978"/>
                    <a:pt x="1797" y="5860"/>
                  </a:cubicBezTo>
                  <a:cubicBezTo>
                    <a:pt x="2427" y="6396"/>
                    <a:pt x="2994" y="6805"/>
                    <a:pt x="3624" y="7120"/>
                  </a:cubicBezTo>
                  <a:cubicBezTo>
                    <a:pt x="4412" y="7499"/>
                    <a:pt x="5199" y="7719"/>
                    <a:pt x="5955" y="7719"/>
                  </a:cubicBezTo>
                  <a:cubicBezTo>
                    <a:pt x="6711" y="7719"/>
                    <a:pt x="7499" y="7499"/>
                    <a:pt x="8287" y="7120"/>
                  </a:cubicBezTo>
                  <a:cubicBezTo>
                    <a:pt x="8917" y="6805"/>
                    <a:pt x="9547" y="6364"/>
                    <a:pt x="10145" y="5860"/>
                  </a:cubicBezTo>
                  <a:cubicBezTo>
                    <a:pt x="11154" y="4947"/>
                    <a:pt x="11784" y="4096"/>
                    <a:pt x="11815" y="4033"/>
                  </a:cubicBezTo>
                  <a:cubicBezTo>
                    <a:pt x="11910" y="3938"/>
                    <a:pt x="11910" y="3781"/>
                    <a:pt x="11815" y="3655"/>
                  </a:cubicBezTo>
                  <a:cubicBezTo>
                    <a:pt x="11784" y="3623"/>
                    <a:pt x="11154" y="2710"/>
                    <a:pt x="10145" y="1828"/>
                  </a:cubicBezTo>
                  <a:cubicBezTo>
                    <a:pt x="9515" y="1292"/>
                    <a:pt x="8917" y="882"/>
                    <a:pt x="8287" y="567"/>
                  </a:cubicBezTo>
                  <a:cubicBezTo>
                    <a:pt x="7499" y="189"/>
                    <a:pt x="6711" y="0"/>
                    <a:pt x="5955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-27640625" y="2419175"/>
              <a:ext cx="122100" cy="122100"/>
            </a:xfrm>
            <a:custGeom>
              <a:avLst/>
              <a:gdLst/>
              <a:ahLst/>
              <a:cxnLst/>
              <a:rect l="l" t="t" r="r" b="b"/>
              <a:pathLst>
                <a:path w="4884" h="4884" extrusionOk="0">
                  <a:moveTo>
                    <a:pt x="2426" y="694"/>
                  </a:moveTo>
                  <a:cubicBezTo>
                    <a:pt x="3403" y="694"/>
                    <a:pt x="4159" y="1481"/>
                    <a:pt x="4159" y="2426"/>
                  </a:cubicBezTo>
                  <a:cubicBezTo>
                    <a:pt x="4159" y="3372"/>
                    <a:pt x="3371" y="4159"/>
                    <a:pt x="2426" y="4159"/>
                  </a:cubicBezTo>
                  <a:cubicBezTo>
                    <a:pt x="1481" y="4159"/>
                    <a:pt x="694" y="3372"/>
                    <a:pt x="694" y="2426"/>
                  </a:cubicBezTo>
                  <a:cubicBezTo>
                    <a:pt x="694" y="1481"/>
                    <a:pt x="1481" y="694"/>
                    <a:pt x="2426" y="694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3"/>
                    <a:pt x="0" y="2426"/>
                  </a:cubicBezTo>
                  <a:cubicBezTo>
                    <a:pt x="0" y="3781"/>
                    <a:pt x="1103" y="4884"/>
                    <a:pt x="2426" y="4884"/>
                  </a:cubicBezTo>
                  <a:cubicBezTo>
                    <a:pt x="3781" y="4884"/>
                    <a:pt x="4884" y="3781"/>
                    <a:pt x="4884" y="2426"/>
                  </a:cubicBezTo>
                  <a:cubicBezTo>
                    <a:pt x="4884" y="1103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</p:grpSp>
      <p:sp>
        <p:nvSpPr>
          <p:cNvPr id="235" name="Google Shape;235;p32"/>
          <p:cNvSpPr txBox="1"/>
          <p:nvPr/>
        </p:nvSpPr>
        <p:spPr>
          <a:xfrm>
            <a:off x="5676432" y="2149337"/>
            <a:ext cx="1166975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Conexión básica a Internet</a:t>
            </a:r>
            <a:endParaRPr sz="1200" dirty="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36" name="Google Shape;236;p32"/>
          <p:cNvGrpSpPr/>
          <p:nvPr/>
        </p:nvGrpSpPr>
        <p:grpSpPr>
          <a:xfrm>
            <a:off x="6124530" y="3241648"/>
            <a:ext cx="350707" cy="286336"/>
            <a:chOff x="2144809" y="2741072"/>
            <a:chExt cx="330950" cy="270205"/>
          </a:xfrm>
        </p:grpSpPr>
        <p:sp>
          <p:nvSpPr>
            <p:cNvPr id="237" name="Google Shape;237;p32"/>
            <p:cNvSpPr/>
            <p:nvPr/>
          </p:nvSpPr>
          <p:spPr>
            <a:xfrm>
              <a:off x="2144809" y="2759187"/>
              <a:ext cx="330950" cy="252090"/>
            </a:xfrm>
            <a:custGeom>
              <a:avLst/>
              <a:gdLst/>
              <a:ahLst/>
              <a:cxnLst/>
              <a:rect l="l" t="t" r="r" b="b"/>
              <a:pathLst>
                <a:path w="9153" h="6972" extrusionOk="0">
                  <a:moveTo>
                    <a:pt x="4846" y="3218"/>
                  </a:moveTo>
                  <a:lnTo>
                    <a:pt x="4846" y="4290"/>
                  </a:lnTo>
                  <a:lnTo>
                    <a:pt x="4309" y="4290"/>
                  </a:lnTo>
                  <a:lnTo>
                    <a:pt x="4309" y="3218"/>
                  </a:lnTo>
                  <a:close/>
                  <a:moveTo>
                    <a:pt x="7812" y="4826"/>
                  </a:moveTo>
                  <a:cubicBezTo>
                    <a:pt x="8256" y="4826"/>
                    <a:pt x="8617" y="5188"/>
                    <a:pt x="8617" y="5631"/>
                  </a:cubicBezTo>
                  <a:cubicBezTo>
                    <a:pt x="8617" y="6075"/>
                    <a:pt x="8256" y="6436"/>
                    <a:pt x="7812" y="6436"/>
                  </a:cubicBezTo>
                  <a:lnTo>
                    <a:pt x="1342" y="6436"/>
                  </a:lnTo>
                  <a:cubicBezTo>
                    <a:pt x="898" y="6436"/>
                    <a:pt x="537" y="6075"/>
                    <a:pt x="537" y="5631"/>
                  </a:cubicBezTo>
                  <a:cubicBezTo>
                    <a:pt x="537" y="5188"/>
                    <a:pt x="898" y="4826"/>
                    <a:pt x="1342" y="4826"/>
                  </a:cubicBezTo>
                  <a:close/>
                  <a:moveTo>
                    <a:pt x="4309" y="1"/>
                  </a:moveTo>
                  <a:lnTo>
                    <a:pt x="4309" y="2682"/>
                  </a:lnTo>
                  <a:lnTo>
                    <a:pt x="3772" y="2682"/>
                  </a:lnTo>
                  <a:lnTo>
                    <a:pt x="3772" y="4290"/>
                  </a:lnTo>
                  <a:lnTo>
                    <a:pt x="1342" y="4290"/>
                  </a:lnTo>
                  <a:cubicBezTo>
                    <a:pt x="602" y="4290"/>
                    <a:pt x="0" y="4892"/>
                    <a:pt x="0" y="5631"/>
                  </a:cubicBezTo>
                  <a:cubicBezTo>
                    <a:pt x="0" y="6370"/>
                    <a:pt x="602" y="6972"/>
                    <a:pt x="1342" y="6972"/>
                  </a:cubicBezTo>
                  <a:lnTo>
                    <a:pt x="7812" y="6972"/>
                  </a:lnTo>
                  <a:cubicBezTo>
                    <a:pt x="8552" y="6972"/>
                    <a:pt x="9153" y="6370"/>
                    <a:pt x="9153" y="5631"/>
                  </a:cubicBezTo>
                  <a:cubicBezTo>
                    <a:pt x="9153" y="4892"/>
                    <a:pt x="8552" y="4290"/>
                    <a:pt x="7812" y="4290"/>
                  </a:cubicBezTo>
                  <a:lnTo>
                    <a:pt x="5382" y="4290"/>
                  </a:lnTo>
                  <a:lnTo>
                    <a:pt x="5382" y="2682"/>
                  </a:lnTo>
                  <a:lnTo>
                    <a:pt x="4846" y="2682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2397767" y="2741072"/>
              <a:ext cx="38580" cy="133240"/>
            </a:xfrm>
            <a:custGeom>
              <a:avLst/>
              <a:gdLst/>
              <a:ahLst/>
              <a:cxnLst/>
              <a:rect l="l" t="t" r="r" b="b"/>
              <a:pathLst>
                <a:path w="1067" h="3685" extrusionOk="0">
                  <a:moveTo>
                    <a:pt x="419" y="0"/>
                  </a:moveTo>
                  <a:lnTo>
                    <a:pt x="1" y="336"/>
                  </a:lnTo>
                  <a:cubicBezTo>
                    <a:pt x="348" y="768"/>
                    <a:pt x="530" y="1288"/>
                    <a:pt x="530" y="1842"/>
                  </a:cubicBezTo>
                  <a:cubicBezTo>
                    <a:pt x="530" y="2395"/>
                    <a:pt x="348" y="2917"/>
                    <a:pt x="1" y="3349"/>
                  </a:cubicBezTo>
                  <a:lnTo>
                    <a:pt x="419" y="3684"/>
                  </a:lnTo>
                  <a:cubicBezTo>
                    <a:pt x="836" y="3163"/>
                    <a:pt x="1067" y="2509"/>
                    <a:pt x="1067" y="1842"/>
                  </a:cubicBezTo>
                  <a:cubicBezTo>
                    <a:pt x="1067" y="1175"/>
                    <a:pt x="836" y="521"/>
                    <a:pt x="41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2367503" y="2765298"/>
              <a:ext cx="30047" cy="84789"/>
            </a:xfrm>
            <a:custGeom>
              <a:avLst/>
              <a:gdLst/>
              <a:ahLst/>
              <a:cxnLst/>
              <a:rect l="l" t="t" r="r" b="b"/>
              <a:pathLst>
                <a:path w="831" h="2345" extrusionOk="0">
                  <a:moveTo>
                    <a:pt x="419" y="0"/>
                  </a:moveTo>
                  <a:lnTo>
                    <a:pt x="1" y="335"/>
                  </a:lnTo>
                  <a:cubicBezTo>
                    <a:pt x="194" y="576"/>
                    <a:pt x="295" y="865"/>
                    <a:pt x="295" y="1172"/>
                  </a:cubicBezTo>
                  <a:cubicBezTo>
                    <a:pt x="295" y="1479"/>
                    <a:pt x="194" y="1769"/>
                    <a:pt x="1" y="2009"/>
                  </a:cubicBezTo>
                  <a:lnTo>
                    <a:pt x="419" y="2345"/>
                  </a:lnTo>
                  <a:cubicBezTo>
                    <a:pt x="685" y="2013"/>
                    <a:pt x="831" y="1596"/>
                    <a:pt x="831" y="1172"/>
                  </a:cubicBezTo>
                  <a:cubicBezTo>
                    <a:pt x="831" y="748"/>
                    <a:pt x="685" y="331"/>
                    <a:pt x="41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2337275" y="2789487"/>
              <a:ext cx="21514" cy="36374"/>
            </a:xfrm>
            <a:custGeom>
              <a:avLst/>
              <a:gdLst/>
              <a:ahLst/>
              <a:cxnLst/>
              <a:rect l="l" t="t" r="r" b="b"/>
              <a:pathLst>
                <a:path w="595" h="1006" extrusionOk="0">
                  <a:moveTo>
                    <a:pt x="418" y="1"/>
                  </a:moveTo>
                  <a:lnTo>
                    <a:pt x="0" y="335"/>
                  </a:lnTo>
                  <a:cubicBezTo>
                    <a:pt x="26" y="369"/>
                    <a:pt x="59" y="425"/>
                    <a:pt x="59" y="503"/>
                  </a:cubicBezTo>
                  <a:cubicBezTo>
                    <a:pt x="59" y="581"/>
                    <a:pt x="26" y="637"/>
                    <a:pt x="0" y="671"/>
                  </a:cubicBezTo>
                  <a:lnTo>
                    <a:pt x="418" y="1006"/>
                  </a:lnTo>
                  <a:cubicBezTo>
                    <a:pt x="532" y="863"/>
                    <a:pt x="595" y="685"/>
                    <a:pt x="595" y="503"/>
                  </a:cubicBezTo>
                  <a:cubicBezTo>
                    <a:pt x="595" y="321"/>
                    <a:pt x="532" y="142"/>
                    <a:pt x="418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2184257" y="2741072"/>
              <a:ext cx="38580" cy="133240"/>
            </a:xfrm>
            <a:custGeom>
              <a:avLst/>
              <a:gdLst/>
              <a:ahLst/>
              <a:cxnLst/>
              <a:rect l="l" t="t" r="r" b="b"/>
              <a:pathLst>
                <a:path w="1067" h="3685" extrusionOk="0">
                  <a:moveTo>
                    <a:pt x="648" y="0"/>
                  </a:moveTo>
                  <a:cubicBezTo>
                    <a:pt x="231" y="521"/>
                    <a:pt x="0" y="1175"/>
                    <a:pt x="0" y="1842"/>
                  </a:cubicBezTo>
                  <a:cubicBezTo>
                    <a:pt x="0" y="2509"/>
                    <a:pt x="231" y="3163"/>
                    <a:pt x="648" y="3684"/>
                  </a:cubicBezTo>
                  <a:lnTo>
                    <a:pt x="1066" y="3349"/>
                  </a:lnTo>
                  <a:cubicBezTo>
                    <a:pt x="720" y="2917"/>
                    <a:pt x="536" y="2395"/>
                    <a:pt x="536" y="1842"/>
                  </a:cubicBezTo>
                  <a:cubicBezTo>
                    <a:pt x="536" y="1288"/>
                    <a:pt x="720" y="768"/>
                    <a:pt x="1066" y="336"/>
                  </a:cubicBezTo>
                  <a:lnTo>
                    <a:pt x="648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2223054" y="2765298"/>
              <a:ext cx="30047" cy="84789"/>
            </a:xfrm>
            <a:custGeom>
              <a:avLst/>
              <a:gdLst/>
              <a:ahLst/>
              <a:cxnLst/>
              <a:rect l="l" t="t" r="r" b="b"/>
              <a:pathLst>
                <a:path w="831" h="2345" extrusionOk="0">
                  <a:moveTo>
                    <a:pt x="411" y="0"/>
                  </a:moveTo>
                  <a:cubicBezTo>
                    <a:pt x="146" y="331"/>
                    <a:pt x="0" y="748"/>
                    <a:pt x="0" y="1172"/>
                  </a:cubicBezTo>
                  <a:cubicBezTo>
                    <a:pt x="0" y="1596"/>
                    <a:pt x="146" y="2013"/>
                    <a:pt x="411" y="2345"/>
                  </a:cubicBezTo>
                  <a:lnTo>
                    <a:pt x="830" y="2009"/>
                  </a:lnTo>
                  <a:cubicBezTo>
                    <a:pt x="638" y="1769"/>
                    <a:pt x="536" y="1479"/>
                    <a:pt x="536" y="1172"/>
                  </a:cubicBezTo>
                  <a:cubicBezTo>
                    <a:pt x="536" y="865"/>
                    <a:pt x="638" y="576"/>
                    <a:pt x="830" y="335"/>
                  </a:cubicBezTo>
                  <a:lnTo>
                    <a:pt x="411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2261815" y="2789451"/>
              <a:ext cx="21514" cy="36411"/>
            </a:xfrm>
            <a:custGeom>
              <a:avLst/>
              <a:gdLst/>
              <a:ahLst/>
              <a:cxnLst/>
              <a:rect l="l" t="t" r="r" b="b"/>
              <a:pathLst>
                <a:path w="595" h="1007" extrusionOk="0">
                  <a:moveTo>
                    <a:pt x="177" y="1"/>
                  </a:moveTo>
                  <a:cubicBezTo>
                    <a:pt x="63" y="143"/>
                    <a:pt x="0" y="322"/>
                    <a:pt x="0" y="504"/>
                  </a:cubicBezTo>
                  <a:cubicBezTo>
                    <a:pt x="0" y="686"/>
                    <a:pt x="63" y="864"/>
                    <a:pt x="177" y="1007"/>
                  </a:cubicBezTo>
                  <a:lnTo>
                    <a:pt x="595" y="672"/>
                  </a:lnTo>
                  <a:cubicBezTo>
                    <a:pt x="569" y="638"/>
                    <a:pt x="536" y="582"/>
                    <a:pt x="536" y="504"/>
                  </a:cubicBezTo>
                  <a:cubicBezTo>
                    <a:pt x="536" y="426"/>
                    <a:pt x="569" y="370"/>
                    <a:pt x="595" y="336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2319992" y="2953100"/>
              <a:ext cx="19417" cy="19417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1" y="0"/>
                  </a:moveTo>
                  <a:lnTo>
                    <a:pt x="1" y="537"/>
                  </a:lnTo>
                  <a:lnTo>
                    <a:pt x="537" y="53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2358753" y="2953100"/>
              <a:ext cx="19417" cy="19417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1" y="0"/>
                  </a:moveTo>
                  <a:lnTo>
                    <a:pt x="1" y="537"/>
                  </a:lnTo>
                  <a:lnTo>
                    <a:pt x="537" y="53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2397514" y="2953100"/>
              <a:ext cx="19453" cy="19417"/>
            </a:xfrm>
            <a:custGeom>
              <a:avLst/>
              <a:gdLst/>
              <a:ahLst/>
              <a:cxnLst/>
              <a:rect l="l" t="t" r="r" b="b"/>
              <a:pathLst>
                <a:path w="538" h="537" extrusionOk="0">
                  <a:moveTo>
                    <a:pt x="1" y="0"/>
                  </a:moveTo>
                  <a:lnTo>
                    <a:pt x="1" y="537"/>
                  </a:lnTo>
                  <a:lnTo>
                    <a:pt x="537" y="53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2202986" y="2953100"/>
              <a:ext cx="78245" cy="19417"/>
            </a:xfrm>
            <a:custGeom>
              <a:avLst/>
              <a:gdLst/>
              <a:ahLst/>
              <a:cxnLst/>
              <a:rect l="l" t="t" r="r" b="b"/>
              <a:pathLst>
                <a:path w="2164" h="537" extrusionOk="0">
                  <a:moveTo>
                    <a:pt x="1" y="0"/>
                  </a:moveTo>
                  <a:lnTo>
                    <a:pt x="1" y="537"/>
                  </a:lnTo>
                  <a:lnTo>
                    <a:pt x="2163" y="537"/>
                  </a:lnTo>
                  <a:lnTo>
                    <a:pt x="2163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</p:grpSp>
      <p:sp>
        <p:nvSpPr>
          <p:cNvPr id="248" name="Google Shape;248;p32"/>
          <p:cNvSpPr txBox="1"/>
          <p:nvPr/>
        </p:nvSpPr>
        <p:spPr>
          <a:xfrm>
            <a:off x="4748576" y="3879905"/>
            <a:ext cx="1164713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Cámaras IP de seguridad</a:t>
            </a:r>
            <a:endParaRPr sz="1200" dirty="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49" name="Google Shape;249;p32"/>
          <p:cNvGrpSpPr/>
          <p:nvPr/>
        </p:nvGrpSpPr>
        <p:grpSpPr>
          <a:xfrm>
            <a:off x="604573" y="616101"/>
            <a:ext cx="351880" cy="352803"/>
            <a:chOff x="-23615075" y="3148525"/>
            <a:chExt cx="295375" cy="296150"/>
          </a:xfrm>
        </p:grpSpPr>
        <p:sp>
          <p:nvSpPr>
            <p:cNvPr id="250" name="Google Shape;250;p32"/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/>
        </p:nvSpPr>
        <p:spPr>
          <a:xfrm>
            <a:off x="1932500" y="623453"/>
            <a:ext cx="25443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Propuesta</a:t>
            </a:r>
            <a:endParaRPr sz="3000" dirty="0">
              <a:solidFill>
                <a:srgbClr val="51AFDB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grpSp>
        <p:nvGrpSpPr>
          <p:cNvPr id="259" name="Google Shape;259;p33"/>
          <p:cNvGrpSpPr/>
          <p:nvPr/>
        </p:nvGrpSpPr>
        <p:grpSpPr>
          <a:xfrm>
            <a:off x="1397059" y="658878"/>
            <a:ext cx="437532" cy="284211"/>
            <a:chOff x="-26981375" y="3951875"/>
            <a:chExt cx="296150" cy="242625"/>
          </a:xfrm>
        </p:grpSpPr>
        <p:sp>
          <p:nvSpPr>
            <p:cNvPr id="260" name="Google Shape;260;p33"/>
            <p:cNvSpPr/>
            <p:nvPr/>
          </p:nvSpPr>
          <p:spPr>
            <a:xfrm>
              <a:off x="-26978225" y="3951875"/>
              <a:ext cx="173300" cy="155975"/>
            </a:xfrm>
            <a:custGeom>
              <a:avLst/>
              <a:gdLst/>
              <a:ahLst/>
              <a:cxnLst/>
              <a:rect l="l" t="t" r="r" b="b"/>
              <a:pathLst>
                <a:path w="6932" h="6239" extrusionOk="0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-26981375" y="4124375"/>
              <a:ext cx="174075" cy="70125"/>
            </a:xfrm>
            <a:custGeom>
              <a:avLst/>
              <a:gdLst/>
              <a:ahLst/>
              <a:cxnLst/>
              <a:rect l="l" t="t" r="r" b="b"/>
              <a:pathLst>
                <a:path w="6963" h="2805" extrusionOk="0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-26790000" y="4002300"/>
              <a:ext cx="104775" cy="192200"/>
            </a:xfrm>
            <a:custGeom>
              <a:avLst/>
              <a:gdLst/>
              <a:ahLst/>
              <a:cxnLst/>
              <a:rect l="l" t="t" r="r" b="b"/>
              <a:pathLst>
                <a:path w="4191" h="7688" extrusionOk="0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3" name="Google Shape;263;p33"/>
          <p:cNvSpPr txBox="1"/>
          <p:nvPr/>
        </p:nvSpPr>
        <p:spPr>
          <a:xfrm>
            <a:off x="2240475" y="132881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Separación Lógica de Áreas Críticas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2237867" y="188376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Conectividad Redundante en la DMZ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2272741" y="243871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Topología Leaf-Spine Simplificada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2272741" y="3506720"/>
            <a:ext cx="465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Acceso Remoto Seguro para Administración y Soporte Técnico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2272741" y="292449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Alojamiento Local de Servicios Críticos</a:t>
            </a:r>
            <a:endParaRPr sz="12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268" name="Google Shape;268;p33"/>
          <p:cNvGrpSpPr/>
          <p:nvPr/>
        </p:nvGrpSpPr>
        <p:grpSpPr>
          <a:xfrm>
            <a:off x="2030844" y="1555889"/>
            <a:ext cx="209634" cy="203107"/>
            <a:chOff x="-26583625" y="3917025"/>
            <a:chExt cx="315050" cy="295600"/>
          </a:xfrm>
        </p:grpSpPr>
        <p:sp>
          <p:nvSpPr>
            <p:cNvPr id="269" name="Google Shape;269;p33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" name="Google Shape;273;p33"/>
          <p:cNvGrpSpPr/>
          <p:nvPr/>
        </p:nvGrpSpPr>
        <p:grpSpPr>
          <a:xfrm>
            <a:off x="2030844" y="2110839"/>
            <a:ext cx="209634" cy="203107"/>
            <a:chOff x="-26583625" y="3917025"/>
            <a:chExt cx="315050" cy="295600"/>
          </a:xfrm>
        </p:grpSpPr>
        <p:sp>
          <p:nvSpPr>
            <p:cNvPr id="274" name="Google Shape;274;p33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3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33"/>
          <p:cNvGrpSpPr/>
          <p:nvPr/>
        </p:nvGrpSpPr>
        <p:grpSpPr>
          <a:xfrm>
            <a:off x="2030844" y="2665789"/>
            <a:ext cx="209634" cy="203107"/>
            <a:chOff x="-26583625" y="3917025"/>
            <a:chExt cx="315050" cy="295600"/>
          </a:xfrm>
        </p:grpSpPr>
        <p:sp>
          <p:nvSpPr>
            <p:cNvPr id="279" name="Google Shape;279;p33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3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3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3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33"/>
          <p:cNvGrpSpPr/>
          <p:nvPr/>
        </p:nvGrpSpPr>
        <p:grpSpPr>
          <a:xfrm>
            <a:off x="2030844" y="3137514"/>
            <a:ext cx="209634" cy="203107"/>
            <a:chOff x="-26583625" y="3917025"/>
            <a:chExt cx="315050" cy="295600"/>
          </a:xfrm>
        </p:grpSpPr>
        <p:sp>
          <p:nvSpPr>
            <p:cNvPr id="284" name="Google Shape;284;p33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33"/>
          <p:cNvGrpSpPr/>
          <p:nvPr/>
        </p:nvGrpSpPr>
        <p:grpSpPr>
          <a:xfrm>
            <a:off x="2030844" y="3719739"/>
            <a:ext cx="209634" cy="203107"/>
            <a:chOff x="-26583625" y="3917025"/>
            <a:chExt cx="315050" cy="295600"/>
          </a:xfrm>
        </p:grpSpPr>
        <p:sp>
          <p:nvSpPr>
            <p:cNvPr id="289" name="Google Shape;289;p33"/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3"/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/>
        </p:nvSpPr>
        <p:spPr>
          <a:xfrm>
            <a:off x="1088325" y="466825"/>
            <a:ext cx="4655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Diseño de la topología</a:t>
            </a:r>
            <a:endParaRPr sz="3000">
              <a:solidFill>
                <a:srgbClr val="51AFDB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grpSp>
        <p:nvGrpSpPr>
          <p:cNvPr id="299" name="Google Shape;299;p34"/>
          <p:cNvGrpSpPr/>
          <p:nvPr/>
        </p:nvGrpSpPr>
        <p:grpSpPr>
          <a:xfrm>
            <a:off x="736445" y="466825"/>
            <a:ext cx="351880" cy="352803"/>
            <a:chOff x="-23244900" y="3888100"/>
            <a:chExt cx="295375" cy="296150"/>
          </a:xfrm>
        </p:grpSpPr>
        <p:sp>
          <p:nvSpPr>
            <p:cNvPr id="300" name="Google Shape;300;p34"/>
            <p:cNvSpPr/>
            <p:nvPr/>
          </p:nvSpPr>
          <p:spPr>
            <a:xfrm>
              <a:off x="-23106275" y="3958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-23106275" y="39928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-23106275" y="4062950"/>
              <a:ext cx="18150" cy="34675"/>
            </a:xfrm>
            <a:custGeom>
              <a:avLst/>
              <a:gdLst/>
              <a:ahLst/>
              <a:cxnLst/>
              <a:rect l="l" t="t" r="r" b="b"/>
              <a:pathLst>
                <a:path w="726" h="1387" extrusionOk="0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-23070825" y="3940850"/>
              <a:ext cx="52775" cy="26825"/>
            </a:xfrm>
            <a:custGeom>
              <a:avLst/>
              <a:gdLst/>
              <a:ahLst/>
              <a:cxnLst/>
              <a:rect l="l" t="t" r="r" b="b"/>
              <a:pathLst>
                <a:path w="2111" h="1073" extrusionOk="0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4"/>
            <p:cNvSpPr/>
            <p:nvPr/>
          </p:nvSpPr>
          <p:spPr>
            <a:xfrm>
              <a:off x="-23106275" y="3923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-23106275" y="40275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-23244900" y="3888100"/>
              <a:ext cx="295375" cy="296150"/>
            </a:xfrm>
            <a:custGeom>
              <a:avLst/>
              <a:gdLst/>
              <a:ahLst/>
              <a:cxnLst/>
              <a:rect l="l" t="t" r="r" b="b"/>
              <a:pathLst>
                <a:path w="11815" h="11846" extrusionOk="0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-23070825" y="3975525"/>
              <a:ext cx="43325" cy="26800"/>
            </a:xfrm>
            <a:custGeom>
              <a:avLst/>
              <a:gdLst/>
              <a:ahLst/>
              <a:cxnLst/>
              <a:rect l="l" t="t" r="r" b="b"/>
              <a:pathLst>
                <a:path w="1733" h="1072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-23158250" y="4097600"/>
              <a:ext cx="121300" cy="52000"/>
            </a:xfrm>
            <a:custGeom>
              <a:avLst/>
              <a:gdLst/>
              <a:ahLst/>
              <a:cxnLst/>
              <a:rect l="l" t="t" r="r" b="b"/>
              <a:pathLst>
                <a:path w="4852" h="2080" extrusionOk="0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-23176375" y="3940850"/>
              <a:ext cx="52800" cy="26825"/>
            </a:xfrm>
            <a:custGeom>
              <a:avLst/>
              <a:gdLst/>
              <a:ahLst/>
              <a:cxnLst/>
              <a:rect l="l" t="t" r="r" b="b"/>
              <a:pathLst>
                <a:path w="2112" h="1073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-23166125" y="3976300"/>
              <a:ext cx="44125" cy="26800"/>
            </a:xfrm>
            <a:custGeom>
              <a:avLst/>
              <a:gdLst/>
              <a:ahLst/>
              <a:cxnLst/>
              <a:rect l="l" t="t" r="r" b="b"/>
              <a:pathLst>
                <a:path w="1765" h="1072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2C015614-1F56-85EB-0752-04B39B41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170" y="1032345"/>
            <a:ext cx="6172080" cy="3993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/>
          <p:nvPr/>
        </p:nvSpPr>
        <p:spPr>
          <a:xfrm>
            <a:off x="1875938" y="570925"/>
            <a:ext cx="6075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Audiowide" panose="020B0604020202020204" charset="0"/>
                <a:ea typeface="Khand"/>
                <a:cs typeface="Khand"/>
                <a:sym typeface="Khand"/>
              </a:rPr>
              <a:t>Modelo spine-leaf:  </a:t>
            </a:r>
            <a:r>
              <a:rPr lang="en" sz="3000" dirty="0">
                <a:solidFill>
                  <a:srgbClr val="FFFFFF"/>
                </a:solidFill>
                <a:latin typeface="Audiowide" panose="020B0604020202020204" charset="0"/>
                <a:ea typeface="Khand"/>
                <a:cs typeface="Khand"/>
                <a:sym typeface="Khand"/>
              </a:rPr>
              <a:t>Spine</a:t>
            </a:r>
            <a:endParaRPr sz="3000" dirty="0">
              <a:solidFill>
                <a:srgbClr val="FFFFFF"/>
              </a:solidFill>
              <a:latin typeface="Audiowide" panose="020B0604020202020204" charset="0"/>
              <a:ea typeface="Khand"/>
              <a:cs typeface="Khand"/>
              <a:sym typeface="Khand"/>
            </a:endParaRPr>
          </a:p>
        </p:txBody>
      </p:sp>
      <p:sp>
        <p:nvSpPr>
          <p:cNvPr id="316" name="Google Shape;316;p35"/>
          <p:cNvSpPr txBox="1"/>
          <p:nvPr/>
        </p:nvSpPr>
        <p:spPr>
          <a:xfrm>
            <a:off x="1815500" y="11392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El tronco de la topología Spine-Leaf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1815500" y="1333963"/>
            <a:ext cx="6432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Son el centro de conectividad, desde donde se ramifican los leaf.</a:t>
            </a:r>
            <a:endParaRPr sz="13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18" name="Google Shape;318;p35"/>
          <p:cNvSpPr txBox="1"/>
          <p:nvPr/>
        </p:nvSpPr>
        <p:spPr>
          <a:xfrm>
            <a:off x="1115025" y="1613550"/>
            <a:ext cx="3301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Switches de alto rendimiento y baja latencia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1115025" y="1797900"/>
            <a:ext cx="686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Diseñados para manejar grandes volúmenes de tráfico entre Leaf, sin cuellos de botella.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1771625" y="2081475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No se conectan entre sí ni a dispositivos finales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1771625" y="2288950"/>
            <a:ext cx="624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No enlazan con servidores ni se conectan entre ellos. Su función es solo </a:t>
            </a:r>
            <a:r>
              <a:rPr lang="en" sz="1100">
                <a:solidFill>
                  <a:srgbClr val="3B8794"/>
                </a:solidFill>
                <a:latin typeface="Karla Light"/>
                <a:ea typeface="Karla Light"/>
                <a:cs typeface="Karla Light"/>
                <a:sym typeface="Karla Light"/>
              </a:rPr>
              <a:t>transporte eficiente.</a:t>
            </a:r>
            <a:endParaRPr sz="1100">
              <a:solidFill>
                <a:srgbClr val="3B879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322" name="Google Shape;322;p35"/>
          <p:cNvGrpSpPr/>
          <p:nvPr/>
        </p:nvGrpSpPr>
        <p:grpSpPr>
          <a:xfrm>
            <a:off x="1382479" y="512423"/>
            <a:ext cx="450470" cy="449325"/>
            <a:chOff x="-20946600" y="3317850"/>
            <a:chExt cx="304825" cy="304050"/>
          </a:xfrm>
        </p:grpSpPr>
        <p:sp>
          <p:nvSpPr>
            <p:cNvPr id="323" name="Google Shape;323;p35"/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" name="Google Shape;326;p35"/>
          <p:cNvSpPr txBox="1"/>
          <p:nvPr/>
        </p:nvSpPr>
        <p:spPr>
          <a:xfrm>
            <a:off x="1115025" y="2577363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Malla total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1115025" y="2771513"/>
            <a:ext cx="624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Esto garantiza rutas redundantes, tráfico balanceado y latencia uniforme.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1803350" y="3010800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Escalado horizontal sencillo y limpio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1803350" y="3218275"/>
            <a:ext cx="624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Esto garantiza rutas redundantes, tráfico balanceado y latencia uniforme.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30" name="Google Shape;330;p35"/>
          <p:cNvSpPr txBox="1"/>
          <p:nvPr/>
        </p:nvSpPr>
        <p:spPr>
          <a:xfrm>
            <a:off x="1367050" y="3580500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Distribución, no concentración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1367050" y="3787975"/>
            <a:ext cx="62406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No acumulan funciones, sino que reparten la carga y mantienen la red fluida y simétrica, entre cualquier par de nodos finales.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332" name="Google Shape;332;p35"/>
          <p:cNvGrpSpPr/>
          <p:nvPr/>
        </p:nvGrpSpPr>
        <p:grpSpPr>
          <a:xfrm>
            <a:off x="1490754" y="1266505"/>
            <a:ext cx="280873" cy="296283"/>
            <a:chOff x="-18645175" y="3334200"/>
            <a:chExt cx="307200" cy="305825"/>
          </a:xfrm>
        </p:grpSpPr>
        <p:sp>
          <p:nvSpPr>
            <p:cNvPr id="333" name="Google Shape;333;p3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35"/>
          <p:cNvGrpSpPr/>
          <p:nvPr/>
        </p:nvGrpSpPr>
        <p:grpSpPr>
          <a:xfrm>
            <a:off x="834154" y="1752868"/>
            <a:ext cx="280873" cy="296283"/>
            <a:chOff x="-18645175" y="3334200"/>
            <a:chExt cx="307200" cy="305825"/>
          </a:xfrm>
        </p:grpSpPr>
        <p:sp>
          <p:nvSpPr>
            <p:cNvPr id="339" name="Google Shape;339;p3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35"/>
          <p:cNvGrpSpPr/>
          <p:nvPr/>
        </p:nvGrpSpPr>
        <p:grpSpPr>
          <a:xfrm>
            <a:off x="1490754" y="2201668"/>
            <a:ext cx="280873" cy="296283"/>
            <a:chOff x="-18645175" y="3334200"/>
            <a:chExt cx="307200" cy="305825"/>
          </a:xfrm>
        </p:grpSpPr>
        <p:sp>
          <p:nvSpPr>
            <p:cNvPr id="345" name="Google Shape;345;p3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50;p35"/>
          <p:cNvGrpSpPr/>
          <p:nvPr/>
        </p:nvGrpSpPr>
        <p:grpSpPr>
          <a:xfrm>
            <a:off x="834154" y="2706743"/>
            <a:ext cx="280873" cy="296283"/>
            <a:chOff x="-18645175" y="3334200"/>
            <a:chExt cx="307200" cy="305825"/>
          </a:xfrm>
        </p:grpSpPr>
        <p:sp>
          <p:nvSpPr>
            <p:cNvPr id="351" name="Google Shape;351;p3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35"/>
          <p:cNvGrpSpPr/>
          <p:nvPr/>
        </p:nvGrpSpPr>
        <p:grpSpPr>
          <a:xfrm>
            <a:off x="1490754" y="3149443"/>
            <a:ext cx="280873" cy="296283"/>
            <a:chOff x="-18645175" y="3334200"/>
            <a:chExt cx="307200" cy="305825"/>
          </a:xfrm>
        </p:grpSpPr>
        <p:sp>
          <p:nvSpPr>
            <p:cNvPr id="357" name="Google Shape;357;p3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35"/>
          <p:cNvGrpSpPr/>
          <p:nvPr/>
        </p:nvGrpSpPr>
        <p:grpSpPr>
          <a:xfrm>
            <a:off x="1086179" y="3698818"/>
            <a:ext cx="280873" cy="296283"/>
            <a:chOff x="-18645175" y="3334200"/>
            <a:chExt cx="307200" cy="305825"/>
          </a:xfrm>
        </p:grpSpPr>
        <p:sp>
          <p:nvSpPr>
            <p:cNvPr id="363" name="Google Shape;363;p35"/>
            <p:cNvSpPr/>
            <p:nvPr/>
          </p:nvSpPr>
          <p:spPr>
            <a:xfrm>
              <a:off x="-18627850" y="3424975"/>
              <a:ext cx="289875" cy="215050"/>
            </a:xfrm>
            <a:custGeom>
              <a:avLst/>
              <a:gdLst/>
              <a:ahLst/>
              <a:cxnLst/>
              <a:rect l="l" t="t" r="r" b="b"/>
              <a:pathLst>
                <a:path w="11595" h="8602" extrusionOk="0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-18645175" y="3424975"/>
              <a:ext cx="141800" cy="159900"/>
            </a:xfrm>
            <a:custGeom>
              <a:avLst/>
              <a:gdLst/>
              <a:ahLst/>
              <a:cxnLst/>
              <a:rect l="l" t="t" r="r" b="b"/>
              <a:pathLst>
                <a:path w="5672" h="639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-18466375" y="3334200"/>
              <a:ext cx="54350" cy="71100"/>
            </a:xfrm>
            <a:custGeom>
              <a:avLst/>
              <a:gdLst/>
              <a:ahLst/>
              <a:cxnLst/>
              <a:rect l="l" t="t" r="r" b="b"/>
              <a:pathLst>
                <a:path w="2174" h="2844" extrusionOk="0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-18428575" y="3352500"/>
              <a:ext cx="87450" cy="82725"/>
            </a:xfrm>
            <a:custGeom>
              <a:avLst/>
              <a:gdLst/>
              <a:ahLst/>
              <a:cxnLst/>
              <a:rect l="l" t="t" r="r" b="b"/>
              <a:pathLst>
                <a:path w="3498" h="3309" extrusionOk="0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-18645175" y="3334400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"/>
          <p:cNvSpPr txBox="1"/>
          <p:nvPr/>
        </p:nvSpPr>
        <p:spPr>
          <a:xfrm>
            <a:off x="744900" y="639098"/>
            <a:ext cx="4655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51AFDB"/>
                </a:solidFill>
                <a:latin typeface="Audiowide"/>
                <a:ea typeface="Audiowide"/>
                <a:cs typeface="Audiowide"/>
                <a:sym typeface="Audiowide"/>
              </a:rPr>
              <a:t>Modelo spine-leaf: </a:t>
            </a:r>
            <a:r>
              <a:rPr lang="en" sz="2500" dirty="0">
                <a:solidFill>
                  <a:srgbClr val="FFFFFF"/>
                </a:solidFill>
                <a:latin typeface="Audiowide"/>
                <a:ea typeface="Audiowide"/>
                <a:cs typeface="Audiowide"/>
                <a:sym typeface="Audiowide"/>
              </a:rPr>
              <a:t>Leaf</a:t>
            </a:r>
            <a:endParaRPr sz="2500" dirty="0">
              <a:solidFill>
                <a:srgbClr val="FFFFFF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1288600" y="15667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Punto de conexión final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1288600" y="1741063"/>
            <a:ext cx="546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Representan la primera capa de conexión hacia los dispositivos finales</a:t>
            </a:r>
            <a:endParaRPr sz="13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1288600" y="2099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No se conectan entre sí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6" name="Google Shape;376;p36"/>
          <p:cNvSpPr txBox="1"/>
          <p:nvPr/>
        </p:nvSpPr>
        <p:spPr>
          <a:xfrm>
            <a:off x="1288600" y="2283863"/>
            <a:ext cx="686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Los leaf solo se conectan a los spine. Esta separación garantiza latencia predecible y evita bucles.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1288600" y="26201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Malla completa norte-sur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1288600" y="2816463"/>
            <a:ext cx="699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Cada leaf está conectado a todos los spine, formando una red con redundancia y múltiples rutas.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1288600" y="315438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Escalabilidad horizontal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1288600" y="3353213"/>
            <a:ext cx="699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Se pueden añadir nuevos Leaf sin rediseñar la red, permitiendo crecer sin romper el diseño de red.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1288600" y="3635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Crítico en entornos sensibles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82" name="Google Shape;382;p36"/>
          <p:cNvSpPr txBox="1"/>
          <p:nvPr/>
        </p:nvSpPr>
        <p:spPr>
          <a:xfrm>
            <a:off x="1288600" y="3815700"/>
            <a:ext cx="699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Esenciales para asegurar alta disponibilidad, baja latencia y flujo constante de datos críticos.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383" name="Google Shape;383;p36"/>
          <p:cNvGrpSpPr/>
          <p:nvPr/>
        </p:nvGrpSpPr>
        <p:grpSpPr>
          <a:xfrm>
            <a:off x="373566" y="648173"/>
            <a:ext cx="450470" cy="449325"/>
            <a:chOff x="-20946600" y="3317850"/>
            <a:chExt cx="304825" cy="304050"/>
          </a:xfrm>
        </p:grpSpPr>
        <p:sp>
          <p:nvSpPr>
            <p:cNvPr id="384" name="Google Shape;384;p36"/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87" name="Google Shape;3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1709311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2248636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2767686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3282848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3764548"/>
            <a:ext cx="2736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/>
          <p:nvPr/>
        </p:nvSpPr>
        <p:spPr>
          <a:xfrm>
            <a:off x="748722" y="752976"/>
            <a:ext cx="6075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51AFDB"/>
                </a:solidFill>
                <a:latin typeface="Audiowide"/>
                <a:ea typeface="Audiowide"/>
                <a:cs typeface="Audiowide"/>
                <a:sym typeface="Audiowide"/>
              </a:rPr>
              <a:t>Modelo spine-leaf:  </a:t>
            </a:r>
            <a:r>
              <a:rPr lang="en" sz="2500" dirty="0">
                <a:solidFill>
                  <a:srgbClr val="FFFFFF"/>
                </a:solidFill>
                <a:latin typeface="Audiowide"/>
                <a:ea typeface="Audiowide"/>
                <a:cs typeface="Audiowide"/>
                <a:sym typeface="Audiowide"/>
              </a:rPr>
              <a:t>Border leaf </a:t>
            </a:r>
            <a:endParaRPr sz="2500" dirty="0">
              <a:solidFill>
                <a:srgbClr val="FFFFFF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1386750" y="162904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Leaf especializado para el exterior</a:t>
            </a: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1386750" y="1803345"/>
            <a:ext cx="6432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Conecta la red Spine-Leaf interna con Internet, redes WAN o centros de datos externos.</a:t>
            </a:r>
            <a:endParaRPr sz="13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1393100" y="227960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Punto de control del tráfico externo</a:t>
            </a: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0" name="Google Shape;400;p37"/>
          <p:cNvSpPr txBox="1"/>
          <p:nvPr/>
        </p:nvSpPr>
        <p:spPr>
          <a:xfrm>
            <a:off x="1393100" y="2463955"/>
            <a:ext cx="686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Filtra y redirige tráfico que entra o sale</a:t>
            </a: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01" name="Google Shape;401;p37"/>
          <p:cNvSpPr txBox="1"/>
          <p:nvPr/>
        </p:nvSpPr>
        <p:spPr>
          <a:xfrm>
            <a:off x="1374325" y="28849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Función clave en redes virtualizadas y cloud</a:t>
            </a:r>
            <a:endParaRPr sz="110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2" name="Google Shape;402;p37"/>
          <p:cNvSpPr txBox="1"/>
          <p:nvPr/>
        </p:nvSpPr>
        <p:spPr>
          <a:xfrm>
            <a:off x="1396275" y="3097575"/>
            <a:ext cx="69975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Traduce entre dominios físicos y virtuales, y conecta redes segmentadas o superpuestas. Es común que trabaje con firewalls, IDS/IPS y controladores SDN.</a:t>
            </a: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403" name="Google Shape;403;p37"/>
          <p:cNvGrpSpPr/>
          <p:nvPr/>
        </p:nvGrpSpPr>
        <p:grpSpPr>
          <a:xfrm>
            <a:off x="470766" y="756548"/>
            <a:ext cx="450470" cy="449325"/>
            <a:chOff x="-20946600" y="3317850"/>
            <a:chExt cx="304825" cy="304050"/>
          </a:xfrm>
        </p:grpSpPr>
        <p:sp>
          <p:nvSpPr>
            <p:cNvPr id="404" name="Google Shape;404;p37"/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7" name="Google Shape;4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700" y="1731411"/>
            <a:ext cx="35400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700" y="2361046"/>
            <a:ext cx="35400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275" y="2998029"/>
            <a:ext cx="354000" cy="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/>
        </p:nvSpPr>
        <p:spPr>
          <a:xfrm>
            <a:off x="1787900" y="605315"/>
            <a:ext cx="4941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Separación por zonas funcionales</a:t>
            </a:r>
            <a:endParaRPr sz="3000" dirty="0">
              <a:solidFill>
                <a:srgbClr val="51AFDB"/>
              </a:solidFill>
              <a:latin typeface="Khand"/>
              <a:ea typeface="Khand"/>
              <a:cs typeface="Khand"/>
              <a:sym typeface="Kh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1AFDB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455" name="Google Shape;455;p38"/>
          <p:cNvGrpSpPr/>
          <p:nvPr/>
        </p:nvGrpSpPr>
        <p:grpSpPr>
          <a:xfrm>
            <a:off x="1347099" y="427960"/>
            <a:ext cx="351910" cy="354710"/>
            <a:chOff x="-25094250" y="3176075"/>
            <a:chExt cx="295400" cy="297750"/>
          </a:xfrm>
        </p:grpSpPr>
        <p:sp>
          <p:nvSpPr>
            <p:cNvPr id="456" name="Google Shape;456;p38"/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5D79496A-86BD-FD0A-480D-E54157F2B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00" y="984631"/>
            <a:ext cx="4889433" cy="4073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450" y="1785954"/>
            <a:ext cx="2268531" cy="226853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9"/>
          <p:cNvSpPr txBox="1"/>
          <p:nvPr/>
        </p:nvSpPr>
        <p:spPr>
          <a:xfrm>
            <a:off x="1197525" y="426275"/>
            <a:ext cx="6075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Zona desmilitarizada</a:t>
            </a:r>
            <a:endParaRPr sz="3000">
              <a:solidFill>
                <a:srgbClr val="FFFFFF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grpSp>
        <p:nvGrpSpPr>
          <p:cNvPr id="479" name="Google Shape;479;p39"/>
          <p:cNvGrpSpPr/>
          <p:nvPr/>
        </p:nvGrpSpPr>
        <p:grpSpPr>
          <a:xfrm>
            <a:off x="766697" y="422365"/>
            <a:ext cx="351880" cy="351910"/>
            <a:chOff x="-26573400" y="3546250"/>
            <a:chExt cx="295375" cy="295400"/>
          </a:xfrm>
        </p:grpSpPr>
        <p:sp>
          <p:nvSpPr>
            <p:cNvPr id="480" name="Google Shape;480;p39"/>
            <p:cNvSpPr/>
            <p:nvPr/>
          </p:nvSpPr>
          <p:spPr>
            <a:xfrm>
              <a:off x="-26464700" y="3599225"/>
              <a:ext cx="77200" cy="38425"/>
            </a:xfrm>
            <a:custGeom>
              <a:avLst/>
              <a:gdLst/>
              <a:ahLst/>
              <a:cxnLst/>
              <a:rect l="l" t="t" r="r" b="b"/>
              <a:pathLst>
                <a:path w="3088" h="1537" extrusionOk="0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-26434775" y="3686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-26520625" y="3703775"/>
              <a:ext cx="55950" cy="67775"/>
            </a:xfrm>
            <a:custGeom>
              <a:avLst/>
              <a:gdLst/>
              <a:ahLst/>
              <a:cxnLst/>
              <a:rect l="l" t="t" r="r" b="b"/>
              <a:pathLst>
                <a:path w="2238" h="2711" extrusionOk="0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-26387525" y="3703000"/>
              <a:ext cx="55950" cy="67750"/>
            </a:xfrm>
            <a:custGeom>
              <a:avLst/>
              <a:gdLst/>
              <a:ahLst/>
              <a:cxnLst/>
              <a:rect l="l" t="t" r="r" b="b"/>
              <a:pathLst>
                <a:path w="2238" h="2710" extrusionOk="0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-26573400" y="3546250"/>
              <a:ext cx="295375" cy="295400"/>
            </a:xfrm>
            <a:custGeom>
              <a:avLst/>
              <a:gdLst/>
              <a:ahLst/>
              <a:cxnLst/>
              <a:rect l="l" t="t" r="r" b="b"/>
              <a:pathLst>
                <a:path w="11815" h="11816" extrusionOk="0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39"/>
          <p:cNvGrpSpPr/>
          <p:nvPr/>
        </p:nvGrpSpPr>
        <p:grpSpPr>
          <a:xfrm>
            <a:off x="2217029" y="831428"/>
            <a:ext cx="4036590" cy="3941676"/>
            <a:chOff x="2256567" y="677103"/>
            <a:chExt cx="4036590" cy="3941676"/>
          </a:xfrm>
        </p:grpSpPr>
        <p:sp>
          <p:nvSpPr>
            <p:cNvPr id="486" name="Google Shape;486;p39"/>
            <p:cNvSpPr/>
            <p:nvPr/>
          </p:nvSpPr>
          <p:spPr>
            <a:xfrm rot="-6597333">
              <a:off x="4296826" y="3950027"/>
              <a:ext cx="586303" cy="586303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 rot="-6599386">
              <a:off x="2318596" y="1407533"/>
              <a:ext cx="440541" cy="440541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 rot="-6598839">
              <a:off x="2887641" y="2346984"/>
              <a:ext cx="1199287" cy="1199287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 rot="-6598620">
              <a:off x="4374916" y="913763"/>
              <a:ext cx="1681581" cy="1681581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 rot="-6597866">
              <a:off x="2661829" y="2208216"/>
              <a:ext cx="629106" cy="629106"/>
            </a:xfrm>
            <a:prstGeom prst="ellipse">
              <a:avLst/>
            </a:pr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 rot="-6597701">
              <a:off x="3267625" y="1113818"/>
              <a:ext cx="274172" cy="274172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9"/>
          <p:cNvGrpSpPr/>
          <p:nvPr/>
        </p:nvGrpSpPr>
        <p:grpSpPr>
          <a:xfrm>
            <a:off x="4407656" y="1970091"/>
            <a:ext cx="2440200" cy="2440200"/>
            <a:chOff x="4447194" y="1815766"/>
            <a:chExt cx="2440200" cy="2440200"/>
          </a:xfrm>
        </p:grpSpPr>
        <p:sp>
          <p:nvSpPr>
            <p:cNvPr id="493" name="Google Shape;493;p39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rgbClr val="10355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 txBox="1"/>
            <p:nvPr/>
          </p:nvSpPr>
          <p:spPr>
            <a:xfrm>
              <a:off x="4669665" y="2711428"/>
              <a:ext cx="2124426" cy="1252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51AFDB"/>
                  </a:solidFill>
                  <a:latin typeface="Karla"/>
                  <a:ea typeface="Karla"/>
                  <a:cs typeface="Karla"/>
                  <a:sym typeface="Karla"/>
                </a:rPr>
                <a:t>Zona accesible</a:t>
              </a:r>
              <a:endParaRPr sz="10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51AFDB"/>
                  </a:solidFill>
                  <a:latin typeface="Karla"/>
                  <a:ea typeface="Karla"/>
                  <a:cs typeface="Karla"/>
                  <a:sym typeface="Karla"/>
                </a:rPr>
                <a:t> desde el exterior</a:t>
              </a:r>
              <a:endParaRPr sz="10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FFFFFF"/>
                  </a:solidFill>
                  <a:latin typeface="Karla Light"/>
                  <a:ea typeface="Karla Light"/>
                  <a:cs typeface="Karla Light"/>
                  <a:sym typeface="Karla Light"/>
                </a:rPr>
                <a:t>Es una subred diseñada para alojar servicios públicos como portales web o apps para pacientes externos.</a:t>
              </a:r>
              <a:endParaRPr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endParaRPr>
            </a:p>
          </p:txBody>
        </p:sp>
      </p:grpSp>
      <p:sp>
        <p:nvSpPr>
          <p:cNvPr id="495" name="Google Shape;495;p39"/>
          <p:cNvSpPr/>
          <p:nvPr/>
        </p:nvSpPr>
        <p:spPr>
          <a:xfrm>
            <a:off x="3261525" y="1396450"/>
            <a:ext cx="1891800" cy="1923300"/>
          </a:xfrm>
          <a:prstGeom prst="ellipse">
            <a:avLst/>
          </a:prstGeom>
          <a:solidFill>
            <a:srgbClr val="10355F"/>
          </a:solidFill>
          <a:ln>
            <a:noFill/>
          </a:ln>
          <a:effectLst>
            <a:outerShdw blurRad="228600" dist="50800" dir="5400000" algn="tl" rotWithShape="0">
              <a:srgbClr val="000000">
                <a:alpha val="5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9"/>
          <p:cNvSpPr/>
          <p:nvPr/>
        </p:nvSpPr>
        <p:spPr>
          <a:xfrm>
            <a:off x="3061150" y="3092625"/>
            <a:ext cx="1623900" cy="1575300"/>
          </a:xfrm>
          <a:prstGeom prst="ellipse">
            <a:avLst/>
          </a:prstGeom>
          <a:solidFill>
            <a:srgbClr val="4F81BD"/>
          </a:solidFill>
          <a:ln>
            <a:noFill/>
          </a:ln>
          <a:effectLst>
            <a:outerShdw blurRad="228600" dist="50800" dir="5400000" algn="tl" rotWithShape="0">
              <a:srgbClr val="000000">
                <a:alpha val="5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9"/>
          <p:cNvSpPr/>
          <p:nvPr/>
        </p:nvSpPr>
        <p:spPr>
          <a:xfrm>
            <a:off x="5540128" y="621813"/>
            <a:ext cx="1856803" cy="1780785"/>
          </a:xfrm>
          <a:prstGeom prst="ellipse">
            <a:avLst/>
          </a:prstGeom>
          <a:solidFill>
            <a:srgbClr val="4F81BD"/>
          </a:solidFill>
          <a:ln>
            <a:noFill/>
          </a:ln>
          <a:effectLst>
            <a:outerShdw blurRad="228600" dist="50800" dir="5400000" algn="tl" rotWithShape="0">
              <a:srgbClr val="000000">
                <a:alpha val="5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9"/>
          <p:cNvSpPr txBox="1"/>
          <p:nvPr/>
        </p:nvSpPr>
        <p:spPr>
          <a:xfrm>
            <a:off x="3350955" y="2016798"/>
            <a:ext cx="16239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 Doble protección</a:t>
            </a:r>
            <a:endParaRPr sz="9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Fortinet filtra tráfico desde Internet hacia la DMZ.</a:t>
            </a: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Palo Alto controla lo que la DMZ puede alcanzar internamente.</a:t>
            </a: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99" name="Google Shape;499;p39"/>
          <p:cNvSpPr txBox="1"/>
          <p:nvPr/>
        </p:nvSpPr>
        <p:spPr>
          <a:xfrm>
            <a:off x="3076312" y="3589706"/>
            <a:ext cx="16239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Zona de contención de amenazas</a:t>
            </a:r>
            <a:endParaRPr sz="9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Si un servicio de la DMZ es atacado, el daño queda confinado</a:t>
            </a: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00" name="Google Shape;500;p39"/>
          <p:cNvSpPr txBox="1"/>
          <p:nvPr/>
        </p:nvSpPr>
        <p:spPr>
          <a:xfrm>
            <a:off x="5655734" y="1096503"/>
            <a:ext cx="1625590" cy="119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Escalable y </a:t>
            </a:r>
            <a:endParaRPr sz="9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segura por diseño</a:t>
            </a:r>
            <a:endParaRPr sz="9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Pueden añadirse más servicios externos sin comprometer el rendimiento ni la seguridad del resto de la red.</a:t>
            </a: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3691330" y="3264545"/>
            <a:ext cx="356556" cy="349557"/>
          </a:xfrm>
          <a:custGeom>
            <a:avLst/>
            <a:gdLst/>
            <a:ahLst/>
            <a:cxnLst/>
            <a:rect l="l" t="t" r="r" b="b"/>
            <a:pathLst>
              <a:path w="11972" h="11737" extrusionOk="0">
                <a:moveTo>
                  <a:pt x="3214" y="5522"/>
                </a:moveTo>
                <a:cubicBezTo>
                  <a:pt x="3403" y="5522"/>
                  <a:pt x="3560" y="5679"/>
                  <a:pt x="3560" y="5868"/>
                </a:cubicBezTo>
                <a:cubicBezTo>
                  <a:pt x="3560" y="6057"/>
                  <a:pt x="3403" y="6215"/>
                  <a:pt x="3214" y="6215"/>
                </a:cubicBezTo>
                <a:cubicBezTo>
                  <a:pt x="3024" y="6215"/>
                  <a:pt x="2867" y="6057"/>
                  <a:pt x="2867" y="5868"/>
                </a:cubicBezTo>
                <a:cubicBezTo>
                  <a:pt x="2867" y="5679"/>
                  <a:pt x="3024" y="5522"/>
                  <a:pt x="3214" y="5522"/>
                </a:cubicBezTo>
                <a:close/>
                <a:moveTo>
                  <a:pt x="5986" y="2749"/>
                </a:moveTo>
                <a:cubicBezTo>
                  <a:pt x="6931" y="2749"/>
                  <a:pt x="7719" y="3537"/>
                  <a:pt x="7719" y="4482"/>
                </a:cubicBezTo>
                <a:cubicBezTo>
                  <a:pt x="7719" y="5427"/>
                  <a:pt x="6963" y="6215"/>
                  <a:pt x="5986" y="6215"/>
                </a:cubicBezTo>
                <a:cubicBezTo>
                  <a:pt x="5041" y="6215"/>
                  <a:pt x="4253" y="5427"/>
                  <a:pt x="4253" y="4482"/>
                </a:cubicBezTo>
                <a:cubicBezTo>
                  <a:pt x="4253" y="3537"/>
                  <a:pt x="5041" y="2749"/>
                  <a:pt x="5986" y="2749"/>
                </a:cubicBezTo>
                <a:close/>
                <a:moveTo>
                  <a:pt x="8790" y="5522"/>
                </a:moveTo>
                <a:cubicBezTo>
                  <a:pt x="8979" y="5522"/>
                  <a:pt x="9136" y="5679"/>
                  <a:pt x="9136" y="5868"/>
                </a:cubicBezTo>
                <a:cubicBezTo>
                  <a:pt x="9136" y="6057"/>
                  <a:pt x="8979" y="6215"/>
                  <a:pt x="8790" y="6215"/>
                </a:cubicBezTo>
                <a:cubicBezTo>
                  <a:pt x="8569" y="6215"/>
                  <a:pt x="8412" y="6057"/>
                  <a:pt x="8412" y="5868"/>
                </a:cubicBezTo>
                <a:cubicBezTo>
                  <a:pt x="8412" y="5679"/>
                  <a:pt x="8569" y="5522"/>
                  <a:pt x="8790" y="5522"/>
                </a:cubicBezTo>
                <a:close/>
                <a:moveTo>
                  <a:pt x="4600" y="7601"/>
                </a:moveTo>
                <a:cubicBezTo>
                  <a:pt x="4789" y="7601"/>
                  <a:pt x="4946" y="7759"/>
                  <a:pt x="4946" y="7948"/>
                </a:cubicBezTo>
                <a:cubicBezTo>
                  <a:pt x="4946" y="8168"/>
                  <a:pt x="4789" y="8326"/>
                  <a:pt x="4600" y="8326"/>
                </a:cubicBezTo>
                <a:cubicBezTo>
                  <a:pt x="4411" y="8326"/>
                  <a:pt x="4253" y="8168"/>
                  <a:pt x="4253" y="7948"/>
                </a:cubicBezTo>
                <a:cubicBezTo>
                  <a:pt x="4253" y="7759"/>
                  <a:pt x="4411" y="7601"/>
                  <a:pt x="4600" y="7601"/>
                </a:cubicBezTo>
                <a:close/>
                <a:moveTo>
                  <a:pt x="6679" y="6939"/>
                </a:moveTo>
                <a:cubicBezTo>
                  <a:pt x="7278" y="6939"/>
                  <a:pt x="7719" y="7412"/>
                  <a:pt x="7719" y="7948"/>
                </a:cubicBezTo>
                <a:cubicBezTo>
                  <a:pt x="7719" y="8515"/>
                  <a:pt x="7246" y="8987"/>
                  <a:pt x="6679" y="8987"/>
                </a:cubicBezTo>
                <a:cubicBezTo>
                  <a:pt x="6080" y="8987"/>
                  <a:pt x="5671" y="8515"/>
                  <a:pt x="5671" y="7948"/>
                </a:cubicBezTo>
                <a:cubicBezTo>
                  <a:pt x="5671" y="7412"/>
                  <a:pt x="6143" y="6939"/>
                  <a:pt x="6679" y="6939"/>
                </a:cubicBezTo>
                <a:close/>
                <a:moveTo>
                  <a:pt x="5309" y="1"/>
                </a:moveTo>
                <a:cubicBezTo>
                  <a:pt x="5222" y="1"/>
                  <a:pt x="5135" y="24"/>
                  <a:pt x="5072" y="71"/>
                </a:cubicBezTo>
                <a:cubicBezTo>
                  <a:pt x="4946" y="197"/>
                  <a:pt x="4946" y="449"/>
                  <a:pt x="5072" y="544"/>
                </a:cubicBezTo>
                <a:cubicBezTo>
                  <a:pt x="5356" y="828"/>
                  <a:pt x="5545" y="1080"/>
                  <a:pt x="5639" y="1363"/>
                </a:cubicBezTo>
                <a:cubicBezTo>
                  <a:pt x="5356" y="1426"/>
                  <a:pt x="5041" y="1458"/>
                  <a:pt x="4757" y="1552"/>
                </a:cubicBezTo>
                <a:cubicBezTo>
                  <a:pt x="4474" y="1017"/>
                  <a:pt x="4096" y="796"/>
                  <a:pt x="3592" y="576"/>
                </a:cubicBezTo>
                <a:cubicBezTo>
                  <a:pt x="3552" y="560"/>
                  <a:pt x="3507" y="552"/>
                  <a:pt x="3460" y="552"/>
                </a:cubicBezTo>
                <a:cubicBezTo>
                  <a:pt x="3320" y="552"/>
                  <a:pt x="3166" y="623"/>
                  <a:pt x="3119" y="765"/>
                </a:cubicBezTo>
                <a:cubicBezTo>
                  <a:pt x="3024" y="922"/>
                  <a:pt x="3119" y="1143"/>
                  <a:pt x="3277" y="1206"/>
                </a:cubicBezTo>
                <a:cubicBezTo>
                  <a:pt x="3623" y="1363"/>
                  <a:pt x="3907" y="1552"/>
                  <a:pt x="4064" y="1804"/>
                </a:cubicBezTo>
                <a:cubicBezTo>
                  <a:pt x="3781" y="1930"/>
                  <a:pt x="3529" y="2088"/>
                  <a:pt x="3308" y="2245"/>
                </a:cubicBezTo>
                <a:cubicBezTo>
                  <a:pt x="2867" y="1836"/>
                  <a:pt x="2394" y="1773"/>
                  <a:pt x="1890" y="1741"/>
                </a:cubicBezTo>
                <a:cubicBezTo>
                  <a:pt x="1701" y="1741"/>
                  <a:pt x="1544" y="1836"/>
                  <a:pt x="1481" y="2056"/>
                </a:cubicBezTo>
                <a:cubicBezTo>
                  <a:pt x="1481" y="2245"/>
                  <a:pt x="1607" y="2403"/>
                  <a:pt x="1796" y="2434"/>
                </a:cubicBezTo>
                <a:cubicBezTo>
                  <a:pt x="2205" y="2466"/>
                  <a:pt x="2489" y="2529"/>
                  <a:pt x="2741" y="2718"/>
                </a:cubicBezTo>
                <a:cubicBezTo>
                  <a:pt x="2552" y="2907"/>
                  <a:pt x="2363" y="3159"/>
                  <a:pt x="2205" y="3379"/>
                </a:cubicBezTo>
                <a:cubicBezTo>
                  <a:pt x="1949" y="3294"/>
                  <a:pt x="1725" y="3260"/>
                  <a:pt x="1508" y="3260"/>
                </a:cubicBezTo>
                <a:cubicBezTo>
                  <a:pt x="1243" y="3260"/>
                  <a:pt x="987" y="3310"/>
                  <a:pt x="693" y="3379"/>
                </a:cubicBezTo>
                <a:cubicBezTo>
                  <a:pt x="504" y="3411"/>
                  <a:pt x="441" y="3631"/>
                  <a:pt x="473" y="3821"/>
                </a:cubicBezTo>
                <a:cubicBezTo>
                  <a:pt x="498" y="3970"/>
                  <a:pt x="621" y="4060"/>
                  <a:pt x="781" y="4060"/>
                </a:cubicBezTo>
                <a:cubicBezTo>
                  <a:pt x="823" y="4060"/>
                  <a:pt x="868" y="4054"/>
                  <a:pt x="914" y="4041"/>
                </a:cubicBezTo>
                <a:cubicBezTo>
                  <a:pt x="1160" y="3979"/>
                  <a:pt x="1366" y="3931"/>
                  <a:pt x="1567" y="3931"/>
                </a:cubicBezTo>
                <a:cubicBezTo>
                  <a:pt x="1674" y="3931"/>
                  <a:pt x="1780" y="3945"/>
                  <a:pt x="1890" y="3978"/>
                </a:cubicBezTo>
                <a:cubicBezTo>
                  <a:pt x="1764" y="4262"/>
                  <a:pt x="1638" y="4514"/>
                  <a:pt x="1607" y="4797"/>
                </a:cubicBezTo>
                <a:cubicBezTo>
                  <a:pt x="1071" y="4797"/>
                  <a:pt x="630" y="4986"/>
                  <a:pt x="189" y="5301"/>
                </a:cubicBezTo>
                <a:cubicBezTo>
                  <a:pt x="32" y="5427"/>
                  <a:pt x="0" y="5616"/>
                  <a:pt x="126" y="5774"/>
                </a:cubicBezTo>
                <a:cubicBezTo>
                  <a:pt x="186" y="5874"/>
                  <a:pt x="296" y="5935"/>
                  <a:pt x="409" y="5935"/>
                </a:cubicBezTo>
                <a:cubicBezTo>
                  <a:pt x="474" y="5935"/>
                  <a:pt x="541" y="5915"/>
                  <a:pt x="599" y="5868"/>
                </a:cubicBezTo>
                <a:cubicBezTo>
                  <a:pt x="914" y="5616"/>
                  <a:pt x="1166" y="5459"/>
                  <a:pt x="1481" y="5459"/>
                </a:cubicBezTo>
                <a:cubicBezTo>
                  <a:pt x="1481" y="5585"/>
                  <a:pt x="1449" y="5742"/>
                  <a:pt x="1449" y="5868"/>
                </a:cubicBezTo>
                <a:cubicBezTo>
                  <a:pt x="1449" y="6026"/>
                  <a:pt x="1449" y="6183"/>
                  <a:pt x="1481" y="6341"/>
                </a:cubicBezTo>
                <a:cubicBezTo>
                  <a:pt x="945" y="6530"/>
                  <a:pt x="662" y="6876"/>
                  <a:pt x="347" y="7318"/>
                </a:cubicBezTo>
                <a:cubicBezTo>
                  <a:pt x="221" y="7475"/>
                  <a:pt x="284" y="7664"/>
                  <a:pt x="441" y="7790"/>
                </a:cubicBezTo>
                <a:cubicBezTo>
                  <a:pt x="507" y="7843"/>
                  <a:pt x="584" y="7868"/>
                  <a:pt x="658" y="7868"/>
                </a:cubicBezTo>
                <a:cubicBezTo>
                  <a:pt x="761" y="7868"/>
                  <a:pt x="859" y="7819"/>
                  <a:pt x="914" y="7727"/>
                </a:cubicBezTo>
                <a:cubicBezTo>
                  <a:pt x="1134" y="7349"/>
                  <a:pt x="1323" y="7129"/>
                  <a:pt x="1607" y="7002"/>
                </a:cubicBezTo>
                <a:cubicBezTo>
                  <a:pt x="1701" y="7286"/>
                  <a:pt x="1764" y="7570"/>
                  <a:pt x="1922" y="7822"/>
                </a:cubicBezTo>
                <a:cubicBezTo>
                  <a:pt x="1481" y="8200"/>
                  <a:pt x="1323" y="8609"/>
                  <a:pt x="1166" y="9145"/>
                </a:cubicBezTo>
                <a:cubicBezTo>
                  <a:pt x="1134" y="9334"/>
                  <a:pt x="1260" y="9523"/>
                  <a:pt x="1418" y="9554"/>
                </a:cubicBezTo>
                <a:cubicBezTo>
                  <a:pt x="1452" y="9566"/>
                  <a:pt x="1486" y="9571"/>
                  <a:pt x="1519" y="9571"/>
                </a:cubicBezTo>
                <a:cubicBezTo>
                  <a:pt x="1671" y="9571"/>
                  <a:pt x="1807" y="9463"/>
                  <a:pt x="1859" y="9334"/>
                </a:cubicBezTo>
                <a:cubicBezTo>
                  <a:pt x="1953" y="8924"/>
                  <a:pt x="2048" y="8672"/>
                  <a:pt x="2268" y="8420"/>
                </a:cubicBezTo>
                <a:cubicBezTo>
                  <a:pt x="2426" y="8672"/>
                  <a:pt x="2646" y="8893"/>
                  <a:pt x="2835" y="9082"/>
                </a:cubicBezTo>
                <a:cubicBezTo>
                  <a:pt x="2520" y="9554"/>
                  <a:pt x="2552" y="10027"/>
                  <a:pt x="2583" y="10594"/>
                </a:cubicBezTo>
                <a:cubicBezTo>
                  <a:pt x="2583" y="10783"/>
                  <a:pt x="2741" y="10909"/>
                  <a:pt x="2961" y="10909"/>
                </a:cubicBezTo>
                <a:lnTo>
                  <a:pt x="2993" y="10909"/>
                </a:lnTo>
                <a:cubicBezTo>
                  <a:pt x="3182" y="10909"/>
                  <a:pt x="3308" y="10720"/>
                  <a:pt x="3308" y="10500"/>
                </a:cubicBezTo>
                <a:cubicBezTo>
                  <a:pt x="3277" y="10090"/>
                  <a:pt x="3277" y="9806"/>
                  <a:pt x="3371" y="9523"/>
                </a:cubicBezTo>
                <a:cubicBezTo>
                  <a:pt x="3623" y="9680"/>
                  <a:pt x="3844" y="9838"/>
                  <a:pt x="4127" y="9964"/>
                </a:cubicBezTo>
                <a:cubicBezTo>
                  <a:pt x="4001" y="10500"/>
                  <a:pt x="4159" y="10941"/>
                  <a:pt x="4411" y="11445"/>
                </a:cubicBezTo>
                <a:cubicBezTo>
                  <a:pt x="4452" y="11589"/>
                  <a:pt x="4561" y="11652"/>
                  <a:pt x="4684" y="11652"/>
                </a:cubicBezTo>
                <a:cubicBezTo>
                  <a:pt x="4749" y="11652"/>
                  <a:pt x="4818" y="11635"/>
                  <a:pt x="4883" y="11602"/>
                </a:cubicBezTo>
                <a:cubicBezTo>
                  <a:pt x="5041" y="11539"/>
                  <a:pt x="5104" y="11350"/>
                  <a:pt x="5041" y="11130"/>
                </a:cubicBezTo>
                <a:cubicBezTo>
                  <a:pt x="4883" y="10783"/>
                  <a:pt x="4757" y="10500"/>
                  <a:pt x="4789" y="10184"/>
                </a:cubicBezTo>
                <a:lnTo>
                  <a:pt x="4789" y="10184"/>
                </a:lnTo>
                <a:cubicBezTo>
                  <a:pt x="5072" y="10279"/>
                  <a:pt x="5356" y="10311"/>
                  <a:pt x="5671" y="10342"/>
                </a:cubicBezTo>
                <a:cubicBezTo>
                  <a:pt x="5734" y="10909"/>
                  <a:pt x="6049" y="11256"/>
                  <a:pt x="6427" y="11665"/>
                </a:cubicBezTo>
                <a:cubicBezTo>
                  <a:pt x="6474" y="11712"/>
                  <a:pt x="6561" y="11736"/>
                  <a:pt x="6651" y="11736"/>
                </a:cubicBezTo>
                <a:cubicBezTo>
                  <a:pt x="6742" y="11736"/>
                  <a:pt x="6837" y="11712"/>
                  <a:pt x="6900" y="11665"/>
                </a:cubicBezTo>
                <a:cubicBezTo>
                  <a:pt x="6994" y="11539"/>
                  <a:pt x="6994" y="11287"/>
                  <a:pt x="6900" y="11193"/>
                </a:cubicBezTo>
                <a:cubicBezTo>
                  <a:pt x="6616" y="10909"/>
                  <a:pt x="6427" y="10657"/>
                  <a:pt x="6333" y="10342"/>
                </a:cubicBezTo>
                <a:cubicBezTo>
                  <a:pt x="6616" y="10311"/>
                  <a:pt x="6931" y="10279"/>
                  <a:pt x="7215" y="10184"/>
                </a:cubicBezTo>
                <a:cubicBezTo>
                  <a:pt x="7467" y="10720"/>
                  <a:pt x="7876" y="10941"/>
                  <a:pt x="8380" y="11130"/>
                </a:cubicBezTo>
                <a:cubicBezTo>
                  <a:pt x="8424" y="11156"/>
                  <a:pt x="8474" y="11167"/>
                  <a:pt x="8526" y="11167"/>
                </a:cubicBezTo>
                <a:cubicBezTo>
                  <a:pt x="8662" y="11167"/>
                  <a:pt x="8807" y="11086"/>
                  <a:pt x="8853" y="10972"/>
                </a:cubicBezTo>
                <a:cubicBezTo>
                  <a:pt x="8947" y="10815"/>
                  <a:pt x="8853" y="10594"/>
                  <a:pt x="8695" y="10500"/>
                </a:cubicBezTo>
                <a:cubicBezTo>
                  <a:pt x="8349" y="10374"/>
                  <a:pt x="8065" y="10184"/>
                  <a:pt x="7908" y="9932"/>
                </a:cubicBezTo>
                <a:cubicBezTo>
                  <a:pt x="8191" y="9806"/>
                  <a:pt x="8412" y="9649"/>
                  <a:pt x="8664" y="9491"/>
                </a:cubicBezTo>
                <a:cubicBezTo>
                  <a:pt x="9105" y="9901"/>
                  <a:pt x="9578" y="9964"/>
                  <a:pt x="10082" y="9995"/>
                </a:cubicBezTo>
                <a:lnTo>
                  <a:pt x="10113" y="9995"/>
                </a:lnTo>
                <a:cubicBezTo>
                  <a:pt x="10302" y="9995"/>
                  <a:pt x="10428" y="9869"/>
                  <a:pt x="10460" y="9680"/>
                </a:cubicBezTo>
                <a:cubicBezTo>
                  <a:pt x="10460" y="9491"/>
                  <a:pt x="10365" y="9334"/>
                  <a:pt x="10145" y="9302"/>
                </a:cubicBezTo>
                <a:cubicBezTo>
                  <a:pt x="9767" y="9239"/>
                  <a:pt x="9483" y="9208"/>
                  <a:pt x="9199" y="9019"/>
                </a:cubicBezTo>
                <a:cubicBezTo>
                  <a:pt x="9388" y="8830"/>
                  <a:pt x="9609" y="8578"/>
                  <a:pt x="9767" y="8357"/>
                </a:cubicBezTo>
                <a:cubicBezTo>
                  <a:pt x="9980" y="8437"/>
                  <a:pt x="10181" y="8466"/>
                  <a:pt x="10384" y="8466"/>
                </a:cubicBezTo>
                <a:cubicBezTo>
                  <a:pt x="10660" y="8466"/>
                  <a:pt x="10938" y="8412"/>
                  <a:pt x="11247" y="8357"/>
                </a:cubicBezTo>
                <a:cubicBezTo>
                  <a:pt x="11468" y="8294"/>
                  <a:pt x="11531" y="8105"/>
                  <a:pt x="11499" y="7916"/>
                </a:cubicBezTo>
                <a:cubicBezTo>
                  <a:pt x="11472" y="7751"/>
                  <a:pt x="11300" y="7658"/>
                  <a:pt x="11131" y="7658"/>
                </a:cubicBezTo>
                <a:cubicBezTo>
                  <a:pt x="11107" y="7658"/>
                  <a:pt x="11082" y="7660"/>
                  <a:pt x="11058" y="7664"/>
                </a:cubicBezTo>
                <a:cubicBezTo>
                  <a:pt x="10806" y="7748"/>
                  <a:pt x="10596" y="7804"/>
                  <a:pt x="10391" y="7804"/>
                </a:cubicBezTo>
                <a:cubicBezTo>
                  <a:pt x="10288" y="7804"/>
                  <a:pt x="10187" y="7790"/>
                  <a:pt x="10082" y="7759"/>
                </a:cubicBezTo>
                <a:cubicBezTo>
                  <a:pt x="10208" y="7475"/>
                  <a:pt x="10302" y="7192"/>
                  <a:pt x="10365" y="6939"/>
                </a:cubicBezTo>
                <a:lnTo>
                  <a:pt x="10397" y="6939"/>
                </a:lnTo>
                <a:cubicBezTo>
                  <a:pt x="10932" y="6939"/>
                  <a:pt x="11342" y="6687"/>
                  <a:pt x="11751" y="6372"/>
                </a:cubicBezTo>
                <a:cubicBezTo>
                  <a:pt x="11940" y="6246"/>
                  <a:pt x="11972" y="6057"/>
                  <a:pt x="11846" y="5900"/>
                </a:cubicBezTo>
                <a:cubicBezTo>
                  <a:pt x="11789" y="5843"/>
                  <a:pt x="11687" y="5798"/>
                  <a:pt x="11580" y="5798"/>
                </a:cubicBezTo>
                <a:cubicBezTo>
                  <a:pt x="11509" y="5798"/>
                  <a:pt x="11436" y="5818"/>
                  <a:pt x="11373" y="5868"/>
                </a:cubicBezTo>
                <a:cubicBezTo>
                  <a:pt x="11058" y="6120"/>
                  <a:pt x="10775" y="6278"/>
                  <a:pt x="10460" y="6278"/>
                </a:cubicBezTo>
                <a:cubicBezTo>
                  <a:pt x="10460" y="6152"/>
                  <a:pt x="10491" y="5994"/>
                  <a:pt x="10491" y="5868"/>
                </a:cubicBezTo>
                <a:cubicBezTo>
                  <a:pt x="10491" y="5711"/>
                  <a:pt x="10491" y="5553"/>
                  <a:pt x="10460" y="5396"/>
                </a:cubicBezTo>
                <a:cubicBezTo>
                  <a:pt x="11027" y="5207"/>
                  <a:pt x="11279" y="4860"/>
                  <a:pt x="11594" y="4419"/>
                </a:cubicBezTo>
                <a:cubicBezTo>
                  <a:pt x="11720" y="4262"/>
                  <a:pt x="11688" y="4073"/>
                  <a:pt x="11531" y="3947"/>
                </a:cubicBezTo>
                <a:cubicBezTo>
                  <a:pt x="11465" y="3894"/>
                  <a:pt x="11394" y="3869"/>
                  <a:pt x="11324" y="3869"/>
                </a:cubicBezTo>
                <a:cubicBezTo>
                  <a:pt x="11226" y="3869"/>
                  <a:pt x="11132" y="3918"/>
                  <a:pt x="11058" y="4010"/>
                </a:cubicBezTo>
                <a:cubicBezTo>
                  <a:pt x="10838" y="4388"/>
                  <a:pt x="10617" y="4608"/>
                  <a:pt x="10365" y="4734"/>
                </a:cubicBezTo>
                <a:cubicBezTo>
                  <a:pt x="10271" y="4451"/>
                  <a:pt x="10176" y="4167"/>
                  <a:pt x="10019" y="3915"/>
                </a:cubicBezTo>
                <a:cubicBezTo>
                  <a:pt x="10460" y="3537"/>
                  <a:pt x="10617" y="3127"/>
                  <a:pt x="10775" y="2592"/>
                </a:cubicBezTo>
                <a:cubicBezTo>
                  <a:pt x="10806" y="2403"/>
                  <a:pt x="10712" y="2214"/>
                  <a:pt x="10554" y="2182"/>
                </a:cubicBezTo>
                <a:cubicBezTo>
                  <a:pt x="10520" y="2171"/>
                  <a:pt x="10485" y="2166"/>
                  <a:pt x="10450" y="2166"/>
                </a:cubicBezTo>
                <a:cubicBezTo>
                  <a:pt x="10292" y="2166"/>
                  <a:pt x="10139" y="2274"/>
                  <a:pt x="10113" y="2403"/>
                </a:cubicBezTo>
                <a:cubicBezTo>
                  <a:pt x="9987" y="2812"/>
                  <a:pt x="9924" y="3064"/>
                  <a:pt x="9672" y="3316"/>
                </a:cubicBezTo>
                <a:cubicBezTo>
                  <a:pt x="9515" y="3064"/>
                  <a:pt x="9325" y="2844"/>
                  <a:pt x="9136" y="2655"/>
                </a:cubicBezTo>
                <a:cubicBezTo>
                  <a:pt x="9451" y="2182"/>
                  <a:pt x="9388" y="1710"/>
                  <a:pt x="9357" y="1143"/>
                </a:cubicBezTo>
                <a:cubicBezTo>
                  <a:pt x="9357" y="954"/>
                  <a:pt x="9168" y="828"/>
                  <a:pt x="8979" y="828"/>
                </a:cubicBezTo>
                <a:cubicBezTo>
                  <a:pt x="8790" y="828"/>
                  <a:pt x="8664" y="1017"/>
                  <a:pt x="8664" y="1237"/>
                </a:cubicBezTo>
                <a:cubicBezTo>
                  <a:pt x="8695" y="1647"/>
                  <a:pt x="8695" y="1930"/>
                  <a:pt x="8569" y="2214"/>
                </a:cubicBezTo>
                <a:cubicBezTo>
                  <a:pt x="8349" y="2056"/>
                  <a:pt x="8097" y="1899"/>
                  <a:pt x="7813" y="1773"/>
                </a:cubicBezTo>
                <a:cubicBezTo>
                  <a:pt x="7939" y="1237"/>
                  <a:pt x="7782" y="796"/>
                  <a:pt x="7561" y="292"/>
                </a:cubicBezTo>
                <a:cubicBezTo>
                  <a:pt x="7493" y="178"/>
                  <a:pt x="7375" y="97"/>
                  <a:pt x="7243" y="97"/>
                </a:cubicBezTo>
                <a:cubicBezTo>
                  <a:pt x="7193" y="97"/>
                  <a:pt x="7141" y="108"/>
                  <a:pt x="7089" y="134"/>
                </a:cubicBezTo>
                <a:cubicBezTo>
                  <a:pt x="6931" y="197"/>
                  <a:pt x="6837" y="386"/>
                  <a:pt x="6931" y="607"/>
                </a:cubicBezTo>
                <a:cubicBezTo>
                  <a:pt x="7089" y="954"/>
                  <a:pt x="7215" y="1237"/>
                  <a:pt x="7152" y="1552"/>
                </a:cubicBezTo>
                <a:cubicBezTo>
                  <a:pt x="6900" y="1458"/>
                  <a:pt x="6616" y="1426"/>
                  <a:pt x="6301" y="1395"/>
                </a:cubicBezTo>
                <a:cubicBezTo>
                  <a:pt x="6206" y="828"/>
                  <a:pt x="5891" y="481"/>
                  <a:pt x="5545" y="71"/>
                </a:cubicBezTo>
                <a:cubicBezTo>
                  <a:pt x="5482" y="24"/>
                  <a:pt x="5395" y="1"/>
                  <a:pt x="5309" y="1"/>
                </a:cubicBezTo>
                <a:close/>
              </a:path>
            </a:pathLst>
          </a:custGeom>
          <a:solidFill>
            <a:srgbClr val="51AF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2" name="Google Shape;502;p39"/>
          <p:cNvGrpSpPr/>
          <p:nvPr/>
        </p:nvGrpSpPr>
        <p:grpSpPr>
          <a:xfrm>
            <a:off x="4032011" y="1587199"/>
            <a:ext cx="310602" cy="352803"/>
            <a:chOff x="-28069875" y="3175300"/>
            <a:chExt cx="260725" cy="296150"/>
          </a:xfrm>
          <a:solidFill>
            <a:srgbClr val="51AFDB"/>
          </a:solidFill>
        </p:grpSpPr>
        <p:sp>
          <p:nvSpPr>
            <p:cNvPr id="503" name="Google Shape;503;p39"/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39"/>
          <p:cNvGrpSpPr/>
          <p:nvPr/>
        </p:nvGrpSpPr>
        <p:grpSpPr>
          <a:xfrm>
            <a:off x="6352314" y="705217"/>
            <a:ext cx="315307" cy="351910"/>
            <a:chOff x="-23962425" y="3519475"/>
            <a:chExt cx="264675" cy="295400"/>
          </a:xfrm>
        </p:grpSpPr>
        <p:sp>
          <p:nvSpPr>
            <p:cNvPr id="513" name="Google Shape;513;p39"/>
            <p:cNvSpPr/>
            <p:nvPr/>
          </p:nvSpPr>
          <p:spPr>
            <a:xfrm>
              <a:off x="-23961625" y="3580925"/>
              <a:ext cx="263875" cy="233950"/>
            </a:xfrm>
            <a:custGeom>
              <a:avLst/>
              <a:gdLst/>
              <a:ahLst/>
              <a:cxnLst/>
              <a:rect l="l" t="t" r="r" b="b"/>
              <a:pathLst>
                <a:path w="10555" h="9358" extrusionOk="0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-23962425" y="3519475"/>
              <a:ext cx="158350" cy="122125"/>
            </a:xfrm>
            <a:custGeom>
              <a:avLst/>
              <a:gdLst/>
              <a:ahLst/>
              <a:cxnLst/>
              <a:rect l="l" t="t" r="r" b="b"/>
              <a:pathLst>
                <a:path w="6334" h="4885" extrusionOk="0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1AFDB"/>
                </a:solidFill>
              </a:endParaRPr>
            </a:p>
          </p:txBody>
        </p:sp>
      </p:grpSp>
      <p:grpSp>
        <p:nvGrpSpPr>
          <p:cNvPr id="2" name="Google Shape;601;p36">
            <a:extLst>
              <a:ext uri="{FF2B5EF4-FFF2-40B4-BE49-F238E27FC236}">
                <a16:creationId xmlns:a16="http://schemas.microsoft.com/office/drawing/2014/main" id="{332A1284-F0D3-4C40-A03C-499A9E391CF4}"/>
              </a:ext>
            </a:extLst>
          </p:cNvPr>
          <p:cNvGrpSpPr/>
          <p:nvPr/>
        </p:nvGrpSpPr>
        <p:grpSpPr>
          <a:xfrm>
            <a:off x="5507062" y="2402598"/>
            <a:ext cx="311979" cy="458407"/>
            <a:chOff x="-23930925" y="3149300"/>
            <a:chExt cx="192200" cy="294625"/>
          </a:xfrm>
          <a:solidFill>
            <a:srgbClr val="51AFDB"/>
          </a:solidFill>
        </p:grpSpPr>
        <p:sp>
          <p:nvSpPr>
            <p:cNvPr id="3" name="Google Shape;602;p36">
              <a:extLst>
                <a:ext uri="{FF2B5EF4-FFF2-40B4-BE49-F238E27FC236}">
                  <a16:creationId xmlns:a16="http://schemas.microsoft.com/office/drawing/2014/main" id="{A465C356-99D9-9613-3809-2825A2E4F8DC}"/>
                </a:ext>
              </a:extLst>
            </p:cNvPr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03;p36">
              <a:extLst>
                <a:ext uri="{FF2B5EF4-FFF2-40B4-BE49-F238E27FC236}">
                  <a16:creationId xmlns:a16="http://schemas.microsoft.com/office/drawing/2014/main" id="{ECFFD216-1CDE-9798-EDFA-F19D178EBF2D}"/>
                </a:ext>
              </a:extLst>
            </p:cNvPr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04;p36">
              <a:extLst>
                <a:ext uri="{FF2B5EF4-FFF2-40B4-BE49-F238E27FC236}">
                  <a16:creationId xmlns:a16="http://schemas.microsoft.com/office/drawing/2014/main" id="{BB29EF15-D949-DA42-814E-03B168FDADE4}"/>
                </a:ext>
              </a:extLst>
            </p:cNvPr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5;p36">
              <a:extLst>
                <a:ext uri="{FF2B5EF4-FFF2-40B4-BE49-F238E27FC236}">
                  <a16:creationId xmlns:a16="http://schemas.microsoft.com/office/drawing/2014/main" id="{E4F340EB-D834-CF94-478A-4EA2C2C0CCAE}"/>
                </a:ext>
              </a:extLst>
            </p:cNvPr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 txBox="1"/>
          <p:nvPr/>
        </p:nvSpPr>
        <p:spPr>
          <a:xfrm>
            <a:off x="694725" y="595300"/>
            <a:ext cx="60756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Firewalls</a:t>
            </a:r>
            <a:endParaRPr sz="3000">
              <a:solidFill>
                <a:srgbClr val="FFFFFF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pic>
        <p:nvPicPr>
          <p:cNvPr id="520" name="Google Shape;52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25" y="1370225"/>
            <a:ext cx="2220700" cy="247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40"/>
          <p:cNvGrpSpPr/>
          <p:nvPr/>
        </p:nvGrpSpPr>
        <p:grpSpPr>
          <a:xfrm>
            <a:off x="1870104" y="2099218"/>
            <a:ext cx="2100479" cy="2003795"/>
            <a:chOff x="2961500" y="961400"/>
            <a:chExt cx="3221100" cy="3220500"/>
          </a:xfrm>
        </p:grpSpPr>
        <p:sp>
          <p:nvSpPr>
            <p:cNvPr id="522" name="Google Shape;522;p40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 txBox="1"/>
            <p:nvPr/>
          </p:nvSpPr>
          <p:spPr>
            <a:xfrm>
              <a:off x="3590754" y="1200964"/>
              <a:ext cx="19623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"/>
                  <a:ea typeface="Karla"/>
                  <a:cs typeface="Karla"/>
                  <a:sym typeface="Karla"/>
                </a:rPr>
                <a:t>Fortinet </a:t>
              </a:r>
              <a:endParaRPr sz="10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"/>
                  <a:ea typeface="Karla"/>
                  <a:cs typeface="Karla"/>
                  <a:sym typeface="Karla"/>
                </a:rPr>
                <a:t>Filtro perimetral</a:t>
              </a:r>
              <a:endParaRPr sz="10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4" name="Google Shape;524;p40"/>
          <p:cNvGrpSpPr/>
          <p:nvPr/>
        </p:nvGrpSpPr>
        <p:grpSpPr>
          <a:xfrm>
            <a:off x="2204338" y="2736849"/>
            <a:ext cx="1431816" cy="1366165"/>
            <a:chOff x="3474050" y="1986200"/>
            <a:chExt cx="2195700" cy="2195700"/>
          </a:xfrm>
        </p:grpSpPr>
        <p:sp>
          <p:nvSpPr>
            <p:cNvPr id="525" name="Google Shape;525;p40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103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0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solidFill>
              <a:srgbClr val="103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"/>
                  <a:ea typeface="Karla"/>
                  <a:cs typeface="Karla"/>
                  <a:sym typeface="Karla"/>
                </a:rPr>
                <a:t>Palo Alto Firewall interno</a:t>
              </a:r>
              <a:endParaRPr sz="10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7" name="Google Shape;527;p40"/>
          <p:cNvSpPr txBox="1"/>
          <p:nvPr/>
        </p:nvSpPr>
        <p:spPr>
          <a:xfrm>
            <a:off x="4269129" y="1831888"/>
            <a:ext cx="41229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Su rol es  interceptar todo el tráfico entrante desde el exterior y determinar qué puede o no ingresar a la DMZ. Aquí se aplicarán políticas de seguridad clásicas, como control de puertos, IPs permitidas, bloqueo de escaneos, y protección contra ataques de denegación de servicio.</a:t>
            </a: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cxnSp>
        <p:nvCxnSpPr>
          <p:cNvPr id="528" name="Google Shape;528;p40"/>
          <p:cNvCxnSpPr>
            <a:stCxn id="522" idx="7"/>
          </p:cNvCxnSpPr>
          <p:nvPr/>
        </p:nvCxnSpPr>
        <p:spPr>
          <a:xfrm rot="10800000" flipH="1">
            <a:off x="3662975" y="2302067"/>
            <a:ext cx="543300" cy="90600"/>
          </a:xfrm>
          <a:prstGeom prst="straightConnector1">
            <a:avLst/>
          </a:prstGeom>
          <a:noFill/>
          <a:ln w="9525" cap="flat" cmpd="sng">
            <a:solidFill>
              <a:srgbClr val="51AFDB"/>
            </a:solidFill>
            <a:prstDash val="solid"/>
            <a:round/>
            <a:headEnd type="none" w="med" len="med"/>
            <a:tailEnd type="oval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529" name="Google Shape;529;p40"/>
          <p:cNvCxnSpPr/>
          <p:nvPr/>
        </p:nvCxnSpPr>
        <p:spPr>
          <a:xfrm>
            <a:off x="3600129" y="3392506"/>
            <a:ext cx="669000" cy="900"/>
          </a:xfrm>
          <a:prstGeom prst="straightConnector1">
            <a:avLst/>
          </a:prstGeom>
          <a:noFill/>
          <a:ln w="9525" cap="flat" cmpd="sng">
            <a:solidFill>
              <a:srgbClr val="10355F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30" name="Google Shape;530;p40"/>
          <p:cNvSpPr txBox="1"/>
          <p:nvPr/>
        </p:nvSpPr>
        <p:spPr>
          <a:xfrm>
            <a:off x="4304817" y="2927063"/>
            <a:ext cx="41229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Está enfocado hacia dentro. Controla el tráfico que intenta salir de la DMZ hacia la red interna del hospital. Este dispositivo no solo filtra por puertos o direcciones IP, sino que realiza una inspección profunda basada en aplicaciones y servicios específicos.</a:t>
            </a: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5" name="Google Shape;535;p41"/>
          <p:cNvGraphicFramePr/>
          <p:nvPr>
            <p:extLst>
              <p:ext uri="{D42A27DB-BD31-4B8C-83A1-F6EECF244321}">
                <p14:modId xmlns:p14="http://schemas.microsoft.com/office/powerpoint/2010/main" val="2863821074"/>
              </p:ext>
            </p:extLst>
          </p:nvPr>
        </p:nvGraphicFramePr>
        <p:xfrm>
          <a:off x="1462150" y="646238"/>
          <a:ext cx="5781675" cy="1747920"/>
        </p:xfrm>
        <a:graphic>
          <a:graphicData uri="http://schemas.openxmlformats.org/drawingml/2006/table">
            <a:tbl>
              <a:tblPr firstRow="1" firstCol="1" bandRow="1">
                <a:noFill/>
                <a:tableStyleId>{B75E2333-3B21-44D1-9068-5403983961C8}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ID</a:t>
                      </a:r>
                      <a:endParaRPr sz="1000" b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Origen</a:t>
                      </a:r>
                      <a:endParaRPr sz="1000" b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dirty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Destino</a:t>
                      </a:r>
                      <a:endParaRPr sz="1000" b="0" dirty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Servicio</a:t>
                      </a:r>
                      <a:endParaRPr sz="1000" b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Acción</a:t>
                      </a:r>
                      <a:endParaRPr sz="1000" b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1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Internet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web_server_dmz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HTTP, HTTPS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2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host_gestion_remoto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fw_fortinet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SSH, HTTPS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3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web_server_dmz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Internet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Established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4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web_server_dmz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Red interna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Deny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999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Any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Any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Deny (catch-all)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8" name="Google Shape;538;p41"/>
          <p:cNvGraphicFramePr/>
          <p:nvPr>
            <p:extLst>
              <p:ext uri="{D42A27DB-BD31-4B8C-83A1-F6EECF244321}">
                <p14:modId xmlns:p14="http://schemas.microsoft.com/office/powerpoint/2010/main" val="81025654"/>
              </p:ext>
            </p:extLst>
          </p:nvPr>
        </p:nvGraphicFramePr>
        <p:xfrm>
          <a:off x="1462150" y="3286928"/>
          <a:ext cx="5781675" cy="1634400"/>
        </p:xfrm>
        <a:graphic>
          <a:graphicData uri="http://schemas.openxmlformats.org/drawingml/2006/table">
            <a:tbl>
              <a:tblPr firstRow="1" firstCol="1" bandRow="1">
                <a:noFill/>
                <a:tableStyleId>{B75E2333-3B21-44D1-9068-5403983961C8}</a:tableStyleId>
              </a:tblPr>
              <a:tblGrid>
                <a:gridCol w="119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Nombre</a:t>
                      </a:r>
                      <a:endParaRPr sz="1000" b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68575" marR="68575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 zona</a:t>
                      </a:r>
                      <a:endParaRPr sz="1000" b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68575" marR="68575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dirty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 zona</a:t>
                      </a:r>
                      <a:endParaRPr sz="1000" b="0" dirty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68575" marR="68575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dirty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Aplicación / Servicio</a:t>
                      </a:r>
                      <a:endParaRPr sz="1000" b="0" dirty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68575" marR="68575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dirty="0">
                          <a:solidFill>
                            <a:srgbClr val="FFFFFF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Acción</a:t>
                      </a:r>
                      <a:endParaRPr sz="1000" b="0" dirty="0">
                        <a:solidFill>
                          <a:srgbClr val="FFFFFF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68575" marR="68575" marT="0" marB="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allow_dmz_db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dmz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ntranet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PostgreSQL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allow_dmz_dns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mz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ntranet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DNS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allow_mgmt_pa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ntranet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ntranet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SSH, HTTPS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Allow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block_dmz_internal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mz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ntranet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Deny</a:t>
                      </a:r>
                      <a:endParaRPr sz="8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deny_all</a:t>
                      </a:r>
                      <a:endParaRPr sz="8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ny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</a:t>
                      </a: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ny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All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Deny</a:t>
                      </a:r>
                      <a:endParaRPr sz="8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30" name="Picture 6" descr="Fortinet Icon Library">
            <a:extLst>
              <a:ext uri="{FF2B5EF4-FFF2-40B4-BE49-F238E27FC236}">
                <a16:creationId xmlns:a16="http://schemas.microsoft.com/office/drawing/2014/main" id="{2FE0CE0E-08FC-AE0E-C918-AAA54A904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20271" r="5923" b="19133"/>
          <a:stretch/>
        </p:blipFill>
        <p:spPr bwMode="auto">
          <a:xfrm>
            <a:off x="615887" y="150734"/>
            <a:ext cx="1692525" cy="31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lo Alto Networks">
            <a:extLst>
              <a:ext uri="{FF2B5EF4-FFF2-40B4-BE49-F238E27FC236}">
                <a16:creationId xmlns:a16="http://schemas.microsoft.com/office/drawing/2014/main" id="{C8BC65D9-3690-FCCD-4B22-EBD33BDD3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1" b="20330"/>
          <a:stretch/>
        </p:blipFill>
        <p:spPr bwMode="auto">
          <a:xfrm>
            <a:off x="676270" y="2718392"/>
            <a:ext cx="1385441" cy="40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2"/>
          <p:cNvSpPr txBox="1"/>
          <p:nvPr/>
        </p:nvSpPr>
        <p:spPr>
          <a:xfrm>
            <a:off x="1937575" y="682935"/>
            <a:ext cx="4865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Entorno de pruebas</a:t>
            </a:r>
            <a:endParaRPr sz="3000" dirty="0">
              <a:solidFill>
                <a:srgbClr val="FFFFFF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grpSp>
        <p:nvGrpSpPr>
          <p:cNvPr id="544" name="Google Shape;544;p42"/>
          <p:cNvGrpSpPr/>
          <p:nvPr/>
        </p:nvGrpSpPr>
        <p:grpSpPr>
          <a:xfrm>
            <a:off x="1413930" y="682935"/>
            <a:ext cx="353757" cy="352565"/>
            <a:chOff x="-26980600" y="3175500"/>
            <a:chExt cx="296950" cy="295950"/>
          </a:xfrm>
        </p:grpSpPr>
        <p:sp>
          <p:nvSpPr>
            <p:cNvPr id="545" name="Google Shape;545;p42"/>
            <p:cNvSpPr/>
            <p:nvPr/>
          </p:nvSpPr>
          <p:spPr>
            <a:xfrm>
              <a:off x="-26798650" y="3175500"/>
              <a:ext cx="115000" cy="114025"/>
            </a:xfrm>
            <a:custGeom>
              <a:avLst/>
              <a:gdLst/>
              <a:ahLst/>
              <a:cxnLst/>
              <a:rect l="l" t="t" r="r" b="b"/>
              <a:pathLst>
                <a:path w="4600" h="4561" extrusionOk="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-26980600" y="3325725"/>
              <a:ext cx="168575" cy="145725"/>
            </a:xfrm>
            <a:custGeom>
              <a:avLst/>
              <a:gdLst/>
              <a:ahLst/>
              <a:cxnLst/>
              <a:rect l="l" t="t" r="r" b="b"/>
              <a:pathLst>
                <a:path w="6743" h="5829" extrusionOk="0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2"/>
            <p:cNvSpPr/>
            <p:nvPr/>
          </p:nvSpPr>
          <p:spPr>
            <a:xfrm>
              <a:off x="-26893950" y="3226500"/>
              <a:ext cx="159125" cy="137850"/>
            </a:xfrm>
            <a:custGeom>
              <a:avLst/>
              <a:gdLst/>
              <a:ahLst/>
              <a:cxnLst/>
              <a:rect l="l" t="t" r="r" b="b"/>
              <a:pathLst>
                <a:path w="6365" h="5514" extrusionOk="0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548" name="Google Shape;548;p42"/>
          <p:cNvGraphicFramePr/>
          <p:nvPr>
            <p:extLst>
              <p:ext uri="{D42A27DB-BD31-4B8C-83A1-F6EECF244321}">
                <p14:modId xmlns:p14="http://schemas.microsoft.com/office/powerpoint/2010/main" val="2199571579"/>
              </p:ext>
            </p:extLst>
          </p:nvPr>
        </p:nvGraphicFramePr>
        <p:xfrm>
          <a:off x="993774" y="1550549"/>
          <a:ext cx="7058026" cy="3172272"/>
        </p:xfrm>
        <a:graphic>
          <a:graphicData uri="http://schemas.openxmlformats.org/drawingml/2006/table">
            <a:tbl>
              <a:tblPr firstRow="1" firstCol="1" bandRow="1">
                <a:noFill/>
                <a:tableStyleId>{B75E2333-3B21-44D1-9068-5403983961C8}</a:tableStyleId>
              </a:tblPr>
              <a:tblGrid>
                <a:gridCol w="166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02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dirty="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Nodo</a:t>
                      </a:r>
                      <a:endParaRPr sz="800" b="0" dirty="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108000" marR="108000" marT="108000" marB="108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Rol / Tipo</a:t>
                      </a:r>
                      <a:endParaRPr sz="800" b="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108000" marR="108000" marT="108000" marB="108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Imagen utilizada</a:t>
                      </a:r>
                      <a:endParaRPr sz="800" b="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108000" marR="108000" marT="108000" marB="108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Función principal</a:t>
                      </a:r>
                      <a:endParaRPr sz="800" b="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108000" marR="108000" marT="108000" marB="108000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spine1/2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Spine switches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vrnetlab/cisco_iol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Núcleo de distribución de tráfico entre hojas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leaf1-4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Switches de acceso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vrnetlab/cisco_iol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Acceso por VLAN según zona funcional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border-leaf1/2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Conectores a firewalls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vrnetlab/cisco_iol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Conexión entre red interna y firewalls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fw_fortinet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Firewall perimetral externo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vrnetlab/vr-fortios:fortios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Filtrado inicial desde el exterior (Internet)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fw_paloalto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Firewall interno DMZ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vrnetlab/paloalto_pa-vm:10.0.11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Control del tráfico entre DMZ y red interna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web_server_dmz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Servidor expuesto (DMZ)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debian:latest</a:t>
                      </a:r>
                      <a:endParaRPr sz="7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Publicación de resultados o formularios web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dns_dhcp_server, base_datos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Servicios internos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debian:latest</a:t>
                      </a:r>
                      <a:endParaRPr sz="7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Infraestructura de red y servicios clínicos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2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camaraX, host_gestion, host_electro</a:t>
                      </a:r>
                      <a:endParaRPr sz="700" b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Clientes y dispositivos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alpine:latest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Equipos conectados según función</a:t>
                      </a:r>
                      <a:endParaRPr sz="700" dirty="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L="72000" marR="72000" marT="72000" marB="72000" anchor="ctr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 txBox="1"/>
          <p:nvPr/>
        </p:nvSpPr>
        <p:spPr>
          <a:xfrm>
            <a:off x="1848813" y="397769"/>
            <a:ext cx="4865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Protocolos a implementar</a:t>
            </a:r>
            <a:endParaRPr sz="3000" dirty="0">
              <a:solidFill>
                <a:srgbClr val="FFFFFF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sp>
        <p:nvSpPr>
          <p:cNvPr id="554" name="Google Shape;554;p43"/>
          <p:cNvSpPr/>
          <p:nvPr/>
        </p:nvSpPr>
        <p:spPr>
          <a:xfrm>
            <a:off x="1419810" y="422369"/>
            <a:ext cx="352803" cy="350719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rgbClr val="51AF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3"/>
          <p:cNvSpPr txBox="1"/>
          <p:nvPr/>
        </p:nvSpPr>
        <p:spPr>
          <a:xfrm>
            <a:off x="2513363" y="1148173"/>
            <a:ext cx="4590600" cy="391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</a:rPr>
              <a:t>Enrutamiento y segmentación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OSPF → Enrutamiento dinámico interno, rápido y escalable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802.1Q → Etiquetado de VLANs en enlaces troncales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</a:rPr>
              <a:t> Gestión, monitoreo y logs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SNMP → Monitorización de estado de dispositivos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Syslog → Registro centralizado de eventos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NTP → Sincronización horaria precisa entre dispositivos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</a:rPr>
              <a:t>Seguridad y control de acceso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ACLs → Filtros por VLAN y tipo de tráfico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DPI (Palo Alto) → Inspección profunda por aplicación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RADIUS → Autenticación centralizada con trazabilidad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SSH / HTTPS → Acceso seguro a dispositivos y gestión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</a:rPr>
              <a:t>Calidad de servicio y disponibilidad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QoS con DSCP → Priorización de tráfico crítico médico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</a:rPr>
              <a:t>Descubrimiento y resolución interna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DNS interno → Resolución de nombres controlada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556" name="Google Shape;556;p43"/>
          <p:cNvGrpSpPr/>
          <p:nvPr/>
        </p:nvGrpSpPr>
        <p:grpSpPr>
          <a:xfrm>
            <a:off x="2117192" y="1381268"/>
            <a:ext cx="277894" cy="324604"/>
            <a:chOff x="-24694925" y="3518700"/>
            <a:chExt cx="242625" cy="296175"/>
          </a:xfrm>
        </p:grpSpPr>
        <p:sp>
          <p:nvSpPr>
            <p:cNvPr id="557" name="Google Shape;557;p43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1" name="Google Shape;561;p43"/>
          <p:cNvGrpSpPr/>
          <p:nvPr/>
        </p:nvGrpSpPr>
        <p:grpSpPr>
          <a:xfrm>
            <a:off x="2105269" y="3163138"/>
            <a:ext cx="289039" cy="300304"/>
            <a:chOff x="-24694925" y="3518700"/>
            <a:chExt cx="242625" cy="296175"/>
          </a:xfrm>
        </p:grpSpPr>
        <p:sp>
          <p:nvSpPr>
            <p:cNvPr id="562" name="Google Shape;562;p43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3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3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6" name="Google Shape;566;p43"/>
          <p:cNvGrpSpPr/>
          <p:nvPr/>
        </p:nvGrpSpPr>
        <p:grpSpPr>
          <a:xfrm>
            <a:off x="2117192" y="2144277"/>
            <a:ext cx="300184" cy="346812"/>
            <a:chOff x="-24694925" y="3518700"/>
            <a:chExt cx="242625" cy="296175"/>
          </a:xfrm>
        </p:grpSpPr>
        <p:sp>
          <p:nvSpPr>
            <p:cNvPr id="567" name="Google Shape;567;p43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3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1" name="Google Shape;571;p43"/>
          <p:cNvGrpSpPr/>
          <p:nvPr/>
        </p:nvGrpSpPr>
        <p:grpSpPr>
          <a:xfrm>
            <a:off x="2118758" y="3898152"/>
            <a:ext cx="257269" cy="316890"/>
            <a:chOff x="-24694925" y="3518700"/>
            <a:chExt cx="242625" cy="296175"/>
          </a:xfrm>
        </p:grpSpPr>
        <p:sp>
          <p:nvSpPr>
            <p:cNvPr id="572" name="Google Shape;572;p43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3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3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43"/>
          <p:cNvGrpSpPr/>
          <p:nvPr/>
        </p:nvGrpSpPr>
        <p:grpSpPr>
          <a:xfrm>
            <a:off x="2124633" y="4440788"/>
            <a:ext cx="229479" cy="310344"/>
            <a:chOff x="-24694925" y="3518700"/>
            <a:chExt cx="242625" cy="296175"/>
          </a:xfrm>
        </p:grpSpPr>
        <p:sp>
          <p:nvSpPr>
            <p:cNvPr id="577" name="Google Shape;577;p43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3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3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3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4"/>
          <p:cNvSpPr txBox="1"/>
          <p:nvPr/>
        </p:nvSpPr>
        <p:spPr>
          <a:xfrm>
            <a:off x="1101724" y="275326"/>
            <a:ext cx="3333175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Limitaciones y mejoras</a:t>
            </a:r>
            <a:endParaRPr sz="3000" dirty="0">
              <a:solidFill>
                <a:srgbClr val="51AFDB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sp>
        <p:nvSpPr>
          <p:cNvPr id="586" name="Google Shape;586;p44"/>
          <p:cNvSpPr txBox="1"/>
          <p:nvPr/>
        </p:nvSpPr>
        <p:spPr>
          <a:xfrm>
            <a:off x="1773484" y="925531"/>
            <a:ext cx="6997500" cy="4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Medium"/>
                <a:ea typeface="Karla Medium"/>
                <a:cs typeface="Karla Medium"/>
                <a:sym typeface="Karla Medium"/>
              </a:rPr>
              <a:t>Limitaciones técnicas</a:t>
            </a:r>
            <a:endParaRPr sz="1000" dirty="0">
              <a:solidFill>
                <a:srgbClr val="51AFDB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F81BD"/>
                </a:solidFill>
                <a:latin typeface="Karla"/>
                <a:ea typeface="Karla"/>
                <a:cs typeface="Karla"/>
                <a:sym typeface="Karla"/>
              </a:rPr>
              <a:t>Containerlab no emula el plano de datos real</a:t>
            </a:r>
            <a:endParaRPr sz="1000" dirty="0">
              <a:solidFill>
                <a:srgbClr val="4F81B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No reemplaza una red física ni simula carga o congestión con precisión.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F81BD"/>
                </a:solidFill>
                <a:latin typeface="Karla"/>
                <a:ea typeface="Karla"/>
                <a:cs typeface="Karla"/>
                <a:sym typeface="Karla"/>
              </a:rPr>
              <a:t>Imágenes vrnetlab demandan muchos recursos</a:t>
            </a:r>
            <a:endParaRPr sz="1000" dirty="0">
              <a:solidFill>
                <a:srgbClr val="4F81B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Especialmente las basadas en VMs: alto uso de CPU, RAM y disco.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F81BD"/>
                </a:solidFill>
                <a:latin typeface="Karla"/>
                <a:ea typeface="Karla"/>
                <a:cs typeface="Karla"/>
                <a:sym typeface="Karla"/>
              </a:rPr>
              <a:t>Licencias limitadas</a:t>
            </a:r>
            <a:endParaRPr sz="1000" dirty="0">
              <a:solidFill>
                <a:srgbClr val="4F81B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Algunas imágenes (Fortinet, Palo Alto) requieren licencias no accesibles para estudiantes.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F81BD"/>
                </a:solidFill>
                <a:latin typeface="Karla"/>
                <a:ea typeface="Karla"/>
                <a:cs typeface="Karla"/>
                <a:sym typeface="Karla"/>
              </a:rPr>
              <a:t>Sin interfaz gráfica nativa</a:t>
            </a:r>
            <a:endParaRPr sz="1000" dirty="0">
              <a:solidFill>
                <a:srgbClr val="4F81B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Todo se configura por terminal, YAML, Python y logs. Visualizar errores o flujos puede ser complejo.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 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51AFDB"/>
                </a:solidFill>
                <a:latin typeface="Karla Medium"/>
                <a:ea typeface="Karla Medium"/>
                <a:cs typeface="Karla Medium"/>
                <a:sym typeface="Karla Medium"/>
              </a:rPr>
              <a:t>Limitaciones formativas</a:t>
            </a:r>
            <a:endParaRPr sz="1000" dirty="0">
              <a:solidFill>
                <a:srgbClr val="51AFDB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F81BD"/>
                </a:solidFill>
                <a:latin typeface="Karla"/>
                <a:ea typeface="Karla"/>
                <a:cs typeface="Karla"/>
                <a:sym typeface="Karla"/>
              </a:rPr>
              <a:t>Somos estudiantes en proceso de aprendizaje</a:t>
            </a:r>
            <a:endParaRPr sz="1000" dirty="0">
              <a:solidFill>
                <a:srgbClr val="4F81B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Este fue nuestro primer contacto con Spine-Leaf, DMZ, ACLs, firewalls en serie, etc.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F81BD"/>
                </a:solidFill>
                <a:latin typeface="Karla"/>
                <a:ea typeface="Karla"/>
                <a:cs typeface="Karla"/>
                <a:sym typeface="Karla"/>
              </a:rPr>
              <a:t>Muchas decisiones fueron resultado de prueba, error y ajuste</a:t>
            </a:r>
            <a:endParaRPr sz="1000" dirty="0">
              <a:solidFill>
                <a:srgbClr val="4F81B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Un proceso valioso, pero que puede implicar simplificaciones o enfoques seguramente mejorables.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587" name="Google Shape;587;p44"/>
          <p:cNvGrpSpPr/>
          <p:nvPr/>
        </p:nvGrpSpPr>
        <p:grpSpPr>
          <a:xfrm>
            <a:off x="1377078" y="1153963"/>
            <a:ext cx="357509" cy="352595"/>
            <a:chOff x="-25834600" y="3915850"/>
            <a:chExt cx="300100" cy="295975"/>
          </a:xfrm>
        </p:grpSpPr>
        <p:sp>
          <p:nvSpPr>
            <p:cNvPr id="588" name="Google Shape;588;p44"/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B8794"/>
                </a:solidFill>
              </a:endParaRPr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B8794"/>
                </a:solidFill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B8794"/>
                </a:solidFill>
              </a:endParaRPr>
            </a:p>
          </p:txBody>
        </p:sp>
      </p:grpSp>
      <p:grpSp>
        <p:nvGrpSpPr>
          <p:cNvPr id="591" name="Google Shape;591;p44"/>
          <p:cNvGrpSpPr/>
          <p:nvPr/>
        </p:nvGrpSpPr>
        <p:grpSpPr>
          <a:xfrm>
            <a:off x="1326786" y="3385763"/>
            <a:ext cx="357509" cy="352595"/>
            <a:chOff x="-25834600" y="3915850"/>
            <a:chExt cx="300100" cy="295975"/>
          </a:xfrm>
        </p:grpSpPr>
        <p:sp>
          <p:nvSpPr>
            <p:cNvPr id="592" name="Google Shape;592;p44"/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B8794"/>
                </a:solidFill>
              </a:endParaRPr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B8794"/>
                </a:solidFill>
              </a:endParaRPr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B8794"/>
                </a:solidFill>
              </a:endParaRPr>
            </a:p>
          </p:txBody>
        </p:sp>
      </p:grpSp>
      <p:grpSp>
        <p:nvGrpSpPr>
          <p:cNvPr id="595" name="Google Shape;595;p44"/>
          <p:cNvGrpSpPr/>
          <p:nvPr/>
        </p:nvGrpSpPr>
        <p:grpSpPr>
          <a:xfrm>
            <a:off x="647336" y="276050"/>
            <a:ext cx="299344" cy="351880"/>
            <a:chOff x="-27691025" y="3175300"/>
            <a:chExt cx="251275" cy="295375"/>
          </a:xfrm>
        </p:grpSpPr>
        <p:sp>
          <p:nvSpPr>
            <p:cNvPr id="596" name="Google Shape;596;p44"/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4"/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5"/>
          <p:cNvSpPr txBox="1"/>
          <p:nvPr/>
        </p:nvSpPr>
        <p:spPr>
          <a:xfrm>
            <a:off x="860850" y="526704"/>
            <a:ext cx="7422300" cy="25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Oleg Fernández-Llebrez Rodríguez</a:t>
            </a: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Oleg F. | LinkedIn</a:t>
            </a: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51AFDB"/>
                </a:solidFill>
                <a:latin typeface="Karla"/>
                <a:ea typeface="Karla"/>
                <a:cs typeface="Karla"/>
                <a:sym typeface="Karla"/>
              </a:rPr>
              <a:t>Laura Ramos Granados</a:t>
            </a: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Laura Ramos Granados | LinkedIn</a:t>
            </a:r>
            <a:endParaRPr sz="11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51AFDB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Queremos agradecer profundamente a </a:t>
            </a:r>
            <a:r>
              <a:rPr lang="en" sz="1000" dirty="0">
                <a:solidFill>
                  <a:srgbClr val="51AFDB"/>
                </a:solidFill>
                <a:latin typeface="Karla Medium"/>
                <a:ea typeface="Karla Medium"/>
                <a:cs typeface="Karla Medium"/>
                <a:sym typeface="Karla Medium"/>
              </a:rPr>
              <a:t>Kyndryl</a:t>
            </a:r>
            <a:r>
              <a:rPr lang="en" sz="10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 por brindarnos la oportunidad de integrarnos en un entorno profesional de alto nivel, y por permitirnos aplicar y ampliar nuestros conocimientos en un contexto real.</a:t>
            </a:r>
            <a:endParaRPr sz="1000"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En especial, agradecemos a nuestros tutores, </a:t>
            </a:r>
            <a:r>
              <a:rPr lang="en" sz="1000" dirty="0">
                <a:solidFill>
                  <a:srgbClr val="51AFDB"/>
                </a:solidFill>
                <a:latin typeface="Karla Medium"/>
                <a:ea typeface="Karla Medium"/>
                <a:cs typeface="Karla Medium"/>
                <a:sym typeface="Karla Medium"/>
              </a:rPr>
              <a:t>Daniel Gastelut y Carla María Platero</a:t>
            </a:r>
            <a:r>
              <a:rPr lang="en" sz="10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endParaRPr sz="1000" dirty="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De manera muy especial, a </a:t>
            </a:r>
            <a:r>
              <a:rPr lang="en" sz="1000" dirty="0">
                <a:solidFill>
                  <a:srgbClr val="51AFDB"/>
                </a:solidFill>
                <a:latin typeface="Karla Medium"/>
                <a:ea typeface="Karla Medium"/>
                <a:cs typeface="Karla Medium"/>
                <a:sym typeface="Karla Medium"/>
              </a:rPr>
              <a:t>José Valle y Diego Gutiérrez</a:t>
            </a:r>
            <a:r>
              <a:rPr lang="en" sz="1000" dirty="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, por su cercanía, orientación y apoyo constante durante esta etapa.</a:t>
            </a:r>
            <a:endParaRPr sz="10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605" name="Google Shape;605;p45"/>
          <p:cNvSpPr txBox="1"/>
          <p:nvPr/>
        </p:nvSpPr>
        <p:spPr>
          <a:xfrm>
            <a:off x="2879550" y="156967"/>
            <a:ext cx="3384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51AFDB"/>
                </a:solidFill>
                <a:latin typeface="Khand"/>
                <a:ea typeface="Khand"/>
                <a:cs typeface="Khand"/>
                <a:sym typeface="Khand"/>
              </a:rPr>
              <a:t>Gracias por su atención</a:t>
            </a:r>
            <a:endParaRPr sz="3000" dirty="0">
              <a:solidFill>
                <a:srgbClr val="FFFFFF"/>
              </a:solidFill>
              <a:latin typeface="Khand"/>
              <a:ea typeface="Khand"/>
              <a:cs typeface="Khand"/>
              <a:sym typeface="Khand"/>
            </a:endParaRPr>
          </a:p>
        </p:txBody>
      </p:sp>
      <p:grpSp>
        <p:nvGrpSpPr>
          <p:cNvPr id="606" name="Google Shape;606;p45"/>
          <p:cNvGrpSpPr/>
          <p:nvPr/>
        </p:nvGrpSpPr>
        <p:grpSpPr>
          <a:xfrm>
            <a:off x="3176813" y="922617"/>
            <a:ext cx="192856" cy="181516"/>
            <a:chOff x="1379798" y="1723250"/>
            <a:chExt cx="397887" cy="397887"/>
          </a:xfrm>
        </p:grpSpPr>
        <p:sp>
          <p:nvSpPr>
            <p:cNvPr id="607" name="Google Shape;607;p45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5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5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5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1" name="Google Shape;611;p45"/>
          <p:cNvGrpSpPr/>
          <p:nvPr/>
        </p:nvGrpSpPr>
        <p:grpSpPr>
          <a:xfrm>
            <a:off x="3181197" y="1500945"/>
            <a:ext cx="192856" cy="181516"/>
            <a:chOff x="1379798" y="1723250"/>
            <a:chExt cx="397887" cy="397887"/>
          </a:xfrm>
        </p:grpSpPr>
        <p:sp>
          <p:nvSpPr>
            <p:cNvPr id="612" name="Google Shape;612;p45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5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" name="Google Shape;616;p45"/>
          <p:cNvSpPr txBox="1"/>
          <p:nvPr/>
        </p:nvSpPr>
        <p:spPr>
          <a:xfrm>
            <a:off x="3228045" y="2680971"/>
            <a:ext cx="3000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u="sng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LaoLink Consulting | GitHub Organizations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 u="sng" dirty="0">
                <a:solidFill>
                  <a:srgbClr val="51AFDB"/>
                </a:solidFill>
                <a:latin typeface="Karla Light"/>
                <a:ea typeface="Karla Light"/>
                <a:cs typeface="Karla Light"/>
                <a:sym typeface="Karla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Proyecto | GitHub Repositories</a:t>
            </a:r>
            <a:endParaRPr sz="1000" dirty="0">
              <a:solidFill>
                <a:srgbClr val="51AFDB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pic>
        <p:nvPicPr>
          <p:cNvPr id="617" name="Google Shape;61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7206" y="3000921"/>
            <a:ext cx="323850" cy="323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45"/>
          <p:cNvGrpSpPr/>
          <p:nvPr/>
        </p:nvGrpSpPr>
        <p:grpSpPr>
          <a:xfrm>
            <a:off x="2395647" y="183131"/>
            <a:ext cx="325061" cy="323860"/>
            <a:chOff x="-28462125" y="3199700"/>
            <a:chExt cx="298550" cy="259150"/>
          </a:xfrm>
        </p:grpSpPr>
        <p:sp>
          <p:nvSpPr>
            <p:cNvPr id="619" name="Google Shape;619;p45"/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5"/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618;p45">
            <a:extLst>
              <a:ext uri="{FF2B5EF4-FFF2-40B4-BE49-F238E27FC236}">
                <a16:creationId xmlns:a16="http://schemas.microsoft.com/office/drawing/2014/main" id="{1F7BD1A5-5EB2-0537-9353-C25594CAAE5F}"/>
              </a:ext>
            </a:extLst>
          </p:cNvPr>
          <p:cNvGrpSpPr/>
          <p:nvPr/>
        </p:nvGrpSpPr>
        <p:grpSpPr>
          <a:xfrm>
            <a:off x="6348522" y="185981"/>
            <a:ext cx="325061" cy="323860"/>
            <a:chOff x="-28462125" y="3199700"/>
            <a:chExt cx="298550" cy="259150"/>
          </a:xfrm>
        </p:grpSpPr>
        <p:sp>
          <p:nvSpPr>
            <p:cNvPr id="3" name="Google Shape;619;p45">
              <a:extLst>
                <a:ext uri="{FF2B5EF4-FFF2-40B4-BE49-F238E27FC236}">
                  <a16:creationId xmlns:a16="http://schemas.microsoft.com/office/drawing/2014/main" id="{12A30481-DE74-5128-C24C-0CFEA7BE946B}"/>
                </a:ext>
              </a:extLst>
            </p:cNvPr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20;p45">
              <a:extLst>
                <a:ext uri="{FF2B5EF4-FFF2-40B4-BE49-F238E27FC236}">
                  <a16:creationId xmlns:a16="http://schemas.microsoft.com/office/drawing/2014/main" id="{D887B6B4-2C41-0801-EFB0-A6596C1D6B3C}"/>
                </a:ext>
              </a:extLst>
            </p:cNvPr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21;p45">
              <a:extLst>
                <a:ext uri="{FF2B5EF4-FFF2-40B4-BE49-F238E27FC236}">
                  <a16:creationId xmlns:a16="http://schemas.microsoft.com/office/drawing/2014/main" id="{B60BA5E8-432B-4AA0-AF4E-04AD91704EDF}"/>
                </a:ext>
              </a:extLst>
            </p:cNvPr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51A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fessions of the Future by Slidesgo">
  <a:themeElements>
    <a:clrScheme name="Simple Light">
      <a:dk1>
        <a:srgbClr val="0B134B"/>
      </a:dk1>
      <a:lt1>
        <a:srgbClr val="F3F3F3"/>
      </a:lt1>
      <a:dk2>
        <a:srgbClr val="FFFFFF"/>
      </a:dk2>
      <a:lt2>
        <a:srgbClr val="FFFFFF"/>
      </a:lt2>
      <a:accent1>
        <a:srgbClr val="85E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1772</Words>
  <Application>Microsoft Office PowerPoint</Application>
  <PresentationFormat>On-screen Show (16:9)</PresentationFormat>
  <Paragraphs>262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Karla</vt:lpstr>
      <vt:lpstr>Manrope</vt:lpstr>
      <vt:lpstr>Nunito Light</vt:lpstr>
      <vt:lpstr>Dosis Light</vt:lpstr>
      <vt:lpstr>Anaheim</vt:lpstr>
      <vt:lpstr>Roboto</vt:lpstr>
      <vt:lpstr>Karla Medium</vt:lpstr>
      <vt:lpstr>Bebas Neue</vt:lpstr>
      <vt:lpstr>Audiowide</vt:lpstr>
      <vt:lpstr>Khand</vt:lpstr>
      <vt:lpstr>Arial</vt:lpstr>
      <vt:lpstr>Karla Light</vt:lpstr>
      <vt:lpstr>Dosis</vt:lpstr>
      <vt:lpstr>Professions of the Future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OLEG FERNANDEZ-LLEBREZ RODRIGUEZ</cp:lastModifiedBy>
  <cp:revision>3</cp:revision>
  <dcterms:modified xsi:type="dcterms:W3CDTF">2025-05-28T08:32:02Z</dcterms:modified>
</cp:coreProperties>
</file>