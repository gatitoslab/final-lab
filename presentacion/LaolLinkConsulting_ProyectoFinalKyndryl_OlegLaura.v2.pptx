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6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Dosis"/>
      <p:regular r:id="rId22"/>
      <p:bold r:id="rId23"/>
    </p:embeddedFont>
    <p:embeddedFont>
      <p:font typeface="Dosis Light"/>
      <p:regular r:id="rId24"/>
      <p:bold r:id="rId25"/>
    </p:embeddedFont>
    <p:embeddedFont>
      <p:font typeface="Audiowide"/>
      <p:regular r:id="rId26"/>
    </p:embeddedFont>
    <p:embeddedFont>
      <p:font typeface="Roboto"/>
      <p:regular r:id="rId27"/>
      <p:bold r:id="rId28"/>
      <p:italic r:id="rId29"/>
      <p:boldItalic r:id="rId30"/>
    </p:embeddedFont>
    <p:embeddedFont>
      <p:font typeface="Karla Light"/>
      <p:regular r:id="rId31"/>
      <p:bold r:id="rId32"/>
      <p:italic r:id="rId33"/>
      <p:boldItalic r:id="rId34"/>
    </p:embeddedFont>
    <p:embeddedFont>
      <p:font typeface="Anaheim"/>
      <p:regular r:id="rId35"/>
      <p:bold r:id="rId36"/>
    </p:embeddedFont>
    <p:embeddedFont>
      <p:font typeface="Bebas Neue"/>
      <p:regular r:id="rId37"/>
    </p:embeddedFont>
    <p:embeddedFont>
      <p:font typeface="Manrope"/>
      <p:regular r:id="rId38"/>
      <p:bold r:id="rId39"/>
    </p:embeddedFont>
    <p:embeddedFont>
      <p:font typeface="Karla Medium"/>
      <p:regular r:id="rId40"/>
      <p:bold r:id="rId41"/>
      <p:italic r:id="rId42"/>
      <p:boldItalic r:id="rId43"/>
    </p:embeddedFont>
    <p:embeddedFont>
      <p:font typeface="Khand"/>
      <p:regular r:id="rId44"/>
      <p:bold r:id="rId45"/>
    </p:embeddedFont>
    <p:embeddedFont>
      <p:font typeface="Karla"/>
      <p:regular r:id="rId46"/>
      <p:bold r:id="rId47"/>
      <p:italic r:id="rId48"/>
      <p:boldItalic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5E2333-3B21-44D1-9068-5403983961C8}">
  <a:tblStyle styleId="{B75E2333-3B21-44D1-9068-5403983961C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 b="on"/>
    </a:lastCol>
    <a:firstCol>
      <a:tcTxStyle b="on"/>
    </a:firstCol>
    <a:lastRow>
      <a:tcTxStyle b="on"/>
    </a:lastRow>
    <a:seCell>
      <a:tcTxStyle/>
    </a:seCell>
    <a:swCell>
      <a:tcTxStyle/>
    </a:swCell>
    <a:firstRow>
      <a:tcTxStyle b="on">
        <a:srgbClr val="FFFFFF"/>
      </a:tcTxStyle>
      <a:tcStyle>
        <a:fill>
          <a:solidFill>
            <a:srgbClr val="000000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KarlaMedium-regular.fntdata"/><Relationship Id="rId42" Type="http://schemas.openxmlformats.org/officeDocument/2006/relationships/font" Target="fonts/KarlaMedium-italic.fntdata"/><Relationship Id="rId41" Type="http://schemas.openxmlformats.org/officeDocument/2006/relationships/font" Target="fonts/KarlaMedium-bold.fntdata"/><Relationship Id="rId44" Type="http://schemas.openxmlformats.org/officeDocument/2006/relationships/font" Target="fonts/Khand-regular.fntdata"/><Relationship Id="rId43" Type="http://schemas.openxmlformats.org/officeDocument/2006/relationships/font" Target="fonts/KarlaMedium-boldItalic.fntdata"/><Relationship Id="rId46" Type="http://schemas.openxmlformats.org/officeDocument/2006/relationships/font" Target="fonts/Karla-regular.fntdata"/><Relationship Id="rId45" Type="http://schemas.openxmlformats.org/officeDocument/2006/relationships/font" Target="fonts/Khand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Karla-italic.fntdata"/><Relationship Id="rId47" Type="http://schemas.openxmlformats.org/officeDocument/2006/relationships/font" Target="fonts/Karla-bold.fntdata"/><Relationship Id="rId49" Type="http://schemas.openxmlformats.org/officeDocument/2006/relationships/font" Target="fonts/Karla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KarlaLight-regular.fntdata"/><Relationship Id="rId30" Type="http://schemas.openxmlformats.org/officeDocument/2006/relationships/font" Target="fonts/Roboto-boldItalic.fntdata"/><Relationship Id="rId33" Type="http://schemas.openxmlformats.org/officeDocument/2006/relationships/font" Target="fonts/KarlaLight-italic.fntdata"/><Relationship Id="rId32" Type="http://schemas.openxmlformats.org/officeDocument/2006/relationships/font" Target="fonts/KarlaLight-bold.fntdata"/><Relationship Id="rId35" Type="http://schemas.openxmlformats.org/officeDocument/2006/relationships/font" Target="fonts/Anaheim-regular.fntdata"/><Relationship Id="rId34" Type="http://schemas.openxmlformats.org/officeDocument/2006/relationships/font" Target="fonts/KarlaLight-boldItalic.fntdata"/><Relationship Id="rId37" Type="http://schemas.openxmlformats.org/officeDocument/2006/relationships/font" Target="fonts/BebasNeue-regular.fntdata"/><Relationship Id="rId36" Type="http://schemas.openxmlformats.org/officeDocument/2006/relationships/font" Target="fonts/Anaheim-bold.fntdata"/><Relationship Id="rId39" Type="http://schemas.openxmlformats.org/officeDocument/2006/relationships/font" Target="fonts/Manrope-bold.fntdata"/><Relationship Id="rId38" Type="http://schemas.openxmlformats.org/officeDocument/2006/relationships/font" Target="fonts/Manrope-regular.fntdata"/><Relationship Id="rId20" Type="http://schemas.openxmlformats.org/officeDocument/2006/relationships/slide" Target="slides/slide15.xml"/><Relationship Id="rId22" Type="http://schemas.openxmlformats.org/officeDocument/2006/relationships/font" Target="fonts/Dosis-regular.fntdata"/><Relationship Id="rId21" Type="http://schemas.openxmlformats.org/officeDocument/2006/relationships/slide" Target="slides/slide16.xml"/><Relationship Id="rId24" Type="http://schemas.openxmlformats.org/officeDocument/2006/relationships/font" Target="fonts/DosisLight-regular.fntdata"/><Relationship Id="rId23" Type="http://schemas.openxmlformats.org/officeDocument/2006/relationships/font" Target="fonts/Dosis-bold.fntdata"/><Relationship Id="rId26" Type="http://schemas.openxmlformats.org/officeDocument/2006/relationships/font" Target="fonts/Audiowide-regular.fntdata"/><Relationship Id="rId25" Type="http://schemas.openxmlformats.org/officeDocument/2006/relationships/font" Target="fonts/DosisLight-bold.fntdata"/><Relationship Id="rId28" Type="http://schemas.openxmlformats.org/officeDocument/2006/relationships/font" Target="fonts/Roboto-bold.fntdata"/><Relationship Id="rId27" Type="http://schemas.openxmlformats.org/officeDocument/2006/relationships/font" Target="fonts/Roboto-regular.fntdata"/><Relationship Id="rId29" Type="http://schemas.openxmlformats.org/officeDocument/2006/relationships/font" Target="fonts/Roboto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431007ba2_0_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431007ba2_0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54dda1946d_6_2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54dda1946d_6_2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d5260bdd85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d5260bdd85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d431007ba2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d431007ba2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54dda1946d_6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54dda1946d_6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5deb223035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5deb223035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5deb223035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5deb223035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5deb223035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5deb223035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5deb223035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5deb223035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5deb223035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5deb223035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5deb223035_0_3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5deb223035_0_3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5deb223035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35deb223035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5deb223035_0_3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5deb223035_0_3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5deb223035_0_3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35deb223035_0_3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135e18421cc_1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135e18421cc_1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bit.ly/3A1uf1Q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941825" y="1554825"/>
            <a:ext cx="4010400" cy="193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941825" y="3635475"/>
            <a:ext cx="4010400" cy="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Dosis Light"/>
                <a:ea typeface="Dosis Light"/>
                <a:cs typeface="Dosis Light"/>
                <a:sym typeface="Dosis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720000" y="2490600"/>
            <a:ext cx="3908400" cy="84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hasCustomPrompt="1" idx="2" type="title"/>
          </p:nvPr>
        </p:nvSpPr>
        <p:spPr>
          <a:xfrm>
            <a:off x="842800" y="1521525"/>
            <a:ext cx="946200" cy="921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720000" y="3167125"/>
            <a:ext cx="3908400" cy="3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783" y="-1459214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4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720000" y="1215743"/>
            <a:ext cx="7704000" cy="28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indent="-3175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1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5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5055284" y="3608749"/>
            <a:ext cx="2505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1583300" y="3608749"/>
            <a:ext cx="2505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7" name="Google Shape;27;p5"/>
          <p:cNvSpPr txBox="1"/>
          <p:nvPr>
            <p:ph idx="3" type="subTitle"/>
          </p:nvPr>
        </p:nvSpPr>
        <p:spPr>
          <a:xfrm>
            <a:off x="5055275" y="3300725"/>
            <a:ext cx="25056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8" name="Google Shape;28;p5"/>
          <p:cNvSpPr txBox="1"/>
          <p:nvPr>
            <p:ph idx="4" type="subTitle"/>
          </p:nvPr>
        </p:nvSpPr>
        <p:spPr>
          <a:xfrm>
            <a:off x="1583075" y="3300725"/>
            <a:ext cx="25056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pic>
        <p:nvPicPr>
          <p:cNvPr id="29" name="Google Shape;29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3643717" y="-124314"/>
            <a:ext cx="4681385" cy="51434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6166283" y="33037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1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6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pic>
        <p:nvPicPr>
          <p:cNvPr id="34" name="Google Shape;34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075267" y="-3073389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dk1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7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7"/>
          <p:cNvSpPr txBox="1"/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subTitle"/>
          </p:nvPr>
        </p:nvSpPr>
        <p:spPr>
          <a:xfrm>
            <a:off x="720000" y="1541950"/>
            <a:ext cx="4294800" cy="22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8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8"/>
          <p:cNvSpPr txBox="1"/>
          <p:nvPr>
            <p:ph type="title"/>
          </p:nvPr>
        </p:nvSpPr>
        <p:spPr>
          <a:xfrm>
            <a:off x="978750" y="1536500"/>
            <a:ext cx="3748200" cy="195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pic>
        <p:nvPicPr>
          <p:cNvPr id="42" name="Google Shape;4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00517" y="1758711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1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9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9"/>
          <p:cNvSpPr txBox="1"/>
          <p:nvPr>
            <p:ph type="title"/>
          </p:nvPr>
        </p:nvSpPr>
        <p:spPr>
          <a:xfrm>
            <a:off x="1018025" y="1369050"/>
            <a:ext cx="3096000" cy="14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9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6" name="Google Shape;46;p9"/>
          <p:cNvSpPr txBox="1"/>
          <p:nvPr>
            <p:ph idx="1" type="subTitle"/>
          </p:nvPr>
        </p:nvSpPr>
        <p:spPr>
          <a:xfrm>
            <a:off x="1018025" y="2753450"/>
            <a:ext cx="3096000" cy="9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>
            <p:ph idx="2" type="pic"/>
          </p:nvPr>
        </p:nvSpPr>
        <p:spPr>
          <a:xfrm>
            <a:off x="-49950" y="-45450"/>
            <a:ext cx="9243900" cy="52344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10"/>
          <p:cNvSpPr txBox="1"/>
          <p:nvPr>
            <p:ph type="title"/>
          </p:nvPr>
        </p:nvSpPr>
        <p:spPr>
          <a:xfrm>
            <a:off x="2489250" y="4014450"/>
            <a:ext cx="4165500" cy="572700"/>
          </a:xfrm>
          <a:prstGeom prst="rect">
            <a:avLst/>
          </a:prstGeom>
          <a:solidFill>
            <a:schemeClr val="dk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1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1"/>
          <p:cNvSpPr txBox="1"/>
          <p:nvPr>
            <p:ph hasCustomPrompt="1" type="title"/>
          </p:nvPr>
        </p:nvSpPr>
        <p:spPr>
          <a:xfrm>
            <a:off x="1284000" y="1398388"/>
            <a:ext cx="6576000" cy="14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3" name="Google Shape;53;p11"/>
          <p:cNvSpPr txBox="1"/>
          <p:nvPr>
            <p:ph idx="1" type="subTitle"/>
          </p:nvPr>
        </p:nvSpPr>
        <p:spPr>
          <a:xfrm>
            <a:off x="1284000" y="3248013"/>
            <a:ext cx="6576000" cy="4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/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3796117" y="282086"/>
            <a:ext cx="4681385" cy="514349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8299883" y="7891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bg>
      <p:bgPr>
        <a:solidFill>
          <a:schemeClr val="dk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3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720000" y="22693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3"/>
          <p:cNvSpPr txBox="1"/>
          <p:nvPr>
            <p:ph idx="2" type="subTitle"/>
          </p:nvPr>
        </p:nvSpPr>
        <p:spPr>
          <a:xfrm>
            <a:off x="3419250" y="22693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3"/>
          <p:cNvSpPr txBox="1"/>
          <p:nvPr>
            <p:ph idx="3" type="subTitle"/>
          </p:nvPr>
        </p:nvSpPr>
        <p:spPr>
          <a:xfrm>
            <a:off x="720000" y="40075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 txBox="1"/>
          <p:nvPr>
            <p:ph idx="4" type="subTitle"/>
          </p:nvPr>
        </p:nvSpPr>
        <p:spPr>
          <a:xfrm>
            <a:off x="3419250" y="40075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3"/>
          <p:cNvSpPr txBox="1"/>
          <p:nvPr>
            <p:ph idx="5" type="subTitle"/>
          </p:nvPr>
        </p:nvSpPr>
        <p:spPr>
          <a:xfrm>
            <a:off x="6118548" y="22693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3"/>
          <p:cNvSpPr txBox="1"/>
          <p:nvPr>
            <p:ph idx="6" type="subTitle"/>
          </p:nvPr>
        </p:nvSpPr>
        <p:spPr>
          <a:xfrm>
            <a:off x="6118548" y="40075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3"/>
          <p:cNvSpPr txBox="1"/>
          <p:nvPr>
            <p:ph hasCustomPrompt="1" idx="7" type="title"/>
          </p:nvPr>
        </p:nvSpPr>
        <p:spPr>
          <a:xfrm>
            <a:off x="1505400" y="1227170"/>
            <a:ext cx="734700" cy="71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/>
          <p:nvPr>
            <p:ph hasCustomPrompt="1" idx="8" type="title"/>
          </p:nvPr>
        </p:nvSpPr>
        <p:spPr>
          <a:xfrm>
            <a:off x="1505400" y="2965305"/>
            <a:ext cx="734700" cy="71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/>
          <p:nvPr>
            <p:ph hasCustomPrompt="1" idx="9" type="title"/>
          </p:nvPr>
        </p:nvSpPr>
        <p:spPr>
          <a:xfrm>
            <a:off x="4204651" y="1227170"/>
            <a:ext cx="734700" cy="71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/>
          <p:nvPr>
            <p:ph hasCustomPrompt="1" idx="13" type="title"/>
          </p:nvPr>
        </p:nvSpPr>
        <p:spPr>
          <a:xfrm>
            <a:off x="4204651" y="2965305"/>
            <a:ext cx="734700" cy="71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0" name="Google Shape;70;p13"/>
          <p:cNvSpPr txBox="1"/>
          <p:nvPr>
            <p:ph hasCustomPrompt="1" idx="14" type="title"/>
          </p:nvPr>
        </p:nvSpPr>
        <p:spPr>
          <a:xfrm>
            <a:off x="6903950" y="1227170"/>
            <a:ext cx="734700" cy="71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3"/>
          <p:cNvSpPr txBox="1"/>
          <p:nvPr>
            <p:ph hasCustomPrompt="1" idx="15" type="title"/>
          </p:nvPr>
        </p:nvSpPr>
        <p:spPr>
          <a:xfrm>
            <a:off x="6903950" y="2965305"/>
            <a:ext cx="734700" cy="71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/>
          <p:nvPr>
            <p:ph idx="16" type="subTitle"/>
          </p:nvPr>
        </p:nvSpPr>
        <p:spPr>
          <a:xfrm>
            <a:off x="720000" y="2056575"/>
            <a:ext cx="23055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3" name="Google Shape;73;p13"/>
          <p:cNvSpPr txBox="1"/>
          <p:nvPr>
            <p:ph idx="17" type="subTitle"/>
          </p:nvPr>
        </p:nvSpPr>
        <p:spPr>
          <a:xfrm>
            <a:off x="3419250" y="2056575"/>
            <a:ext cx="23055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4" name="Google Shape;74;p13"/>
          <p:cNvSpPr txBox="1"/>
          <p:nvPr>
            <p:ph idx="18" type="subTitle"/>
          </p:nvPr>
        </p:nvSpPr>
        <p:spPr>
          <a:xfrm>
            <a:off x="6118548" y="2056575"/>
            <a:ext cx="23055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5" name="Google Shape;75;p13"/>
          <p:cNvSpPr txBox="1"/>
          <p:nvPr>
            <p:ph idx="19" type="subTitle"/>
          </p:nvPr>
        </p:nvSpPr>
        <p:spPr>
          <a:xfrm>
            <a:off x="720000" y="3794850"/>
            <a:ext cx="23055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6" name="Google Shape;76;p13"/>
          <p:cNvSpPr txBox="1"/>
          <p:nvPr>
            <p:ph idx="20" type="subTitle"/>
          </p:nvPr>
        </p:nvSpPr>
        <p:spPr>
          <a:xfrm>
            <a:off x="3419250" y="3794850"/>
            <a:ext cx="23055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7" name="Google Shape;77;p13"/>
          <p:cNvSpPr txBox="1"/>
          <p:nvPr>
            <p:ph idx="21" type="subTitle"/>
          </p:nvPr>
        </p:nvSpPr>
        <p:spPr>
          <a:xfrm>
            <a:off x="6118548" y="3794850"/>
            <a:ext cx="2305500" cy="39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bg>
      <p:bgPr>
        <a:solidFill>
          <a:schemeClr val="dk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4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4"/>
          <p:cNvSpPr txBox="1"/>
          <p:nvPr>
            <p:ph type="title"/>
          </p:nvPr>
        </p:nvSpPr>
        <p:spPr>
          <a:xfrm>
            <a:off x="2793450" y="3100300"/>
            <a:ext cx="5562300" cy="5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1" name="Google Shape;81;p14"/>
          <p:cNvSpPr txBox="1"/>
          <p:nvPr>
            <p:ph idx="1" type="subTitle"/>
          </p:nvPr>
        </p:nvSpPr>
        <p:spPr>
          <a:xfrm>
            <a:off x="2793300" y="1511325"/>
            <a:ext cx="5562300" cy="147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/>
        </p:txBody>
      </p:sp>
      <p:pic>
        <p:nvPicPr>
          <p:cNvPr id="82" name="Google Shape;8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4555208" y="-3834114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bg>
      <p:bgPr>
        <a:solidFill>
          <a:schemeClr val="dk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5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/>
          <p:nvPr>
            <p:ph type="title"/>
          </p:nvPr>
        </p:nvSpPr>
        <p:spPr>
          <a:xfrm>
            <a:off x="720000" y="1354375"/>
            <a:ext cx="3083100" cy="1632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720000" y="2986350"/>
            <a:ext cx="3083100" cy="85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5"/>
          <p:cNvSpPr/>
          <p:nvPr>
            <p:ph idx="2" type="pic"/>
          </p:nvPr>
        </p:nvSpPr>
        <p:spPr>
          <a:xfrm>
            <a:off x="4888775" y="800700"/>
            <a:ext cx="3542100" cy="3542100"/>
          </a:xfrm>
          <a:prstGeom prst="rect">
            <a:avLst/>
          </a:prstGeom>
          <a:noFill/>
          <a:ln>
            <a:noFill/>
          </a:ln>
        </p:spPr>
      </p:sp>
      <p:pic>
        <p:nvPicPr>
          <p:cNvPr id="88" name="Google Shape;8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075267" y="-3073389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">
    <p:bg>
      <p:bgPr>
        <a:solidFill>
          <a:schemeClr val="dk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6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/>
          <p:nvPr>
            <p:ph type="title"/>
          </p:nvPr>
        </p:nvSpPr>
        <p:spPr>
          <a:xfrm>
            <a:off x="720000" y="1821450"/>
            <a:ext cx="36228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92" name="Google Shape;92;p16"/>
          <p:cNvSpPr txBox="1"/>
          <p:nvPr>
            <p:ph idx="1" type="subTitle"/>
          </p:nvPr>
        </p:nvSpPr>
        <p:spPr>
          <a:xfrm>
            <a:off x="720000" y="2317950"/>
            <a:ext cx="3622800" cy="8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2">
    <p:bg>
      <p:bgPr>
        <a:solidFill>
          <a:schemeClr val="dk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 txBox="1"/>
          <p:nvPr>
            <p:ph type="title"/>
          </p:nvPr>
        </p:nvSpPr>
        <p:spPr>
          <a:xfrm>
            <a:off x="3539400" y="2100850"/>
            <a:ext cx="48915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1" type="subTitle"/>
          </p:nvPr>
        </p:nvSpPr>
        <p:spPr>
          <a:xfrm>
            <a:off x="3539400" y="2597350"/>
            <a:ext cx="4891500" cy="11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">
    <p:bg>
      <p:bgPr>
        <a:solidFill>
          <a:schemeClr val="dk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8"/>
          <p:cNvSpPr txBox="1"/>
          <p:nvPr>
            <p:ph type="title"/>
          </p:nvPr>
        </p:nvSpPr>
        <p:spPr>
          <a:xfrm>
            <a:off x="4807749" y="1821450"/>
            <a:ext cx="33765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00" name="Google Shape;100;p18"/>
          <p:cNvSpPr txBox="1"/>
          <p:nvPr>
            <p:ph idx="1" type="subTitle"/>
          </p:nvPr>
        </p:nvSpPr>
        <p:spPr>
          <a:xfrm>
            <a:off x="4807979" y="2317950"/>
            <a:ext cx="3376500" cy="82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bg>
      <p:bgPr>
        <a:solidFill>
          <a:schemeClr val="dk1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-3872317" y="663086"/>
            <a:ext cx="4681385" cy="51434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9"/>
          <p:cNvPicPr preferRelativeResize="0"/>
          <p:nvPr/>
        </p:nvPicPr>
        <p:blipFill>
          <a:blip r:embed="rId3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05" name="Google Shape;105;p19"/>
          <p:cNvSpPr txBox="1"/>
          <p:nvPr>
            <p:ph idx="1" type="subTitle"/>
          </p:nvPr>
        </p:nvSpPr>
        <p:spPr>
          <a:xfrm>
            <a:off x="4923249" y="3247522"/>
            <a:ext cx="2505600" cy="101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idx="2" type="subTitle"/>
          </p:nvPr>
        </p:nvSpPr>
        <p:spPr>
          <a:xfrm>
            <a:off x="1715375" y="3247522"/>
            <a:ext cx="2505600" cy="101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9"/>
          <p:cNvSpPr txBox="1"/>
          <p:nvPr>
            <p:ph idx="3" type="subTitle"/>
          </p:nvPr>
        </p:nvSpPr>
        <p:spPr>
          <a:xfrm>
            <a:off x="1715375" y="2759900"/>
            <a:ext cx="25056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08" name="Google Shape;108;p19"/>
          <p:cNvSpPr txBox="1"/>
          <p:nvPr>
            <p:ph idx="4" type="subTitle"/>
          </p:nvPr>
        </p:nvSpPr>
        <p:spPr>
          <a:xfrm>
            <a:off x="4923249" y="2759900"/>
            <a:ext cx="2505600" cy="55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pic>
        <p:nvPicPr>
          <p:cNvPr id="109" name="Google Shape;109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 rot="10800000">
            <a:off x="8299883" y="10177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_1">
    <p:bg>
      <p:bgPr>
        <a:solidFill>
          <a:schemeClr val="dk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0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13" name="Google Shape;113;p20"/>
          <p:cNvSpPr txBox="1"/>
          <p:nvPr>
            <p:ph idx="1" type="subTitle"/>
          </p:nvPr>
        </p:nvSpPr>
        <p:spPr>
          <a:xfrm>
            <a:off x="4985239" y="1667625"/>
            <a:ext cx="2947800" cy="287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0"/>
          <p:cNvSpPr txBox="1"/>
          <p:nvPr>
            <p:ph idx="2" type="subTitle"/>
          </p:nvPr>
        </p:nvSpPr>
        <p:spPr>
          <a:xfrm>
            <a:off x="1211050" y="1667625"/>
            <a:ext cx="2947800" cy="287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546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3">
  <p:cSld name="TITLE_AND_TWO_COLUMNS_1_1_1">
    <p:bg>
      <p:bgPr>
        <a:solidFill>
          <a:schemeClr val="dk1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1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19" name="Google Shape;119;p21"/>
          <p:cNvSpPr txBox="1"/>
          <p:nvPr>
            <p:ph idx="1" type="subTitle"/>
          </p:nvPr>
        </p:nvSpPr>
        <p:spPr>
          <a:xfrm>
            <a:off x="4888650" y="1610375"/>
            <a:ext cx="3460800" cy="29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0" name="Google Shape;120;p21"/>
          <p:cNvSpPr txBox="1"/>
          <p:nvPr>
            <p:ph idx="2" type="subTitle"/>
          </p:nvPr>
        </p:nvSpPr>
        <p:spPr>
          <a:xfrm>
            <a:off x="1053400" y="1610375"/>
            <a:ext cx="3460800" cy="299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21" name="Google Shape;12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546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bg>
      <p:bgPr>
        <a:solidFill>
          <a:schemeClr val="dk1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2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5" name="Google Shape;125;p22"/>
          <p:cNvSpPr txBox="1"/>
          <p:nvPr>
            <p:ph idx="1" type="subTitle"/>
          </p:nvPr>
        </p:nvSpPr>
        <p:spPr>
          <a:xfrm>
            <a:off x="1090025" y="3228378"/>
            <a:ext cx="2175300" cy="8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22"/>
          <p:cNvSpPr txBox="1"/>
          <p:nvPr>
            <p:ph idx="2" type="subTitle"/>
          </p:nvPr>
        </p:nvSpPr>
        <p:spPr>
          <a:xfrm>
            <a:off x="3484348" y="3228378"/>
            <a:ext cx="2175300" cy="8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22"/>
          <p:cNvSpPr txBox="1"/>
          <p:nvPr>
            <p:ph idx="3" type="subTitle"/>
          </p:nvPr>
        </p:nvSpPr>
        <p:spPr>
          <a:xfrm>
            <a:off x="5878675" y="3228378"/>
            <a:ext cx="2175300" cy="8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22"/>
          <p:cNvSpPr txBox="1"/>
          <p:nvPr>
            <p:ph idx="4" type="subTitle"/>
          </p:nvPr>
        </p:nvSpPr>
        <p:spPr>
          <a:xfrm>
            <a:off x="1090025" y="2773801"/>
            <a:ext cx="21753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29" name="Google Shape;129;p22"/>
          <p:cNvSpPr txBox="1"/>
          <p:nvPr>
            <p:ph idx="5" type="subTitle"/>
          </p:nvPr>
        </p:nvSpPr>
        <p:spPr>
          <a:xfrm>
            <a:off x="3484348" y="2773801"/>
            <a:ext cx="21753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30" name="Google Shape;130;p22"/>
          <p:cNvSpPr txBox="1"/>
          <p:nvPr>
            <p:ph idx="6" type="subTitle"/>
          </p:nvPr>
        </p:nvSpPr>
        <p:spPr>
          <a:xfrm>
            <a:off x="5878675" y="2773801"/>
            <a:ext cx="21753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pic>
        <p:nvPicPr>
          <p:cNvPr id="131" name="Google Shape;13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1070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6_1">
    <p:bg>
      <p:bgPr>
        <a:solidFill>
          <a:schemeClr val="dk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23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35" name="Google Shape;135;p23"/>
          <p:cNvSpPr txBox="1"/>
          <p:nvPr>
            <p:ph idx="1" type="subTitle"/>
          </p:nvPr>
        </p:nvSpPr>
        <p:spPr>
          <a:xfrm>
            <a:off x="2741025" y="1786926"/>
            <a:ext cx="5373600" cy="41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23"/>
          <p:cNvSpPr txBox="1"/>
          <p:nvPr>
            <p:ph idx="2" type="subTitle"/>
          </p:nvPr>
        </p:nvSpPr>
        <p:spPr>
          <a:xfrm>
            <a:off x="2741025" y="2739426"/>
            <a:ext cx="5373600" cy="41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23"/>
          <p:cNvSpPr txBox="1"/>
          <p:nvPr>
            <p:ph idx="3" type="subTitle"/>
          </p:nvPr>
        </p:nvSpPr>
        <p:spPr>
          <a:xfrm>
            <a:off x="2741025" y="3691925"/>
            <a:ext cx="5373600" cy="41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3"/>
          <p:cNvSpPr txBox="1"/>
          <p:nvPr>
            <p:ph idx="4" type="subTitle"/>
          </p:nvPr>
        </p:nvSpPr>
        <p:spPr>
          <a:xfrm>
            <a:off x="2741033" y="1408550"/>
            <a:ext cx="53736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39" name="Google Shape;139;p23"/>
          <p:cNvSpPr txBox="1"/>
          <p:nvPr>
            <p:ph idx="5" type="subTitle"/>
          </p:nvPr>
        </p:nvSpPr>
        <p:spPr>
          <a:xfrm>
            <a:off x="2741033" y="2361049"/>
            <a:ext cx="53736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40" name="Google Shape;140;p23"/>
          <p:cNvSpPr txBox="1"/>
          <p:nvPr>
            <p:ph idx="6" type="subTitle"/>
          </p:nvPr>
        </p:nvSpPr>
        <p:spPr>
          <a:xfrm>
            <a:off x="2741033" y="3313548"/>
            <a:ext cx="53736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pic>
        <p:nvPicPr>
          <p:cNvPr id="141" name="Google Shape;141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3478617" y="793511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bg>
      <p:bgPr>
        <a:solidFill>
          <a:schemeClr val="dk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4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45" name="Google Shape;145;p24"/>
          <p:cNvSpPr txBox="1"/>
          <p:nvPr>
            <p:ph idx="1" type="subTitle"/>
          </p:nvPr>
        </p:nvSpPr>
        <p:spPr>
          <a:xfrm>
            <a:off x="2308202" y="18999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4"/>
          <p:cNvSpPr txBox="1"/>
          <p:nvPr>
            <p:ph idx="2" type="subTitle"/>
          </p:nvPr>
        </p:nvSpPr>
        <p:spPr>
          <a:xfrm>
            <a:off x="4852905" y="18999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4"/>
          <p:cNvSpPr txBox="1"/>
          <p:nvPr>
            <p:ph idx="3" type="subTitle"/>
          </p:nvPr>
        </p:nvSpPr>
        <p:spPr>
          <a:xfrm>
            <a:off x="2308202" y="33333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4"/>
          <p:cNvSpPr txBox="1"/>
          <p:nvPr>
            <p:ph idx="4" type="subTitle"/>
          </p:nvPr>
        </p:nvSpPr>
        <p:spPr>
          <a:xfrm>
            <a:off x="4852905" y="3333375"/>
            <a:ext cx="1978200" cy="66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4"/>
          <p:cNvSpPr txBox="1"/>
          <p:nvPr>
            <p:ph idx="5" type="subTitle"/>
          </p:nvPr>
        </p:nvSpPr>
        <p:spPr>
          <a:xfrm>
            <a:off x="2308202" y="1616375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50" name="Google Shape;150;p24"/>
          <p:cNvSpPr txBox="1"/>
          <p:nvPr>
            <p:ph idx="6" type="subTitle"/>
          </p:nvPr>
        </p:nvSpPr>
        <p:spPr>
          <a:xfrm>
            <a:off x="2308202" y="3049850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51" name="Google Shape;151;p24"/>
          <p:cNvSpPr txBox="1"/>
          <p:nvPr>
            <p:ph idx="7" type="subTitle"/>
          </p:nvPr>
        </p:nvSpPr>
        <p:spPr>
          <a:xfrm>
            <a:off x="4852902" y="1616375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52" name="Google Shape;152;p24"/>
          <p:cNvSpPr txBox="1"/>
          <p:nvPr>
            <p:ph idx="8" type="subTitle"/>
          </p:nvPr>
        </p:nvSpPr>
        <p:spPr>
          <a:xfrm>
            <a:off x="4852902" y="3049850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pic>
        <p:nvPicPr>
          <p:cNvPr id="153" name="Google Shape;15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6623483" y="11828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bg>
      <p:bgPr>
        <a:solidFill>
          <a:schemeClr val="dk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5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57" name="Google Shape;157;p25"/>
          <p:cNvSpPr txBox="1"/>
          <p:nvPr>
            <p:ph idx="1" type="subTitle"/>
          </p:nvPr>
        </p:nvSpPr>
        <p:spPr>
          <a:xfrm>
            <a:off x="1112605" y="2094882"/>
            <a:ext cx="19752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p25"/>
          <p:cNvSpPr txBox="1"/>
          <p:nvPr>
            <p:ph idx="2" type="subTitle"/>
          </p:nvPr>
        </p:nvSpPr>
        <p:spPr>
          <a:xfrm>
            <a:off x="3582450" y="2094882"/>
            <a:ext cx="19752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5"/>
          <p:cNvSpPr txBox="1"/>
          <p:nvPr>
            <p:ph idx="3" type="subTitle"/>
          </p:nvPr>
        </p:nvSpPr>
        <p:spPr>
          <a:xfrm>
            <a:off x="1112605" y="3528282"/>
            <a:ext cx="19752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5"/>
          <p:cNvSpPr txBox="1"/>
          <p:nvPr>
            <p:ph idx="4" type="subTitle"/>
          </p:nvPr>
        </p:nvSpPr>
        <p:spPr>
          <a:xfrm>
            <a:off x="3582450" y="3528282"/>
            <a:ext cx="19752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25"/>
          <p:cNvSpPr txBox="1"/>
          <p:nvPr>
            <p:ph idx="5" type="subTitle"/>
          </p:nvPr>
        </p:nvSpPr>
        <p:spPr>
          <a:xfrm>
            <a:off x="6052295" y="2094882"/>
            <a:ext cx="19752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25"/>
          <p:cNvSpPr txBox="1"/>
          <p:nvPr>
            <p:ph idx="6" type="subTitle"/>
          </p:nvPr>
        </p:nvSpPr>
        <p:spPr>
          <a:xfrm>
            <a:off x="6052295" y="3528282"/>
            <a:ext cx="19752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5"/>
          <p:cNvSpPr txBox="1"/>
          <p:nvPr>
            <p:ph idx="7" type="subTitle"/>
          </p:nvPr>
        </p:nvSpPr>
        <p:spPr>
          <a:xfrm>
            <a:off x="1111105" y="1833388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64" name="Google Shape;164;p25"/>
          <p:cNvSpPr txBox="1"/>
          <p:nvPr>
            <p:ph idx="8" type="subTitle"/>
          </p:nvPr>
        </p:nvSpPr>
        <p:spPr>
          <a:xfrm>
            <a:off x="3580950" y="1833388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65" name="Google Shape;165;p25"/>
          <p:cNvSpPr txBox="1"/>
          <p:nvPr>
            <p:ph idx="9" type="subTitle"/>
          </p:nvPr>
        </p:nvSpPr>
        <p:spPr>
          <a:xfrm>
            <a:off x="6050795" y="1833388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66" name="Google Shape;166;p25"/>
          <p:cNvSpPr txBox="1"/>
          <p:nvPr>
            <p:ph idx="13" type="subTitle"/>
          </p:nvPr>
        </p:nvSpPr>
        <p:spPr>
          <a:xfrm>
            <a:off x="1111105" y="3265650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67" name="Google Shape;167;p25"/>
          <p:cNvSpPr txBox="1"/>
          <p:nvPr>
            <p:ph idx="14" type="subTitle"/>
          </p:nvPr>
        </p:nvSpPr>
        <p:spPr>
          <a:xfrm>
            <a:off x="3580950" y="3265650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68" name="Google Shape;168;p25"/>
          <p:cNvSpPr txBox="1"/>
          <p:nvPr>
            <p:ph idx="15" type="subTitle"/>
          </p:nvPr>
        </p:nvSpPr>
        <p:spPr>
          <a:xfrm>
            <a:off x="6050795" y="3265650"/>
            <a:ext cx="1978200" cy="37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pic>
        <p:nvPicPr>
          <p:cNvPr id="169" name="Google Shape;16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1832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bg>
      <p:bgPr>
        <a:solidFill>
          <a:schemeClr val="dk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6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6"/>
          <p:cNvSpPr txBox="1"/>
          <p:nvPr>
            <p:ph hasCustomPrompt="1" type="title"/>
          </p:nvPr>
        </p:nvSpPr>
        <p:spPr>
          <a:xfrm>
            <a:off x="1094225" y="670225"/>
            <a:ext cx="2538300" cy="6417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3" name="Google Shape;173;p26"/>
          <p:cNvSpPr txBox="1"/>
          <p:nvPr>
            <p:ph idx="1" type="subTitle"/>
          </p:nvPr>
        </p:nvSpPr>
        <p:spPr>
          <a:xfrm>
            <a:off x="1094225" y="1311925"/>
            <a:ext cx="3121500" cy="37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4" name="Google Shape;174;p26"/>
          <p:cNvSpPr txBox="1"/>
          <p:nvPr>
            <p:ph hasCustomPrompt="1" idx="2" type="title"/>
          </p:nvPr>
        </p:nvSpPr>
        <p:spPr>
          <a:xfrm>
            <a:off x="1094225" y="2120325"/>
            <a:ext cx="1884300" cy="6417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5" name="Google Shape;175;p26"/>
          <p:cNvSpPr txBox="1"/>
          <p:nvPr>
            <p:ph idx="3" type="subTitle"/>
          </p:nvPr>
        </p:nvSpPr>
        <p:spPr>
          <a:xfrm>
            <a:off x="1094225" y="2771663"/>
            <a:ext cx="3121500" cy="37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6" name="Google Shape;176;p26"/>
          <p:cNvSpPr txBox="1"/>
          <p:nvPr>
            <p:ph hasCustomPrompt="1" idx="4" type="title"/>
          </p:nvPr>
        </p:nvSpPr>
        <p:spPr>
          <a:xfrm>
            <a:off x="1094225" y="3589700"/>
            <a:ext cx="2766900" cy="6417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7" name="Google Shape;177;p26"/>
          <p:cNvSpPr txBox="1"/>
          <p:nvPr>
            <p:ph idx="5" type="subTitle"/>
          </p:nvPr>
        </p:nvSpPr>
        <p:spPr>
          <a:xfrm>
            <a:off x="1094225" y="4231401"/>
            <a:ext cx="3121500" cy="37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bg>
      <p:bgPr>
        <a:solidFill>
          <a:schemeClr val="dk1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27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7"/>
          <p:cNvSpPr txBox="1"/>
          <p:nvPr>
            <p:ph type="title"/>
          </p:nvPr>
        </p:nvSpPr>
        <p:spPr>
          <a:xfrm>
            <a:off x="4353250" y="707775"/>
            <a:ext cx="4077900" cy="122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500"/>
              <a:buNone/>
              <a:defRPr sz="8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81" name="Google Shape;181;p27"/>
          <p:cNvSpPr txBox="1"/>
          <p:nvPr>
            <p:ph idx="1" type="subTitle"/>
          </p:nvPr>
        </p:nvSpPr>
        <p:spPr>
          <a:xfrm>
            <a:off x="4353250" y="1841449"/>
            <a:ext cx="4077900" cy="10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7"/>
          <p:cNvSpPr txBox="1"/>
          <p:nvPr/>
        </p:nvSpPr>
        <p:spPr>
          <a:xfrm>
            <a:off x="4353250" y="3764350"/>
            <a:ext cx="4077900" cy="5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CREDITS:</a:t>
            </a:r>
            <a:r>
              <a:rPr lang="en" sz="12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This presentation template was created by </a:t>
            </a:r>
            <a:r>
              <a:rPr b="1" lang="en" sz="1200" u="sng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, and includes icons by </a:t>
            </a:r>
            <a:r>
              <a:rPr b="1" lang="en" sz="1200" u="sng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, and infographics &amp; images by </a:t>
            </a:r>
            <a:r>
              <a:rPr b="1" lang="en" sz="1200" u="sng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</a:t>
            </a:r>
            <a:endParaRPr b="1" sz="1200" u="sng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bg>
      <p:bgPr>
        <a:solidFill>
          <a:schemeClr val="dk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546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bg>
      <p:bgPr>
        <a:solidFill>
          <a:schemeClr val="dk1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9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6318683" y="11828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Khand"/>
              <a:buNone/>
              <a:defRPr sz="3500">
                <a:solidFill>
                  <a:schemeClr val="lt1"/>
                </a:solidFill>
                <a:latin typeface="Khand"/>
                <a:ea typeface="Khand"/>
                <a:cs typeface="Khand"/>
                <a:sym typeface="Kha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linkedin.com/in/olegfdezll/" TargetMode="External"/><Relationship Id="rId4" Type="http://schemas.openxmlformats.org/officeDocument/2006/relationships/hyperlink" Target="https://www.linkedin.com/in/emele-ramos-granados/" TargetMode="External"/><Relationship Id="rId5" Type="http://schemas.openxmlformats.org/officeDocument/2006/relationships/hyperlink" Target="https://github.com/GatitosLab" TargetMode="External"/><Relationship Id="rId6" Type="http://schemas.openxmlformats.org/officeDocument/2006/relationships/hyperlink" Target="https://github.com/GatitosLab" TargetMode="External"/><Relationship Id="rId7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0"/>
          <p:cNvSpPr txBox="1"/>
          <p:nvPr/>
        </p:nvSpPr>
        <p:spPr>
          <a:xfrm>
            <a:off x="1845750" y="2536375"/>
            <a:ext cx="5892300" cy="47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Simulación de diseño, despliegue y documentación de Red para Centro de Salud Especializado “San Vergeles” </a:t>
            </a:r>
            <a:endParaRPr sz="160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pic>
        <p:nvPicPr>
          <p:cNvPr id="194" name="Google Shape;194;p30"/>
          <p:cNvPicPr preferRelativeResize="0"/>
          <p:nvPr/>
        </p:nvPicPr>
        <p:blipFill rotWithShape="1">
          <a:blip r:embed="rId3">
            <a:alphaModFix/>
          </a:blip>
          <a:srcRect b="17287" l="0" r="0" t="0"/>
          <a:stretch/>
        </p:blipFill>
        <p:spPr>
          <a:xfrm>
            <a:off x="3359050" y="1327925"/>
            <a:ext cx="2865701" cy="966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30"/>
          <p:cNvSpPr txBox="1"/>
          <p:nvPr/>
        </p:nvSpPr>
        <p:spPr>
          <a:xfrm>
            <a:off x="862575" y="2873100"/>
            <a:ext cx="7770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37B97"/>
                </a:solidFill>
                <a:latin typeface="Karla Light"/>
                <a:ea typeface="Karla Light"/>
                <a:cs typeface="Karla Light"/>
                <a:sym typeface="Karla Light"/>
              </a:rPr>
              <a:t>Oleg Fernández-Llebrez Rodríguez  </a:t>
            </a:r>
            <a:r>
              <a:rPr lang="en" sz="12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  | Estudiante de ASIR en el centro Fomento Ocupacional - FOC</a:t>
            </a:r>
            <a:endParaRPr sz="12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37B97"/>
                </a:solidFill>
                <a:latin typeface="Karla Light"/>
                <a:ea typeface="Karla Light"/>
                <a:cs typeface="Karla Light"/>
                <a:sym typeface="Karla Light"/>
              </a:rPr>
              <a:t>Laura Ramos Granados</a:t>
            </a:r>
            <a:r>
              <a:rPr lang="en" sz="12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 | Estudiante de ASIR en el IES Zaidín Vergeles - IES ZV</a:t>
            </a:r>
            <a:endParaRPr sz="12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pic>
        <p:nvPicPr>
          <p:cNvPr id="196" name="Google Shape;196;p30" title="pngegg(4).png"/>
          <p:cNvPicPr preferRelativeResize="0"/>
          <p:nvPr/>
        </p:nvPicPr>
        <p:blipFill rotWithShape="1">
          <a:blip r:embed="rId4">
            <a:alphaModFix/>
          </a:blip>
          <a:srcRect b="49454" l="0" r="0" t="0"/>
          <a:stretch/>
        </p:blipFill>
        <p:spPr>
          <a:xfrm>
            <a:off x="-209925" y="-984075"/>
            <a:ext cx="9670374" cy="243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30" title="pngegg(4).png"/>
          <p:cNvPicPr preferRelativeResize="0"/>
          <p:nvPr/>
        </p:nvPicPr>
        <p:blipFill rotWithShape="1">
          <a:blip r:embed="rId4">
            <a:alphaModFix/>
          </a:blip>
          <a:srcRect b="0" l="0" r="0" t="56644"/>
          <a:stretch/>
        </p:blipFill>
        <p:spPr>
          <a:xfrm>
            <a:off x="-579000" y="3733650"/>
            <a:ext cx="10357299" cy="2230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1"/>
          <p:cNvSpPr txBox="1"/>
          <p:nvPr/>
        </p:nvSpPr>
        <p:spPr>
          <a:xfrm>
            <a:off x="1235650" y="1438400"/>
            <a:ext cx="52527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Contexto y propósito</a:t>
            </a:r>
            <a:endParaRPr sz="300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203" name="Google Shape;203;p31"/>
          <p:cNvSpPr txBox="1"/>
          <p:nvPr/>
        </p:nvSpPr>
        <p:spPr>
          <a:xfrm>
            <a:off x="915750" y="1977550"/>
            <a:ext cx="66474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Este proyecto ha sido desarrollado con carácter educativo como parte de la fase final de nuestras prácticas de Administración de Sistemas Informáticos y Redes en Kyndryl, con la intención de: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-1270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Karla Light"/>
              <a:buChar char="●"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Consolidar conocimientos de redes, virtualización y seguridad.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-1270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Karla Light"/>
              <a:buChar char="●"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Simular una infraestructura realista y documentarla profesionalmente.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-127000" lvl="0" marL="45720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Karla Light"/>
              <a:buChar char="●"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Poner en práctica el diseño de redes escalables, segmentadas y seguras.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204" name="Google Shape;204;p31"/>
          <p:cNvGrpSpPr/>
          <p:nvPr/>
        </p:nvGrpSpPr>
        <p:grpSpPr>
          <a:xfrm>
            <a:off x="879977" y="1438388"/>
            <a:ext cx="355663" cy="308725"/>
            <a:chOff x="-28462125" y="3199700"/>
            <a:chExt cx="298550" cy="259150"/>
          </a:xfrm>
        </p:grpSpPr>
        <p:sp>
          <p:nvSpPr>
            <p:cNvPr id="205" name="Google Shape;205;p31"/>
            <p:cNvSpPr/>
            <p:nvPr/>
          </p:nvSpPr>
          <p:spPr>
            <a:xfrm>
              <a:off x="-28459750" y="3284775"/>
              <a:ext cx="296175" cy="104775"/>
            </a:xfrm>
            <a:custGeom>
              <a:rect b="b" l="l" r="r" t="t"/>
              <a:pathLst>
                <a:path extrusionOk="0" h="4191" w="11847">
                  <a:moveTo>
                    <a:pt x="5230" y="0"/>
                  </a:moveTo>
                  <a:cubicBezTo>
                    <a:pt x="5073" y="0"/>
                    <a:pt x="4947" y="63"/>
                    <a:pt x="4915" y="189"/>
                  </a:cubicBezTo>
                  <a:lnTo>
                    <a:pt x="4096" y="2080"/>
                  </a:lnTo>
                  <a:lnTo>
                    <a:pt x="347" y="2080"/>
                  </a:lnTo>
                  <a:cubicBezTo>
                    <a:pt x="158" y="2080"/>
                    <a:pt x="0" y="2237"/>
                    <a:pt x="0" y="2426"/>
                  </a:cubicBezTo>
                  <a:cubicBezTo>
                    <a:pt x="0" y="2615"/>
                    <a:pt x="158" y="2773"/>
                    <a:pt x="347" y="2773"/>
                  </a:cubicBezTo>
                  <a:lnTo>
                    <a:pt x="4316" y="2773"/>
                  </a:lnTo>
                  <a:cubicBezTo>
                    <a:pt x="4411" y="2773"/>
                    <a:pt x="4505" y="2710"/>
                    <a:pt x="4600" y="2584"/>
                  </a:cubicBezTo>
                  <a:lnTo>
                    <a:pt x="5199" y="1292"/>
                  </a:lnTo>
                  <a:lnTo>
                    <a:pt x="6238" y="3970"/>
                  </a:lnTo>
                  <a:cubicBezTo>
                    <a:pt x="6301" y="4096"/>
                    <a:pt x="6396" y="4159"/>
                    <a:pt x="6522" y="4191"/>
                  </a:cubicBezTo>
                  <a:lnTo>
                    <a:pt x="6553" y="4191"/>
                  </a:lnTo>
                  <a:cubicBezTo>
                    <a:pt x="6679" y="4191"/>
                    <a:pt x="6805" y="4127"/>
                    <a:pt x="6868" y="4033"/>
                  </a:cubicBezTo>
                  <a:lnTo>
                    <a:pt x="7624" y="2836"/>
                  </a:lnTo>
                  <a:lnTo>
                    <a:pt x="11500" y="2836"/>
                  </a:lnTo>
                  <a:cubicBezTo>
                    <a:pt x="11689" y="2836"/>
                    <a:pt x="11846" y="2678"/>
                    <a:pt x="11846" y="2458"/>
                  </a:cubicBezTo>
                  <a:cubicBezTo>
                    <a:pt x="11846" y="2269"/>
                    <a:pt x="11689" y="2111"/>
                    <a:pt x="11500" y="2111"/>
                  </a:cubicBezTo>
                  <a:lnTo>
                    <a:pt x="7435" y="2111"/>
                  </a:lnTo>
                  <a:cubicBezTo>
                    <a:pt x="7309" y="2111"/>
                    <a:pt x="7183" y="2206"/>
                    <a:pt x="7120" y="2269"/>
                  </a:cubicBezTo>
                  <a:lnTo>
                    <a:pt x="6648" y="3056"/>
                  </a:lnTo>
                  <a:lnTo>
                    <a:pt x="5545" y="221"/>
                  </a:lnTo>
                  <a:cubicBezTo>
                    <a:pt x="5514" y="95"/>
                    <a:pt x="5388" y="0"/>
                    <a:pt x="523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31"/>
            <p:cNvSpPr/>
            <p:nvPr/>
          </p:nvSpPr>
          <p:spPr>
            <a:xfrm>
              <a:off x="-28462125" y="3199700"/>
              <a:ext cx="295400" cy="125275"/>
            </a:xfrm>
            <a:custGeom>
              <a:rect b="b" l="l" r="r" t="t"/>
              <a:pathLst>
                <a:path extrusionOk="0" h="5011" w="11816">
                  <a:moveTo>
                    <a:pt x="3151" y="1"/>
                  </a:moveTo>
                  <a:cubicBezTo>
                    <a:pt x="1387" y="1"/>
                    <a:pt x="1" y="1419"/>
                    <a:pt x="1" y="3277"/>
                  </a:cubicBezTo>
                  <a:cubicBezTo>
                    <a:pt x="1" y="3876"/>
                    <a:pt x="158" y="4349"/>
                    <a:pt x="442" y="4821"/>
                  </a:cubicBezTo>
                  <a:lnTo>
                    <a:pt x="3655" y="4821"/>
                  </a:lnTo>
                  <a:lnTo>
                    <a:pt x="4285" y="3340"/>
                  </a:lnTo>
                  <a:cubicBezTo>
                    <a:pt x="4443" y="2994"/>
                    <a:pt x="4821" y="2773"/>
                    <a:pt x="5199" y="2710"/>
                  </a:cubicBezTo>
                  <a:cubicBezTo>
                    <a:pt x="5672" y="2710"/>
                    <a:pt x="6018" y="2994"/>
                    <a:pt x="6176" y="3403"/>
                  </a:cubicBezTo>
                  <a:lnTo>
                    <a:pt x="6806" y="5010"/>
                  </a:lnTo>
                  <a:cubicBezTo>
                    <a:pt x="6963" y="4884"/>
                    <a:pt x="7215" y="4821"/>
                    <a:pt x="7404" y="4821"/>
                  </a:cubicBezTo>
                  <a:lnTo>
                    <a:pt x="11374" y="4821"/>
                  </a:lnTo>
                  <a:cubicBezTo>
                    <a:pt x="11626" y="4349"/>
                    <a:pt x="11815" y="3813"/>
                    <a:pt x="11815" y="3277"/>
                  </a:cubicBezTo>
                  <a:cubicBezTo>
                    <a:pt x="11815" y="1419"/>
                    <a:pt x="10429" y="1"/>
                    <a:pt x="8665" y="1"/>
                  </a:cubicBezTo>
                  <a:cubicBezTo>
                    <a:pt x="7247" y="1"/>
                    <a:pt x="6396" y="977"/>
                    <a:pt x="5924" y="1860"/>
                  </a:cubicBezTo>
                  <a:cubicBezTo>
                    <a:pt x="5451" y="977"/>
                    <a:pt x="4537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31"/>
            <p:cNvSpPr/>
            <p:nvPr/>
          </p:nvSpPr>
          <p:spPr>
            <a:xfrm>
              <a:off x="-28405400" y="3360375"/>
              <a:ext cx="186675" cy="98475"/>
            </a:xfrm>
            <a:custGeom>
              <a:rect b="b" l="l" r="r" t="t"/>
              <a:pathLst>
                <a:path extrusionOk="0" h="3939" w="7467">
                  <a:moveTo>
                    <a:pt x="2962" y="1"/>
                  </a:moveTo>
                  <a:cubicBezTo>
                    <a:pt x="2773" y="284"/>
                    <a:pt x="2458" y="442"/>
                    <a:pt x="2111" y="442"/>
                  </a:cubicBezTo>
                  <a:lnTo>
                    <a:pt x="0" y="442"/>
                  </a:lnTo>
                  <a:cubicBezTo>
                    <a:pt x="158" y="599"/>
                    <a:pt x="347" y="757"/>
                    <a:pt x="536" y="914"/>
                  </a:cubicBezTo>
                  <a:cubicBezTo>
                    <a:pt x="1449" y="1734"/>
                    <a:pt x="2426" y="2647"/>
                    <a:pt x="3434" y="3813"/>
                  </a:cubicBezTo>
                  <a:cubicBezTo>
                    <a:pt x="3529" y="3907"/>
                    <a:pt x="3592" y="3939"/>
                    <a:pt x="3718" y="3939"/>
                  </a:cubicBezTo>
                  <a:cubicBezTo>
                    <a:pt x="3844" y="3939"/>
                    <a:pt x="3907" y="3907"/>
                    <a:pt x="4001" y="3813"/>
                  </a:cubicBezTo>
                  <a:cubicBezTo>
                    <a:pt x="4978" y="2584"/>
                    <a:pt x="6018" y="1734"/>
                    <a:pt x="6900" y="914"/>
                  </a:cubicBezTo>
                  <a:cubicBezTo>
                    <a:pt x="7120" y="757"/>
                    <a:pt x="7278" y="599"/>
                    <a:pt x="7467" y="442"/>
                  </a:cubicBezTo>
                  <a:lnTo>
                    <a:pt x="5860" y="442"/>
                  </a:lnTo>
                  <a:lnTo>
                    <a:pt x="5293" y="1324"/>
                  </a:lnTo>
                  <a:cubicBezTo>
                    <a:pt x="5104" y="1639"/>
                    <a:pt x="4789" y="1860"/>
                    <a:pt x="4379" y="1860"/>
                  </a:cubicBezTo>
                  <a:lnTo>
                    <a:pt x="4316" y="1860"/>
                  </a:lnTo>
                  <a:cubicBezTo>
                    <a:pt x="3907" y="1797"/>
                    <a:pt x="3592" y="1576"/>
                    <a:pt x="3434" y="1167"/>
                  </a:cubicBezTo>
                  <a:lnTo>
                    <a:pt x="2962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208" name="Google Shape;20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33223">
            <a:off x="-257444" y="2994296"/>
            <a:ext cx="9451388" cy="4250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2051" y="3588076"/>
            <a:ext cx="6553876" cy="362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2"/>
          <p:cNvSpPr txBox="1"/>
          <p:nvPr/>
        </p:nvSpPr>
        <p:spPr>
          <a:xfrm>
            <a:off x="1361975" y="528925"/>
            <a:ext cx="38955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Marco situacional</a:t>
            </a:r>
            <a:endParaRPr sz="300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215" name="Google Shape;215;p32"/>
          <p:cNvSpPr txBox="1"/>
          <p:nvPr/>
        </p:nvSpPr>
        <p:spPr>
          <a:xfrm>
            <a:off x="909125" y="1325850"/>
            <a:ext cx="6724500" cy="7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El Centro de Salud Municipal “San Vergeles” busca mejorar su conectividad interna para dar soporte a sus servicios médicos y administrativos. Actualmente, el centro cuenta con un conjunto reducido de servicios digitales: </a:t>
            </a:r>
            <a:endParaRPr sz="12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216" name="Google Shape;216;p32"/>
          <p:cNvGrpSpPr/>
          <p:nvPr/>
        </p:nvGrpSpPr>
        <p:grpSpPr>
          <a:xfrm>
            <a:off x="2932432" y="2744871"/>
            <a:ext cx="3865976" cy="1279879"/>
            <a:chOff x="6796238" y="3158297"/>
            <a:chExt cx="1630319" cy="677257"/>
          </a:xfrm>
        </p:grpSpPr>
        <p:cxnSp>
          <p:nvCxnSpPr>
            <p:cNvPr id="217" name="Google Shape;217;p32"/>
            <p:cNvCxnSpPr/>
            <p:nvPr/>
          </p:nvCxnSpPr>
          <p:spPr>
            <a:xfrm>
              <a:off x="7012244" y="3664854"/>
              <a:ext cx="0" cy="1707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cxnSp>
          <p:nvCxnSpPr>
            <p:cNvPr id="218" name="Google Shape;218;p32"/>
            <p:cNvCxnSpPr/>
            <p:nvPr/>
          </p:nvCxnSpPr>
          <p:spPr>
            <a:xfrm>
              <a:off x="7810957" y="3664854"/>
              <a:ext cx="0" cy="1707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cxnSp>
          <p:nvCxnSpPr>
            <p:cNvPr id="219" name="Google Shape;219;p32"/>
            <p:cNvCxnSpPr/>
            <p:nvPr/>
          </p:nvCxnSpPr>
          <p:spPr>
            <a:xfrm rot="10800000">
              <a:off x="8196652" y="3170826"/>
              <a:ext cx="0" cy="1698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cxnSp>
          <p:nvCxnSpPr>
            <p:cNvPr id="220" name="Google Shape;220;p32"/>
            <p:cNvCxnSpPr/>
            <p:nvPr/>
          </p:nvCxnSpPr>
          <p:spPr>
            <a:xfrm rot="10800000">
              <a:off x="7411601" y="3158297"/>
              <a:ext cx="0" cy="1707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grpSp>
          <p:nvGrpSpPr>
            <p:cNvPr id="221" name="Google Shape;221;p32"/>
            <p:cNvGrpSpPr/>
            <p:nvPr/>
          </p:nvGrpSpPr>
          <p:grpSpPr>
            <a:xfrm>
              <a:off x="6796238" y="3311904"/>
              <a:ext cx="1630319" cy="377697"/>
              <a:chOff x="6796238" y="3311904"/>
              <a:chExt cx="1630319" cy="377697"/>
            </a:xfrm>
          </p:grpSpPr>
          <p:sp>
            <p:nvSpPr>
              <p:cNvPr id="222" name="Google Shape;222;p32"/>
              <p:cNvSpPr/>
              <p:nvPr/>
            </p:nvSpPr>
            <p:spPr>
              <a:xfrm>
                <a:off x="6796238" y="3311904"/>
                <a:ext cx="798025" cy="377697"/>
              </a:xfrm>
              <a:custGeom>
                <a:rect b="b" l="l" r="r" t="t"/>
                <a:pathLst>
                  <a:path extrusionOk="0" h="16266" w="34368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32"/>
              <p:cNvSpPr/>
              <p:nvPr/>
            </p:nvSpPr>
            <p:spPr>
              <a:xfrm>
                <a:off x="7628207" y="3311904"/>
                <a:ext cx="798350" cy="377697"/>
              </a:xfrm>
              <a:custGeom>
                <a:rect b="b" l="l" r="r" t="t"/>
                <a:pathLst>
                  <a:path extrusionOk="0" h="16266" w="34382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" name="Google Shape;224;p32"/>
              <p:cNvSpPr/>
              <p:nvPr/>
            </p:nvSpPr>
            <p:spPr>
              <a:xfrm>
                <a:off x="7229098" y="3311904"/>
                <a:ext cx="762823" cy="377697"/>
              </a:xfrm>
              <a:custGeom>
                <a:rect b="b" l="l" r="r" t="t"/>
                <a:pathLst>
                  <a:path extrusionOk="0" h="16266" w="32852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25" name="Google Shape;225;p32"/>
          <p:cNvSpPr txBox="1"/>
          <p:nvPr/>
        </p:nvSpPr>
        <p:spPr>
          <a:xfrm>
            <a:off x="3856625" y="2219250"/>
            <a:ext cx="11415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Servidor web de acceso público</a:t>
            </a:r>
            <a:endParaRPr sz="1200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26" name="Google Shape;226;p32"/>
          <p:cNvSpPr txBox="1"/>
          <p:nvPr/>
        </p:nvSpPr>
        <p:spPr>
          <a:xfrm>
            <a:off x="2841750" y="4034675"/>
            <a:ext cx="11415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Historia clínica electrónica</a:t>
            </a:r>
            <a:endParaRPr sz="100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27" name="Google Shape;227;p32"/>
          <p:cNvSpPr/>
          <p:nvPr/>
        </p:nvSpPr>
        <p:spPr>
          <a:xfrm>
            <a:off x="4253124" y="3210091"/>
            <a:ext cx="348513" cy="349427"/>
          </a:xfrm>
          <a:custGeom>
            <a:rect b="b" l="l" r="r" t="t"/>
            <a:pathLst>
              <a:path extrusionOk="0" h="11846" w="11815">
                <a:moveTo>
                  <a:pt x="5829" y="693"/>
                </a:moveTo>
                <a:cubicBezTo>
                  <a:pt x="6238" y="693"/>
                  <a:pt x="6553" y="1008"/>
                  <a:pt x="6553" y="1418"/>
                </a:cubicBezTo>
                <a:cubicBezTo>
                  <a:pt x="6553" y="1796"/>
                  <a:pt x="6238" y="2111"/>
                  <a:pt x="5829" y="2111"/>
                </a:cubicBezTo>
                <a:cubicBezTo>
                  <a:pt x="5451" y="2111"/>
                  <a:pt x="5136" y="1796"/>
                  <a:pt x="5136" y="1418"/>
                </a:cubicBezTo>
                <a:cubicBezTo>
                  <a:pt x="5136" y="1008"/>
                  <a:pt x="5482" y="693"/>
                  <a:pt x="5829" y="693"/>
                </a:cubicBezTo>
                <a:close/>
                <a:moveTo>
                  <a:pt x="5829" y="2773"/>
                </a:moveTo>
                <a:cubicBezTo>
                  <a:pt x="6774" y="2773"/>
                  <a:pt x="7562" y="3560"/>
                  <a:pt x="7562" y="4568"/>
                </a:cubicBezTo>
                <a:lnTo>
                  <a:pt x="7562" y="4915"/>
                </a:lnTo>
                <a:lnTo>
                  <a:pt x="4096" y="4915"/>
                </a:lnTo>
                <a:lnTo>
                  <a:pt x="4096" y="4568"/>
                </a:lnTo>
                <a:cubicBezTo>
                  <a:pt x="4096" y="3560"/>
                  <a:pt x="4884" y="2773"/>
                  <a:pt x="5829" y="2773"/>
                </a:cubicBezTo>
                <a:close/>
                <a:moveTo>
                  <a:pt x="2363" y="6963"/>
                </a:moveTo>
                <a:cubicBezTo>
                  <a:pt x="2773" y="6963"/>
                  <a:pt x="3088" y="7278"/>
                  <a:pt x="3088" y="7656"/>
                </a:cubicBezTo>
                <a:cubicBezTo>
                  <a:pt x="3088" y="8065"/>
                  <a:pt x="2773" y="8380"/>
                  <a:pt x="2363" y="8380"/>
                </a:cubicBezTo>
                <a:cubicBezTo>
                  <a:pt x="1985" y="8380"/>
                  <a:pt x="1670" y="8065"/>
                  <a:pt x="1670" y="7656"/>
                </a:cubicBezTo>
                <a:cubicBezTo>
                  <a:pt x="1670" y="7278"/>
                  <a:pt x="1985" y="6963"/>
                  <a:pt x="2363" y="6963"/>
                </a:cubicBezTo>
                <a:close/>
                <a:moveTo>
                  <a:pt x="9357" y="6963"/>
                </a:moveTo>
                <a:cubicBezTo>
                  <a:pt x="9735" y="6963"/>
                  <a:pt x="10050" y="7278"/>
                  <a:pt x="10050" y="7656"/>
                </a:cubicBezTo>
                <a:cubicBezTo>
                  <a:pt x="10050" y="8065"/>
                  <a:pt x="9735" y="8380"/>
                  <a:pt x="9357" y="8380"/>
                </a:cubicBezTo>
                <a:cubicBezTo>
                  <a:pt x="8948" y="8380"/>
                  <a:pt x="8633" y="8065"/>
                  <a:pt x="8633" y="7656"/>
                </a:cubicBezTo>
                <a:cubicBezTo>
                  <a:pt x="8633" y="7278"/>
                  <a:pt x="8948" y="6963"/>
                  <a:pt x="9357" y="6963"/>
                </a:cubicBezTo>
                <a:close/>
                <a:moveTo>
                  <a:pt x="2363" y="9042"/>
                </a:moveTo>
                <a:cubicBezTo>
                  <a:pt x="3308" y="9042"/>
                  <a:pt x="4096" y="9830"/>
                  <a:pt x="4096" y="10806"/>
                </a:cubicBezTo>
                <a:lnTo>
                  <a:pt x="4096" y="11184"/>
                </a:lnTo>
                <a:lnTo>
                  <a:pt x="630" y="11184"/>
                </a:lnTo>
                <a:lnTo>
                  <a:pt x="630" y="10806"/>
                </a:lnTo>
                <a:cubicBezTo>
                  <a:pt x="630" y="9830"/>
                  <a:pt x="1418" y="9042"/>
                  <a:pt x="2363" y="9042"/>
                </a:cubicBezTo>
                <a:close/>
                <a:moveTo>
                  <a:pt x="9357" y="9042"/>
                </a:moveTo>
                <a:cubicBezTo>
                  <a:pt x="10302" y="9042"/>
                  <a:pt x="11090" y="9830"/>
                  <a:pt x="11090" y="10806"/>
                </a:cubicBezTo>
                <a:lnTo>
                  <a:pt x="11090" y="11184"/>
                </a:lnTo>
                <a:lnTo>
                  <a:pt x="7625" y="11184"/>
                </a:lnTo>
                <a:lnTo>
                  <a:pt x="7625" y="10806"/>
                </a:lnTo>
                <a:cubicBezTo>
                  <a:pt x="7625" y="9830"/>
                  <a:pt x="8412" y="9042"/>
                  <a:pt x="9357" y="9042"/>
                </a:cubicBezTo>
                <a:close/>
                <a:moveTo>
                  <a:pt x="5892" y="0"/>
                </a:moveTo>
                <a:cubicBezTo>
                  <a:pt x="5136" y="0"/>
                  <a:pt x="4506" y="630"/>
                  <a:pt x="4506" y="1355"/>
                </a:cubicBezTo>
                <a:cubicBezTo>
                  <a:pt x="4506" y="1733"/>
                  <a:pt x="4632" y="2016"/>
                  <a:pt x="4852" y="2300"/>
                </a:cubicBezTo>
                <a:cubicBezTo>
                  <a:pt x="4033" y="2710"/>
                  <a:pt x="3466" y="3529"/>
                  <a:pt x="3466" y="4505"/>
                </a:cubicBezTo>
                <a:lnTo>
                  <a:pt x="3466" y="5230"/>
                </a:lnTo>
                <a:cubicBezTo>
                  <a:pt x="3466" y="5419"/>
                  <a:pt x="3623" y="5577"/>
                  <a:pt x="3844" y="5577"/>
                </a:cubicBezTo>
                <a:lnTo>
                  <a:pt x="5577" y="5577"/>
                </a:lnTo>
                <a:lnTo>
                  <a:pt x="5577" y="7152"/>
                </a:lnTo>
                <a:lnTo>
                  <a:pt x="3875" y="8822"/>
                </a:lnTo>
                <a:cubicBezTo>
                  <a:pt x="3749" y="8696"/>
                  <a:pt x="3592" y="8601"/>
                  <a:pt x="3434" y="8569"/>
                </a:cubicBezTo>
                <a:cubicBezTo>
                  <a:pt x="3686" y="8349"/>
                  <a:pt x="3781" y="8034"/>
                  <a:pt x="3781" y="7624"/>
                </a:cubicBezTo>
                <a:cubicBezTo>
                  <a:pt x="3781" y="6868"/>
                  <a:pt x="3151" y="6238"/>
                  <a:pt x="2426" y="6238"/>
                </a:cubicBezTo>
                <a:cubicBezTo>
                  <a:pt x="1670" y="6238"/>
                  <a:pt x="1040" y="6868"/>
                  <a:pt x="1040" y="7624"/>
                </a:cubicBezTo>
                <a:cubicBezTo>
                  <a:pt x="1040" y="7971"/>
                  <a:pt x="1166" y="8286"/>
                  <a:pt x="1387" y="8569"/>
                </a:cubicBezTo>
                <a:cubicBezTo>
                  <a:pt x="567" y="8979"/>
                  <a:pt x="0" y="9798"/>
                  <a:pt x="0" y="10775"/>
                </a:cubicBezTo>
                <a:lnTo>
                  <a:pt x="0" y="11499"/>
                </a:lnTo>
                <a:cubicBezTo>
                  <a:pt x="0" y="11688"/>
                  <a:pt x="158" y="11846"/>
                  <a:pt x="378" y="11846"/>
                </a:cubicBezTo>
                <a:lnTo>
                  <a:pt x="4474" y="11846"/>
                </a:lnTo>
                <a:cubicBezTo>
                  <a:pt x="4663" y="11846"/>
                  <a:pt x="4821" y="11688"/>
                  <a:pt x="4821" y="11499"/>
                </a:cubicBezTo>
                <a:lnTo>
                  <a:pt x="4821" y="10775"/>
                </a:lnTo>
                <a:cubicBezTo>
                  <a:pt x="4821" y="10239"/>
                  <a:pt x="4632" y="9704"/>
                  <a:pt x="4348" y="9326"/>
                </a:cubicBezTo>
                <a:lnTo>
                  <a:pt x="5860" y="7782"/>
                </a:lnTo>
                <a:lnTo>
                  <a:pt x="7404" y="9326"/>
                </a:lnTo>
                <a:cubicBezTo>
                  <a:pt x="7089" y="9704"/>
                  <a:pt x="6931" y="10239"/>
                  <a:pt x="6931" y="10775"/>
                </a:cubicBezTo>
                <a:lnTo>
                  <a:pt x="6931" y="11499"/>
                </a:lnTo>
                <a:cubicBezTo>
                  <a:pt x="6931" y="11688"/>
                  <a:pt x="7089" y="11846"/>
                  <a:pt x="7309" y="11846"/>
                </a:cubicBezTo>
                <a:lnTo>
                  <a:pt x="11468" y="11846"/>
                </a:lnTo>
                <a:cubicBezTo>
                  <a:pt x="11657" y="11846"/>
                  <a:pt x="11815" y="11688"/>
                  <a:pt x="11815" y="11499"/>
                </a:cubicBezTo>
                <a:lnTo>
                  <a:pt x="11815" y="10775"/>
                </a:lnTo>
                <a:cubicBezTo>
                  <a:pt x="11783" y="9830"/>
                  <a:pt x="11185" y="8979"/>
                  <a:pt x="10365" y="8569"/>
                </a:cubicBezTo>
                <a:cubicBezTo>
                  <a:pt x="10586" y="8349"/>
                  <a:pt x="10712" y="8034"/>
                  <a:pt x="10712" y="7624"/>
                </a:cubicBezTo>
                <a:cubicBezTo>
                  <a:pt x="10712" y="6868"/>
                  <a:pt x="10082" y="6238"/>
                  <a:pt x="9357" y="6238"/>
                </a:cubicBezTo>
                <a:cubicBezTo>
                  <a:pt x="8601" y="6238"/>
                  <a:pt x="7971" y="6868"/>
                  <a:pt x="7971" y="7624"/>
                </a:cubicBezTo>
                <a:cubicBezTo>
                  <a:pt x="7971" y="7971"/>
                  <a:pt x="8097" y="8286"/>
                  <a:pt x="8318" y="8569"/>
                </a:cubicBezTo>
                <a:cubicBezTo>
                  <a:pt x="8160" y="8664"/>
                  <a:pt x="8034" y="8727"/>
                  <a:pt x="7877" y="8822"/>
                </a:cubicBezTo>
                <a:lnTo>
                  <a:pt x="6207" y="7152"/>
                </a:lnTo>
                <a:lnTo>
                  <a:pt x="6207" y="5577"/>
                </a:lnTo>
                <a:lnTo>
                  <a:pt x="7940" y="5577"/>
                </a:lnTo>
                <a:cubicBezTo>
                  <a:pt x="8129" y="5577"/>
                  <a:pt x="8286" y="5419"/>
                  <a:pt x="8286" y="5230"/>
                </a:cubicBezTo>
                <a:lnTo>
                  <a:pt x="8286" y="4505"/>
                </a:lnTo>
                <a:cubicBezTo>
                  <a:pt x="8286" y="3529"/>
                  <a:pt x="7688" y="2710"/>
                  <a:pt x="6900" y="2300"/>
                </a:cubicBezTo>
                <a:cubicBezTo>
                  <a:pt x="7152" y="2080"/>
                  <a:pt x="7246" y="1764"/>
                  <a:pt x="7246" y="1355"/>
                </a:cubicBezTo>
                <a:cubicBezTo>
                  <a:pt x="7246" y="630"/>
                  <a:pt x="6616" y="0"/>
                  <a:pt x="5892" y="0"/>
                </a:cubicBezTo>
                <a:close/>
              </a:path>
            </a:pathLst>
          </a:custGeom>
          <a:solidFill>
            <a:srgbClr val="51AF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51AFDB"/>
              </a:solidFill>
            </a:endParaRPr>
          </a:p>
        </p:txBody>
      </p:sp>
      <p:grpSp>
        <p:nvGrpSpPr>
          <p:cNvPr id="228" name="Google Shape;228;p32"/>
          <p:cNvGrpSpPr/>
          <p:nvPr/>
        </p:nvGrpSpPr>
        <p:grpSpPr>
          <a:xfrm>
            <a:off x="3234031" y="3218582"/>
            <a:ext cx="356946" cy="332464"/>
            <a:chOff x="-25477800" y="2357750"/>
            <a:chExt cx="298525" cy="278050"/>
          </a:xfrm>
        </p:grpSpPr>
        <p:sp>
          <p:nvSpPr>
            <p:cNvPr id="229" name="Google Shape;229;p32"/>
            <p:cNvSpPr/>
            <p:nvPr/>
          </p:nvSpPr>
          <p:spPr>
            <a:xfrm>
              <a:off x="-25477800" y="2357750"/>
              <a:ext cx="298525" cy="278050"/>
            </a:xfrm>
            <a:custGeom>
              <a:rect b="b" l="l" r="r" t="t"/>
              <a:pathLst>
                <a:path extrusionOk="0" h="11122" w="11941">
                  <a:moveTo>
                    <a:pt x="7057" y="1229"/>
                  </a:moveTo>
                  <a:lnTo>
                    <a:pt x="7971" y="2143"/>
                  </a:lnTo>
                  <a:lnTo>
                    <a:pt x="7057" y="2143"/>
                  </a:lnTo>
                  <a:lnTo>
                    <a:pt x="7057" y="1229"/>
                  </a:lnTo>
                  <a:close/>
                  <a:moveTo>
                    <a:pt x="6333" y="756"/>
                  </a:moveTo>
                  <a:lnTo>
                    <a:pt x="6333" y="2489"/>
                  </a:lnTo>
                  <a:cubicBezTo>
                    <a:pt x="6333" y="2678"/>
                    <a:pt x="6490" y="2836"/>
                    <a:pt x="6679" y="2836"/>
                  </a:cubicBezTo>
                  <a:lnTo>
                    <a:pt x="8412" y="2836"/>
                  </a:lnTo>
                  <a:lnTo>
                    <a:pt x="8412" y="4946"/>
                  </a:lnTo>
                  <a:lnTo>
                    <a:pt x="7593" y="4946"/>
                  </a:lnTo>
                  <a:lnTo>
                    <a:pt x="7215" y="4096"/>
                  </a:lnTo>
                  <a:cubicBezTo>
                    <a:pt x="7026" y="3749"/>
                    <a:pt x="6648" y="3529"/>
                    <a:pt x="6270" y="3529"/>
                  </a:cubicBezTo>
                  <a:lnTo>
                    <a:pt x="3245" y="3529"/>
                  </a:lnTo>
                  <a:cubicBezTo>
                    <a:pt x="3119" y="3529"/>
                    <a:pt x="2993" y="3560"/>
                    <a:pt x="2867" y="3592"/>
                  </a:cubicBezTo>
                  <a:lnTo>
                    <a:pt x="2867" y="756"/>
                  </a:lnTo>
                  <a:close/>
                  <a:moveTo>
                    <a:pt x="10901" y="6994"/>
                  </a:moveTo>
                  <a:cubicBezTo>
                    <a:pt x="11027" y="6994"/>
                    <a:pt x="11090" y="7026"/>
                    <a:pt x="11184" y="7089"/>
                  </a:cubicBezTo>
                  <a:cubicBezTo>
                    <a:pt x="11247" y="7183"/>
                    <a:pt x="11247" y="7246"/>
                    <a:pt x="11247" y="7372"/>
                  </a:cubicBezTo>
                  <a:lnTo>
                    <a:pt x="10995" y="9105"/>
                  </a:lnTo>
                  <a:lnTo>
                    <a:pt x="10428" y="6994"/>
                  </a:lnTo>
                  <a:close/>
                  <a:moveTo>
                    <a:pt x="6270" y="4190"/>
                  </a:moveTo>
                  <a:cubicBezTo>
                    <a:pt x="6364" y="4190"/>
                    <a:pt x="6490" y="4253"/>
                    <a:pt x="6585" y="4379"/>
                  </a:cubicBezTo>
                  <a:lnTo>
                    <a:pt x="7089" y="5356"/>
                  </a:lnTo>
                  <a:cubicBezTo>
                    <a:pt x="7120" y="5482"/>
                    <a:pt x="7278" y="5577"/>
                    <a:pt x="7404" y="5577"/>
                  </a:cubicBezTo>
                  <a:lnTo>
                    <a:pt x="9105" y="5577"/>
                  </a:lnTo>
                  <a:cubicBezTo>
                    <a:pt x="9262" y="5577"/>
                    <a:pt x="9420" y="5671"/>
                    <a:pt x="9452" y="5829"/>
                  </a:cubicBezTo>
                  <a:lnTo>
                    <a:pt x="10586" y="10397"/>
                  </a:lnTo>
                  <a:lnTo>
                    <a:pt x="2205" y="10397"/>
                  </a:lnTo>
                  <a:lnTo>
                    <a:pt x="2205" y="10460"/>
                  </a:lnTo>
                  <a:cubicBezTo>
                    <a:pt x="2048" y="10460"/>
                    <a:pt x="1890" y="10334"/>
                    <a:pt x="1859" y="10176"/>
                  </a:cubicBezTo>
                  <a:lnTo>
                    <a:pt x="788" y="5986"/>
                  </a:lnTo>
                  <a:cubicBezTo>
                    <a:pt x="756" y="5892"/>
                    <a:pt x="788" y="5797"/>
                    <a:pt x="851" y="5734"/>
                  </a:cubicBezTo>
                  <a:cubicBezTo>
                    <a:pt x="945" y="5640"/>
                    <a:pt x="1008" y="5608"/>
                    <a:pt x="1134" y="5608"/>
                  </a:cubicBezTo>
                  <a:lnTo>
                    <a:pt x="2520" y="5608"/>
                  </a:lnTo>
                  <a:cubicBezTo>
                    <a:pt x="2709" y="5608"/>
                    <a:pt x="2867" y="5451"/>
                    <a:pt x="2867" y="5262"/>
                  </a:cubicBezTo>
                  <a:lnTo>
                    <a:pt x="2867" y="4537"/>
                  </a:lnTo>
                  <a:cubicBezTo>
                    <a:pt x="2867" y="4348"/>
                    <a:pt x="3025" y="4190"/>
                    <a:pt x="3214" y="4190"/>
                  </a:cubicBezTo>
                  <a:close/>
                  <a:moveTo>
                    <a:pt x="2489" y="0"/>
                  </a:moveTo>
                  <a:cubicBezTo>
                    <a:pt x="2268" y="0"/>
                    <a:pt x="2111" y="158"/>
                    <a:pt x="2111" y="378"/>
                  </a:cubicBezTo>
                  <a:lnTo>
                    <a:pt x="2111" y="4537"/>
                  </a:lnTo>
                  <a:lnTo>
                    <a:pt x="2111" y="4883"/>
                  </a:lnTo>
                  <a:lnTo>
                    <a:pt x="1103" y="4883"/>
                  </a:lnTo>
                  <a:cubicBezTo>
                    <a:pt x="788" y="4883"/>
                    <a:pt x="473" y="5041"/>
                    <a:pt x="284" y="5293"/>
                  </a:cubicBezTo>
                  <a:cubicBezTo>
                    <a:pt x="63" y="5514"/>
                    <a:pt x="0" y="5829"/>
                    <a:pt x="63" y="6144"/>
                  </a:cubicBezTo>
                  <a:lnTo>
                    <a:pt x="1134" y="10334"/>
                  </a:lnTo>
                  <a:cubicBezTo>
                    <a:pt x="1260" y="10806"/>
                    <a:pt x="1701" y="11121"/>
                    <a:pt x="2174" y="11121"/>
                  </a:cubicBezTo>
                  <a:lnTo>
                    <a:pt x="10995" y="11121"/>
                  </a:lnTo>
                  <a:cubicBezTo>
                    <a:pt x="11153" y="11121"/>
                    <a:pt x="11310" y="10995"/>
                    <a:pt x="11342" y="10838"/>
                  </a:cubicBezTo>
                  <a:lnTo>
                    <a:pt x="11877" y="7467"/>
                  </a:lnTo>
                  <a:cubicBezTo>
                    <a:pt x="11940" y="7152"/>
                    <a:pt x="11846" y="6868"/>
                    <a:pt x="11657" y="6616"/>
                  </a:cubicBezTo>
                  <a:cubicBezTo>
                    <a:pt x="11499" y="6427"/>
                    <a:pt x="11216" y="6301"/>
                    <a:pt x="10901" y="6301"/>
                  </a:cubicBezTo>
                  <a:lnTo>
                    <a:pt x="10239" y="6301"/>
                  </a:lnTo>
                  <a:lnTo>
                    <a:pt x="10082" y="5734"/>
                  </a:lnTo>
                  <a:cubicBezTo>
                    <a:pt x="9956" y="5262"/>
                    <a:pt x="9578" y="4946"/>
                    <a:pt x="9105" y="4883"/>
                  </a:cubicBezTo>
                  <a:lnTo>
                    <a:pt x="9105" y="2458"/>
                  </a:lnTo>
                  <a:cubicBezTo>
                    <a:pt x="9105" y="2363"/>
                    <a:pt x="9042" y="2269"/>
                    <a:pt x="8979" y="2206"/>
                  </a:cubicBezTo>
                  <a:lnTo>
                    <a:pt x="6900" y="126"/>
                  </a:lnTo>
                  <a:cubicBezTo>
                    <a:pt x="6805" y="63"/>
                    <a:pt x="6742" y="0"/>
                    <a:pt x="6648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0" name="Google Shape;230;p32"/>
            <p:cNvSpPr/>
            <p:nvPr/>
          </p:nvSpPr>
          <p:spPr>
            <a:xfrm>
              <a:off x="-25388025" y="2514850"/>
              <a:ext cx="104000" cy="88650"/>
            </a:xfrm>
            <a:custGeom>
              <a:rect b="b" l="l" r="r" t="t"/>
              <a:pathLst>
                <a:path extrusionOk="0" h="3546" w="4160">
                  <a:moveTo>
                    <a:pt x="1752" y="1"/>
                  </a:moveTo>
                  <a:cubicBezTo>
                    <a:pt x="1716" y="1"/>
                    <a:pt x="1678" y="6"/>
                    <a:pt x="1639" y="17"/>
                  </a:cubicBezTo>
                  <a:cubicBezTo>
                    <a:pt x="1450" y="80"/>
                    <a:pt x="1324" y="269"/>
                    <a:pt x="1418" y="458"/>
                  </a:cubicBezTo>
                  <a:lnTo>
                    <a:pt x="1639" y="1403"/>
                  </a:lnTo>
                  <a:lnTo>
                    <a:pt x="347" y="1403"/>
                  </a:lnTo>
                  <a:cubicBezTo>
                    <a:pt x="158" y="1403"/>
                    <a:pt x="1" y="1561"/>
                    <a:pt x="1" y="1750"/>
                  </a:cubicBezTo>
                  <a:cubicBezTo>
                    <a:pt x="1" y="1970"/>
                    <a:pt x="158" y="2128"/>
                    <a:pt x="347" y="2128"/>
                  </a:cubicBezTo>
                  <a:lnTo>
                    <a:pt x="1796" y="2128"/>
                  </a:lnTo>
                  <a:lnTo>
                    <a:pt x="2080" y="3262"/>
                  </a:lnTo>
                  <a:cubicBezTo>
                    <a:pt x="2111" y="3420"/>
                    <a:pt x="2269" y="3546"/>
                    <a:pt x="2426" y="3546"/>
                  </a:cubicBezTo>
                  <a:lnTo>
                    <a:pt x="2521" y="3546"/>
                  </a:lnTo>
                  <a:cubicBezTo>
                    <a:pt x="2710" y="3483"/>
                    <a:pt x="2836" y="3294"/>
                    <a:pt x="2742" y="3105"/>
                  </a:cubicBezTo>
                  <a:lnTo>
                    <a:pt x="2521" y="2159"/>
                  </a:lnTo>
                  <a:lnTo>
                    <a:pt x="3813" y="2159"/>
                  </a:lnTo>
                  <a:cubicBezTo>
                    <a:pt x="4002" y="2159"/>
                    <a:pt x="4159" y="2002"/>
                    <a:pt x="4159" y="1813"/>
                  </a:cubicBezTo>
                  <a:cubicBezTo>
                    <a:pt x="4159" y="1561"/>
                    <a:pt x="4002" y="1403"/>
                    <a:pt x="3813" y="1403"/>
                  </a:cubicBezTo>
                  <a:lnTo>
                    <a:pt x="2363" y="1403"/>
                  </a:lnTo>
                  <a:lnTo>
                    <a:pt x="2080" y="269"/>
                  </a:lnTo>
                  <a:cubicBezTo>
                    <a:pt x="2054" y="114"/>
                    <a:pt x="1921" y="1"/>
                    <a:pt x="1752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</p:grpSp>
      <p:grpSp>
        <p:nvGrpSpPr>
          <p:cNvPr id="231" name="Google Shape;231;p32"/>
          <p:cNvGrpSpPr/>
          <p:nvPr/>
        </p:nvGrpSpPr>
        <p:grpSpPr>
          <a:xfrm>
            <a:off x="5163744" y="3269428"/>
            <a:ext cx="356020" cy="230770"/>
            <a:chOff x="-27728850" y="2382950"/>
            <a:chExt cx="297750" cy="193000"/>
          </a:xfrm>
        </p:grpSpPr>
        <p:sp>
          <p:nvSpPr>
            <p:cNvPr id="232" name="Google Shape;232;p32"/>
            <p:cNvSpPr/>
            <p:nvPr/>
          </p:nvSpPr>
          <p:spPr>
            <a:xfrm>
              <a:off x="-27606750" y="2453825"/>
              <a:ext cx="35450" cy="35475"/>
            </a:xfrm>
            <a:custGeom>
              <a:rect b="b" l="l" r="r" t="t"/>
              <a:pathLst>
                <a:path extrusionOk="0" h="1419" w="1418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103"/>
                    <a:pt x="315" y="1419"/>
                    <a:pt x="725" y="1419"/>
                  </a:cubicBezTo>
                  <a:cubicBezTo>
                    <a:pt x="1103" y="1419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3" name="Google Shape;233;p32"/>
            <p:cNvSpPr/>
            <p:nvPr/>
          </p:nvSpPr>
          <p:spPr>
            <a:xfrm>
              <a:off x="-27728850" y="2382950"/>
              <a:ext cx="297750" cy="193000"/>
            </a:xfrm>
            <a:custGeom>
              <a:rect b="b" l="l" r="r" t="t"/>
              <a:pathLst>
                <a:path extrusionOk="0" h="7720" w="11910">
                  <a:moveTo>
                    <a:pt x="5955" y="756"/>
                  </a:moveTo>
                  <a:cubicBezTo>
                    <a:pt x="7405" y="756"/>
                    <a:pt x="8791" y="1670"/>
                    <a:pt x="9673" y="2426"/>
                  </a:cubicBezTo>
                  <a:cubicBezTo>
                    <a:pt x="10335" y="3025"/>
                    <a:pt x="10839" y="3592"/>
                    <a:pt x="11091" y="3938"/>
                  </a:cubicBezTo>
                  <a:cubicBezTo>
                    <a:pt x="10524" y="4632"/>
                    <a:pt x="8413" y="7026"/>
                    <a:pt x="5955" y="7026"/>
                  </a:cubicBezTo>
                  <a:cubicBezTo>
                    <a:pt x="4506" y="7026"/>
                    <a:pt x="3120" y="6144"/>
                    <a:pt x="2269" y="5388"/>
                  </a:cubicBezTo>
                  <a:cubicBezTo>
                    <a:pt x="1576" y="4789"/>
                    <a:pt x="1072" y="4190"/>
                    <a:pt x="852" y="3875"/>
                  </a:cubicBezTo>
                  <a:cubicBezTo>
                    <a:pt x="1419" y="3182"/>
                    <a:pt x="3529" y="788"/>
                    <a:pt x="5955" y="756"/>
                  </a:cubicBezTo>
                  <a:close/>
                  <a:moveTo>
                    <a:pt x="5955" y="0"/>
                  </a:moveTo>
                  <a:cubicBezTo>
                    <a:pt x="5199" y="0"/>
                    <a:pt x="4412" y="189"/>
                    <a:pt x="3624" y="567"/>
                  </a:cubicBezTo>
                  <a:cubicBezTo>
                    <a:pt x="2994" y="882"/>
                    <a:pt x="2364" y="1324"/>
                    <a:pt x="1797" y="1828"/>
                  </a:cubicBezTo>
                  <a:cubicBezTo>
                    <a:pt x="757" y="2741"/>
                    <a:pt x="127" y="3623"/>
                    <a:pt x="95" y="3655"/>
                  </a:cubicBezTo>
                  <a:cubicBezTo>
                    <a:pt x="1" y="3781"/>
                    <a:pt x="1" y="3938"/>
                    <a:pt x="95" y="4033"/>
                  </a:cubicBezTo>
                  <a:cubicBezTo>
                    <a:pt x="127" y="4096"/>
                    <a:pt x="757" y="4978"/>
                    <a:pt x="1797" y="5860"/>
                  </a:cubicBezTo>
                  <a:cubicBezTo>
                    <a:pt x="2427" y="6396"/>
                    <a:pt x="2994" y="6805"/>
                    <a:pt x="3624" y="7120"/>
                  </a:cubicBezTo>
                  <a:cubicBezTo>
                    <a:pt x="4412" y="7499"/>
                    <a:pt x="5199" y="7719"/>
                    <a:pt x="5955" y="7719"/>
                  </a:cubicBezTo>
                  <a:cubicBezTo>
                    <a:pt x="6711" y="7719"/>
                    <a:pt x="7499" y="7499"/>
                    <a:pt x="8287" y="7120"/>
                  </a:cubicBezTo>
                  <a:cubicBezTo>
                    <a:pt x="8917" y="6805"/>
                    <a:pt x="9547" y="6364"/>
                    <a:pt x="10145" y="5860"/>
                  </a:cubicBezTo>
                  <a:cubicBezTo>
                    <a:pt x="11154" y="4947"/>
                    <a:pt x="11784" y="4096"/>
                    <a:pt x="11815" y="4033"/>
                  </a:cubicBezTo>
                  <a:cubicBezTo>
                    <a:pt x="11910" y="3938"/>
                    <a:pt x="11910" y="3781"/>
                    <a:pt x="11815" y="3655"/>
                  </a:cubicBezTo>
                  <a:cubicBezTo>
                    <a:pt x="11784" y="3623"/>
                    <a:pt x="11154" y="2710"/>
                    <a:pt x="10145" y="1828"/>
                  </a:cubicBezTo>
                  <a:cubicBezTo>
                    <a:pt x="9515" y="1292"/>
                    <a:pt x="8917" y="882"/>
                    <a:pt x="8287" y="567"/>
                  </a:cubicBezTo>
                  <a:cubicBezTo>
                    <a:pt x="7499" y="189"/>
                    <a:pt x="6711" y="0"/>
                    <a:pt x="595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4" name="Google Shape;234;p32"/>
            <p:cNvSpPr/>
            <p:nvPr/>
          </p:nvSpPr>
          <p:spPr>
            <a:xfrm>
              <a:off x="-27640625" y="2419175"/>
              <a:ext cx="122100" cy="122100"/>
            </a:xfrm>
            <a:custGeom>
              <a:rect b="b" l="l" r="r" t="t"/>
              <a:pathLst>
                <a:path extrusionOk="0" h="4884" w="4884">
                  <a:moveTo>
                    <a:pt x="2426" y="694"/>
                  </a:moveTo>
                  <a:cubicBezTo>
                    <a:pt x="3403" y="694"/>
                    <a:pt x="4159" y="1481"/>
                    <a:pt x="4159" y="2426"/>
                  </a:cubicBezTo>
                  <a:cubicBezTo>
                    <a:pt x="4159" y="3372"/>
                    <a:pt x="3371" y="4159"/>
                    <a:pt x="2426" y="4159"/>
                  </a:cubicBezTo>
                  <a:cubicBezTo>
                    <a:pt x="1481" y="4159"/>
                    <a:pt x="694" y="3372"/>
                    <a:pt x="694" y="2426"/>
                  </a:cubicBezTo>
                  <a:cubicBezTo>
                    <a:pt x="694" y="1481"/>
                    <a:pt x="1481" y="694"/>
                    <a:pt x="2426" y="694"/>
                  </a:cubicBezTo>
                  <a:close/>
                  <a:moveTo>
                    <a:pt x="2426" y="1"/>
                  </a:moveTo>
                  <a:cubicBezTo>
                    <a:pt x="1103" y="1"/>
                    <a:pt x="0" y="1103"/>
                    <a:pt x="0" y="2426"/>
                  </a:cubicBezTo>
                  <a:cubicBezTo>
                    <a:pt x="0" y="3781"/>
                    <a:pt x="1103" y="4884"/>
                    <a:pt x="2426" y="4884"/>
                  </a:cubicBezTo>
                  <a:cubicBezTo>
                    <a:pt x="3781" y="4884"/>
                    <a:pt x="4884" y="3781"/>
                    <a:pt x="4884" y="2426"/>
                  </a:cubicBezTo>
                  <a:cubicBezTo>
                    <a:pt x="4884" y="1103"/>
                    <a:pt x="3781" y="1"/>
                    <a:pt x="2426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</p:grpSp>
      <p:sp>
        <p:nvSpPr>
          <p:cNvPr id="235" name="Google Shape;235;p32"/>
          <p:cNvSpPr txBox="1"/>
          <p:nvPr/>
        </p:nvSpPr>
        <p:spPr>
          <a:xfrm>
            <a:off x="5729125" y="2219250"/>
            <a:ext cx="11415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Conexión básica a Internet</a:t>
            </a:r>
            <a:endParaRPr sz="1200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236" name="Google Shape;236;p32"/>
          <p:cNvGrpSpPr/>
          <p:nvPr/>
        </p:nvGrpSpPr>
        <p:grpSpPr>
          <a:xfrm>
            <a:off x="6124530" y="3241648"/>
            <a:ext cx="350707" cy="286336"/>
            <a:chOff x="2144809" y="2741072"/>
            <a:chExt cx="330950" cy="270205"/>
          </a:xfrm>
        </p:grpSpPr>
        <p:sp>
          <p:nvSpPr>
            <p:cNvPr id="237" name="Google Shape;237;p32"/>
            <p:cNvSpPr/>
            <p:nvPr/>
          </p:nvSpPr>
          <p:spPr>
            <a:xfrm>
              <a:off x="2144809" y="2759187"/>
              <a:ext cx="330950" cy="252090"/>
            </a:xfrm>
            <a:custGeom>
              <a:rect b="b" l="l" r="r" t="t"/>
              <a:pathLst>
                <a:path extrusionOk="0" h="6972" w="9153">
                  <a:moveTo>
                    <a:pt x="4846" y="3218"/>
                  </a:moveTo>
                  <a:lnTo>
                    <a:pt x="4846" y="4290"/>
                  </a:lnTo>
                  <a:lnTo>
                    <a:pt x="4309" y="4290"/>
                  </a:lnTo>
                  <a:lnTo>
                    <a:pt x="4309" y="3218"/>
                  </a:lnTo>
                  <a:close/>
                  <a:moveTo>
                    <a:pt x="7812" y="4826"/>
                  </a:moveTo>
                  <a:cubicBezTo>
                    <a:pt x="8256" y="4826"/>
                    <a:pt x="8617" y="5188"/>
                    <a:pt x="8617" y="5631"/>
                  </a:cubicBezTo>
                  <a:cubicBezTo>
                    <a:pt x="8617" y="6075"/>
                    <a:pt x="8256" y="6436"/>
                    <a:pt x="7812" y="6436"/>
                  </a:cubicBezTo>
                  <a:lnTo>
                    <a:pt x="1342" y="6436"/>
                  </a:lnTo>
                  <a:cubicBezTo>
                    <a:pt x="898" y="6436"/>
                    <a:pt x="537" y="6075"/>
                    <a:pt x="537" y="5631"/>
                  </a:cubicBezTo>
                  <a:cubicBezTo>
                    <a:pt x="537" y="5188"/>
                    <a:pt x="898" y="4826"/>
                    <a:pt x="1342" y="4826"/>
                  </a:cubicBezTo>
                  <a:close/>
                  <a:moveTo>
                    <a:pt x="4309" y="1"/>
                  </a:moveTo>
                  <a:lnTo>
                    <a:pt x="4309" y="2682"/>
                  </a:lnTo>
                  <a:lnTo>
                    <a:pt x="3772" y="2682"/>
                  </a:lnTo>
                  <a:lnTo>
                    <a:pt x="3772" y="4290"/>
                  </a:lnTo>
                  <a:lnTo>
                    <a:pt x="1342" y="4290"/>
                  </a:lnTo>
                  <a:cubicBezTo>
                    <a:pt x="602" y="4290"/>
                    <a:pt x="0" y="4892"/>
                    <a:pt x="0" y="5631"/>
                  </a:cubicBezTo>
                  <a:cubicBezTo>
                    <a:pt x="0" y="6370"/>
                    <a:pt x="602" y="6972"/>
                    <a:pt x="1342" y="6972"/>
                  </a:cubicBezTo>
                  <a:lnTo>
                    <a:pt x="7812" y="6972"/>
                  </a:lnTo>
                  <a:cubicBezTo>
                    <a:pt x="8552" y="6972"/>
                    <a:pt x="9153" y="6370"/>
                    <a:pt x="9153" y="5631"/>
                  </a:cubicBezTo>
                  <a:cubicBezTo>
                    <a:pt x="9153" y="4892"/>
                    <a:pt x="8552" y="4290"/>
                    <a:pt x="7812" y="4290"/>
                  </a:cubicBezTo>
                  <a:lnTo>
                    <a:pt x="5382" y="4290"/>
                  </a:lnTo>
                  <a:lnTo>
                    <a:pt x="5382" y="2682"/>
                  </a:lnTo>
                  <a:lnTo>
                    <a:pt x="4846" y="2682"/>
                  </a:lnTo>
                  <a:lnTo>
                    <a:pt x="484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8" name="Google Shape;238;p32"/>
            <p:cNvSpPr/>
            <p:nvPr/>
          </p:nvSpPr>
          <p:spPr>
            <a:xfrm>
              <a:off x="2397767" y="2741072"/>
              <a:ext cx="38580" cy="133240"/>
            </a:xfrm>
            <a:custGeom>
              <a:rect b="b" l="l" r="r" t="t"/>
              <a:pathLst>
                <a:path extrusionOk="0" h="3685" w="1067">
                  <a:moveTo>
                    <a:pt x="419" y="0"/>
                  </a:moveTo>
                  <a:lnTo>
                    <a:pt x="1" y="336"/>
                  </a:lnTo>
                  <a:cubicBezTo>
                    <a:pt x="348" y="768"/>
                    <a:pt x="530" y="1288"/>
                    <a:pt x="530" y="1842"/>
                  </a:cubicBezTo>
                  <a:cubicBezTo>
                    <a:pt x="530" y="2395"/>
                    <a:pt x="348" y="2917"/>
                    <a:pt x="1" y="3349"/>
                  </a:cubicBezTo>
                  <a:lnTo>
                    <a:pt x="419" y="3684"/>
                  </a:lnTo>
                  <a:cubicBezTo>
                    <a:pt x="836" y="3163"/>
                    <a:pt x="1067" y="2509"/>
                    <a:pt x="1067" y="1842"/>
                  </a:cubicBezTo>
                  <a:cubicBezTo>
                    <a:pt x="1067" y="1175"/>
                    <a:pt x="836" y="521"/>
                    <a:pt x="41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9" name="Google Shape;239;p32"/>
            <p:cNvSpPr/>
            <p:nvPr/>
          </p:nvSpPr>
          <p:spPr>
            <a:xfrm>
              <a:off x="2367503" y="2765298"/>
              <a:ext cx="30047" cy="84789"/>
            </a:xfrm>
            <a:custGeom>
              <a:rect b="b" l="l" r="r" t="t"/>
              <a:pathLst>
                <a:path extrusionOk="0" h="2345" w="831">
                  <a:moveTo>
                    <a:pt x="419" y="0"/>
                  </a:moveTo>
                  <a:lnTo>
                    <a:pt x="1" y="335"/>
                  </a:lnTo>
                  <a:cubicBezTo>
                    <a:pt x="194" y="576"/>
                    <a:pt x="295" y="865"/>
                    <a:pt x="295" y="1172"/>
                  </a:cubicBezTo>
                  <a:cubicBezTo>
                    <a:pt x="295" y="1479"/>
                    <a:pt x="194" y="1769"/>
                    <a:pt x="1" y="2009"/>
                  </a:cubicBezTo>
                  <a:lnTo>
                    <a:pt x="419" y="2345"/>
                  </a:lnTo>
                  <a:cubicBezTo>
                    <a:pt x="685" y="2013"/>
                    <a:pt x="831" y="1596"/>
                    <a:pt x="831" y="1172"/>
                  </a:cubicBezTo>
                  <a:cubicBezTo>
                    <a:pt x="831" y="748"/>
                    <a:pt x="685" y="331"/>
                    <a:pt x="41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0" name="Google Shape;240;p32"/>
            <p:cNvSpPr/>
            <p:nvPr/>
          </p:nvSpPr>
          <p:spPr>
            <a:xfrm>
              <a:off x="2337275" y="2789487"/>
              <a:ext cx="21514" cy="36374"/>
            </a:xfrm>
            <a:custGeom>
              <a:rect b="b" l="l" r="r" t="t"/>
              <a:pathLst>
                <a:path extrusionOk="0" h="1006" w="595">
                  <a:moveTo>
                    <a:pt x="418" y="1"/>
                  </a:moveTo>
                  <a:lnTo>
                    <a:pt x="0" y="335"/>
                  </a:lnTo>
                  <a:cubicBezTo>
                    <a:pt x="26" y="369"/>
                    <a:pt x="59" y="425"/>
                    <a:pt x="59" y="503"/>
                  </a:cubicBezTo>
                  <a:cubicBezTo>
                    <a:pt x="59" y="581"/>
                    <a:pt x="26" y="637"/>
                    <a:pt x="0" y="671"/>
                  </a:cubicBezTo>
                  <a:lnTo>
                    <a:pt x="418" y="1006"/>
                  </a:lnTo>
                  <a:cubicBezTo>
                    <a:pt x="532" y="863"/>
                    <a:pt x="595" y="685"/>
                    <a:pt x="595" y="503"/>
                  </a:cubicBezTo>
                  <a:cubicBezTo>
                    <a:pt x="595" y="321"/>
                    <a:pt x="532" y="142"/>
                    <a:pt x="418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1" name="Google Shape;241;p32"/>
            <p:cNvSpPr/>
            <p:nvPr/>
          </p:nvSpPr>
          <p:spPr>
            <a:xfrm>
              <a:off x="2184257" y="2741072"/>
              <a:ext cx="38580" cy="133240"/>
            </a:xfrm>
            <a:custGeom>
              <a:rect b="b" l="l" r="r" t="t"/>
              <a:pathLst>
                <a:path extrusionOk="0" h="3685" w="1067">
                  <a:moveTo>
                    <a:pt x="648" y="0"/>
                  </a:moveTo>
                  <a:cubicBezTo>
                    <a:pt x="231" y="521"/>
                    <a:pt x="0" y="1175"/>
                    <a:pt x="0" y="1842"/>
                  </a:cubicBezTo>
                  <a:cubicBezTo>
                    <a:pt x="0" y="2509"/>
                    <a:pt x="231" y="3163"/>
                    <a:pt x="648" y="3684"/>
                  </a:cubicBezTo>
                  <a:lnTo>
                    <a:pt x="1066" y="3349"/>
                  </a:lnTo>
                  <a:cubicBezTo>
                    <a:pt x="720" y="2917"/>
                    <a:pt x="536" y="2395"/>
                    <a:pt x="536" y="1842"/>
                  </a:cubicBezTo>
                  <a:cubicBezTo>
                    <a:pt x="536" y="1288"/>
                    <a:pt x="720" y="768"/>
                    <a:pt x="1066" y="336"/>
                  </a:cubicBezTo>
                  <a:lnTo>
                    <a:pt x="648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2" name="Google Shape;242;p32"/>
            <p:cNvSpPr/>
            <p:nvPr/>
          </p:nvSpPr>
          <p:spPr>
            <a:xfrm>
              <a:off x="2223054" y="2765298"/>
              <a:ext cx="30047" cy="84789"/>
            </a:xfrm>
            <a:custGeom>
              <a:rect b="b" l="l" r="r" t="t"/>
              <a:pathLst>
                <a:path extrusionOk="0" h="2345" w="831">
                  <a:moveTo>
                    <a:pt x="411" y="0"/>
                  </a:moveTo>
                  <a:cubicBezTo>
                    <a:pt x="146" y="331"/>
                    <a:pt x="0" y="748"/>
                    <a:pt x="0" y="1172"/>
                  </a:cubicBezTo>
                  <a:cubicBezTo>
                    <a:pt x="0" y="1596"/>
                    <a:pt x="146" y="2013"/>
                    <a:pt x="411" y="2345"/>
                  </a:cubicBezTo>
                  <a:lnTo>
                    <a:pt x="830" y="2009"/>
                  </a:lnTo>
                  <a:cubicBezTo>
                    <a:pt x="638" y="1769"/>
                    <a:pt x="536" y="1479"/>
                    <a:pt x="536" y="1172"/>
                  </a:cubicBezTo>
                  <a:cubicBezTo>
                    <a:pt x="536" y="865"/>
                    <a:pt x="638" y="576"/>
                    <a:pt x="830" y="335"/>
                  </a:cubicBezTo>
                  <a:lnTo>
                    <a:pt x="411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3" name="Google Shape;243;p32"/>
            <p:cNvSpPr/>
            <p:nvPr/>
          </p:nvSpPr>
          <p:spPr>
            <a:xfrm>
              <a:off x="2261815" y="2789451"/>
              <a:ext cx="21514" cy="36411"/>
            </a:xfrm>
            <a:custGeom>
              <a:rect b="b" l="l" r="r" t="t"/>
              <a:pathLst>
                <a:path extrusionOk="0" h="1007" w="595">
                  <a:moveTo>
                    <a:pt x="177" y="1"/>
                  </a:moveTo>
                  <a:cubicBezTo>
                    <a:pt x="63" y="143"/>
                    <a:pt x="0" y="322"/>
                    <a:pt x="0" y="504"/>
                  </a:cubicBezTo>
                  <a:cubicBezTo>
                    <a:pt x="0" y="686"/>
                    <a:pt x="63" y="864"/>
                    <a:pt x="177" y="1007"/>
                  </a:cubicBezTo>
                  <a:lnTo>
                    <a:pt x="595" y="672"/>
                  </a:lnTo>
                  <a:cubicBezTo>
                    <a:pt x="569" y="638"/>
                    <a:pt x="536" y="582"/>
                    <a:pt x="536" y="504"/>
                  </a:cubicBezTo>
                  <a:cubicBezTo>
                    <a:pt x="536" y="426"/>
                    <a:pt x="569" y="370"/>
                    <a:pt x="595" y="336"/>
                  </a:cubicBezTo>
                  <a:lnTo>
                    <a:pt x="177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4" name="Google Shape;244;p32"/>
            <p:cNvSpPr/>
            <p:nvPr/>
          </p:nvSpPr>
          <p:spPr>
            <a:xfrm>
              <a:off x="2319992" y="2953100"/>
              <a:ext cx="19417" cy="19417"/>
            </a:xfrm>
            <a:custGeom>
              <a:rect b="b" l="l" r="r" t="t"/>
              <a:pathLst>
                <a:path extrusionOk="0" h="537" w="537">
                  <a:moveTo>
                    <a:pt x="1" y="0"/>
                  </a:moveTo>
                  <a:lnTo>
                    <a:pt x="1" y="537"/>
                  </a:lnTo>
                  <a:lnTo>
                    <a:pt x="537" y="537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5" name="Google Shape;245;p32"/>
            <p:cNvSpPr/>
            <p:nvPr/>
          </p:nvSpPr>
          <p:spPr>
            <a:xfrm>
              <a:off x="2358753" y="2953100"/>
              <a:ext cx="19417" cy="19417"/>
            </a:xfrm>
            <a:custGeom>
              <a:rect b="b" l="l" r="r" t="t"/>
              <a:pathLst>
                <a:path extrusionOk="0" h="537" w="537">
                  <a:moveTo>
                    <a:pt x="1" y="0"/>
                  </a:moveTo>
                  <a:lnTo>
                    <a:pt x="1" y="537"/>
                  </a:lnTo>
                  <a:lnTo>
                    <a:pt x="537" y="537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6" name="Google Shape;246;p32"/>
            <p:cNvSpPr/>
            <p:nvPr/>
          </p:nvSpPr>
          <p:spPr>
            <a:xfrm>
              <a:off x="2397514" y="2953100"/>
              <a:ext cx="19453" cy="19417"/>
            </a:xfrm>
            <a:custGeom>
              <a:rect b="b" l="l" r="r" t="t"/>
              <a:pathLst>
                <a:path extrusionOk="0" h="537" w="538">
                  <a:moveTo>
                    <a:pt x="1" y="0"/>
                  </a:moveTo>
                  <a:lnTo>
                    <a:pt x="1" y="537"/>
                  </a:lnTo>
                  <a:lnTo>
                    <a:pt x="537" y="537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7" name="Google Shape;247;p32"/>
            <p:cNvSpPr/>
            <p:nvPr/>
          </p:nvSpPr>
          <p:spPr>
            <a:xfrm>
              <a:off x="2202986" y="2953100"/>
              <a:ext cx="78245" cy="19417"/>
            </a:xfrm>
            <a:custGeom>
              <a:rect b="b" l="l" r="r" t="t"/>
              <a:pathLst>
                <a:path extrusionOk="0" h="537" w="2164">
                  <a:moveTo>
                    <a:pt x="1" y="0"/>
                  </a:moveTo>
                  <a:lnTo>
                    <a:pt x="1" y="537"/>
                  </a:lnTo>
                  <a:lnTo>
                    <a:pt x="2163" y="537"/>
                  </a:lnTo>
                  <a:lnTo>
                    <a:pt x="2163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</p:grpSp>
      <p:sp>
        <p:nvSpPr>
          <p:cNvPr id="248" name="Google Shape;248;p32"/>
          <p:cNvSpPr txBox="1"/>
          <p:nvPr/>
        </p:nvSpPr>
        <p:spPr>
          <a:xfrm>
            <a:off x="4839200" y="4024750"/>
            <a:ext cx="11415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Cámaras IP de seguridad</a:t>
            </a:r>
            <a:endParaRPr sz="1200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249" name="Google Shape;249;p32"/>
          <p:cNvGrpSpPr/>
          <p:nvPr/>
        </p:nvGrpSpPr>
        <p:grpSpPr>
          <a:xfrm>
            <a:off x="943688" y="528923"/>
            <a:ext cx="351880" cy="352803"/>
            <a:chOff x="-23615075" y="3148525"/>
            <a:chExt cx="295375" cy="296150"/>
          </a:xfrm>
        </p:grpSpPr>
        <p:sp>
          <p:nvSpPr>
            <p:cNvPr id="250" name="Google Shape;250;p32"/>
            <p:cNvSpPr/>
            <p:nvPr/>
          </p:nvSpPr>
          <p:spPr>
            <a:xfrm>
              <a:off x="-23493775" y="3183950"/>
              <a:ext cx="52775" cy="53600"/>
            </a:xfrm>
            <a:custGeom>
              <a:rect b="b" l="l" r="r" t="t"/>
              <a:pathLst>
                <a:path extrusionOk="0" h="2144" w="2111">
                  <a:moveTo>
                    <a:pt x="1040" y="1"/>
                  </a:moveTo>
                  <a:cubicBezTo>
                    <a:pt x="851" y="1"/>
                    <a:pt x="693" y="158"/>
                    <a:pt x="693" y="347"/>
                  </a:cubicBezTo>
                  <a:lnTo>
                    <a:pt x="693" y="725"/>
                  </a:lnTo>
                  <a:lnTo>
                    <a:pt x="347" y="725"/>
                  </a:lnTo>
                  <a:cubicBezTo>
                    <a:pt x="158" y="725"/>
                    <a:pt x="0" y="883"/>
                    <a:pt x="0" y="1072"/>
                  </a:cubicBezTo>
                  <a:cubicBezTo>
                    <a:pt x="0" y="1261"/>
                    <a:pt x="158" y="1418"/>
                    <a:pt x="347" y="1418"/>
                  </a:cubicBezTo>
                  <a:lnTo>
                    <a:pt x="693" y="1418"/>
                  </a:lnTo>
                  <a:lnTo>
                    <a:pt x="693" y="1765"/>
                  </a:lnTo>
                  <a:cubicBezTo>
                    <a:pt x="693" y="1986"/>
                    <a:pt x="851" y="2143"/>
                    <a:pt x="1040" y="2143"/>
                  </a:cubicBezTo>
                  <a:cubicBezTo>
                    <a:pt x="1260" y="2143"/>
                    <a:pt x="1418" y="1986"/>
                    <a:pt x="1418" y="1765"/>
                  </a:cubicBezTo>
                  <a:lnTo>
                    <a:pt x="1418" y="1418"/>
                  </a:lnTo>
                  <a:lnTo>
                    <a:pt x="1764" y="1418"/>
                  </a:lnTo>
                  <a:cubicBezTo>
                    <a:pt x="1953" y="1418"/>
                    <a:pt x="2111" y="1261"/>
                    <a:pt x="2111" y="1072"/>
                  </a:cubicBezTo>
                  <a:cubicBezTo>
                    <a:pt x="2111" y="883"/>
                    <a:pt x="1953" y="725"/>
                    <a:pt x="1764" y="725"/>
                  </a:cubicBezTo>
                  <a:lnTo>
                    <a:pt x="1418" y="725"/>
                  </a:lnTo>
                  <a:lnTo>
                    <a:pt x="1418" y="347"/>
                  </a:ln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32"/>
            <p:cNvSpPr/>
            <p:nvPr/>
          </p:nvSpPr>
          <p:spPr>
            <a:xfrm>
              <a:off x="-23615075" y="3268225"/>
              <a:ext cx="34675" cy="173300"/>
            </a:xfrm>
            <a:custGeom>
              <a:rect b="b" l="l" r="r" t="t"/>
              <a:pathLst>
                <a:path extrusionOk="0" h="6932" w="1387">
                  <a:moveTo>
                    <a:pt x="1008" y="1"/>
                  </a:moveTo>
                  <a:cubicBezTo>
                    <a:pt x="441" y="1"/>
                    <a:pt x="0" y="473"/>
                    <a:pt x="0" y="1040"/>
                  </a:cubicBezTo>
                  <a:lnTo>
                    <a:pt x="0" y="6585"/>
                  </a:lnTo>
                  <a:cubicBezTo>
                    <a:pt x="0" y="6774"/>
                    <a:pt x="158" y="6932"/>
                    <a:pt x="347" y="6932"/>
                  </a:cubicBezTo>
                  <a:lnTo>
                    <a:pt x="1386" y="6932"/>
                  </a:lnTo>
                  <a:lnTo>
                    <a:pt x="1386" y="4285"/>
                  </a:lnTo>
                  <a:lnTo>
                    <a:pt x="662" y="4285"/>
                  </a:lnTo>
                  <a:lnTo>
                    <a:pt x="662" y="3561"/>
                  </a:lnTo>
                  <a:lnTo>
                    <a:pt x="1386" y="3561"/>
                  </a:lnTo>
                  <a:lnTo>
                    <a:pt x="1386" y="2868"/>
                  </a:lnTo>
                  <a:lnTo>
                    <a:pt x="662" y="2868"/>
                  </a:lnTo>
                  <a:lnTo>
                    <a:pt x="662" y="2143"/>
                  </a:lnTo>
                  <a:lnTo>
                    <a:pt x="1386" y="2143"/>
                  </a:lnTo>
                  <a:lnTo>
                    <a:pt x="1386" y="1418"/>
                  </a:lnTo>
                  <a:lnTo>
                    <a:pt x="662" y="1418"/>
                  </a:lnTo>
                  <a:lnTo>
                    <a:pt x="662" y="1072"/>
                  </a:lnTo>
                  <a:cubicBezTo>
                    <a:pt x="662" y="883"/>
                    <a:pt x="819" y="725"/>
                    <a:pt x="1008" y="725"/>
                  </a:cubicBezTo>
                  <a:lnTo>
                    <a:pt x="1386" y="725"/>
                  </a:lnTo>
                  <a:lnTo>
                    <a:pt x="138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32"/>
            <p:cNvSpPr/>
            <p:nvPr/>
          </p:nvSpPr>
          <p:spPr>
            <a:xfrm>
              <a:off x="-23354375" y="3270600"/>
              <a:ext cx="34675" cy="173300"/>
            </a:xfrm>
            <a:custGeom>
              <a:rect b="b" l="l" r="r" t="t"/>
              <a:pathLst>
                <a:path extrusionOk="0" h="6932" w="1387">
                  <a:moveTo>
                    <a:pt x="0" y="0"/>
                  </a:moveTo>
                  <a:lnTo>
                    <a:pt x="0" y="725"/>
                  </a:lnTo>
                  <a:lnTo>
                    <a:pt x="347" y="725"/>
                  </a:lnTo>
                  <a:cubicBezTo>
                    <a:pt x="568" y="725"/>
                    <a:pt x="725" y="882"/>
                    <a:pt x="725" y="1071"/>
                  </a:cubicBezTo>
                  <a:lnTo>
                    <a:pt x="725" y="1418"/>
                  </a:lnTo>
                  <a:lnTo>
                    <a:pt x="0" y="1418"/>
                  </a:lnTo>
                  <a:lnTo>
                    <a:pt x="0" y="2143"/>
                  </a:lnTo>
                  <a:lnTo>
                    <a:pt x="725" y="2143"/>
                  </a:lnTo>
                  <a:lnTo>
                    <a:pt x="725" y="2836"/>
                  </a:lnTo>
                  <a:lnTo>
                    <a:pt x="0" y="2836"/>
                  </a:lnTo>
                  <a:lnTo>
                    <a:pt x="0" y="3560"/>
                  </a:lnTo>
                  <a:lnTo>
                    <a:pt x="725" y="3560"/>
                  </a:lnTo>
                  <a:lnTo>
                    <a:pt x="725" y="4253"/>
                  </a:lnTo>
                  <a:lnTo>
                    <a:pt x="0" y="4253"/>
                  </a:lnTo>
                  <a:lnTo>
                    <a:pt x="0" y="6931"/>
                  </a:lnTo>
                  <a:lnTo>
                    <a:pt x="1040" y="6931"/>
                  </a:lnTo>
                  <a:cubicBezTo>
                    <a:pt x="1229" y="6931"/>
                    <a:pt x="1387" y="6774"/>
                    <a:pt x="1387" y="6585"/>
                  </a:cubicBezTo>
                  <a:lnTo>
                    <a:pt x="1387" y="1040"/>
                  </a:lnTo>
                  <a:cubicBezTo>
                    <a:pt x="1387" y="441"/>
                    <a:pt x="91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32"/>
            <p:cNvSpPr/>
            <p:nvPr/>
          </p:nvSpPr>
          <p:spPr>
            <a:xfrm>
              <a:off x="-23562300" y="3148525"/>
              <a:ext cx="191400" cy="296150"/>
            </a:xfrm>
            <a:custGeom>
              <a:rect b="b" l="l" r="r" t="t"/>
              <a:pathLst>
                <a:path extrusionOk="0" h="11846" w="7656">
                  <a:moveTo>
                    <a:pt x="5545" y="662"/>
                  </a:moveTo>
                  <a:lnTo>
                    <a:pt x="5545" y="1764"/>
                  </a:lnTo>
                  <a:lnTo>
                    <a:pt x="5545" y="4222"/>
                  </a:lnTo>
                  <a:lnTo>
                    <a:pt x="2079" y="4222"/>
                  </a:lnTo>
                  <a:lnTo>
                    <a:pt x="2079" y="1764"/>
                  </a:lnTo>
                  <a:lnTo>
                    <a:pt x="2079" y="662"/>
                  </a:lnTo>
                  <a:close/>
                  <a:moveTo>
                    <a:pt x="3434" y="4883"/>
                  </a:moveTo>
                  <a:lnTo>
                    <a:pt x="3434" y="5608"/>
                  </a:lnTo>
                  <a:lnTo>
                    <a:pt x="2079" y="5608"/>
                  </a:lnTo>
                  <a:lnTo>
                    <a:pt x="2079" y="4883"/>
                  </a:lnTo>
                  <a:close/>
                  <a:moveTo>
                    <a:pt x="5513" y="4883"/>
                  </a:moveTo>
                  <a:lnTo>
                    <a:pt x="5513" y="5608"/>
                  </a:lnTo>
                  <a:lnTo>
                    <a:pt x="4159" y="5608"/>
                  </a:lnTo>
                  <a:lnTo>
                    <a:pt x="4159" y="4883"/>
                  </a:lnTo>
                  <a:close/>
                  <a:moveTo>
                    <a:pt x="3434" y="6301"/>
                  </a:moveTo>
                  <a:lnTo>
                    <a:pt x="3434" y="7026"/>
                  </a:lnTo>
                  <a:lnTo>
                    <a:pt x="2079" y="7026"/>
                  </a:lnTo>
                  <a:lnTo>
                    <a:pt x="2079" y="6301"/>
                  </a:lnTo>
                  <a:close/>
                  <a:moveTo>
                    <a:pt x="5513" y="6301"/>
                  </a:moveTo>
                  <a:lnTo>
                    <a:pt x="5513" y="7026"/>
                  </a:lnTo>
                  <a:lnTo>
                    <a:pt x="4159" y="7026"/>
                  </a:lnTo>
                  <a:lnTo>
                    <a:pt x="4159" y="6301"/>
                  </a:lnTo>
                  <a:close/>
                  <a:moveTo>
                    <a:pt x="3434" y="7687"/>
                  </a:moveTo>
                  <a:lnTo>
                    <a:pt x="3434" y="8380"/>
                  </a:lnTo>
                  <a:lnTo>
                    <a:pt x="2079" y="8380"/>
                  </a:lnTo>
                  <a:lnTo>
                    <a:pt x="2079" y="7687"/>
                  </a:lnTo>
                  <a:close/>
                  <a:moveTo>
                    <a:pt x="5513" y="7687"/>
                  </a:moveTo>
                  <a:lnTo>
                    <a:pt x="5513" y="8380"/>
                  </a:lnTo>
                  <a:lnTo>
                    <a:pt x="4159" y="8380"/>
                  </a:lnTo>
                  <a:lnTo>
                    <a:pt x="4159" y="7687"/>
                  </a:lnTo>
                  <a:close/>
                  <a:moveTo>
                    <a:pt x="1733" y="0"/>
                  </a:moveTo>
                  <a:cubicBezTo>
                    <a:pt x="1544" y="0"/>
                    <a:pt x="1386" y="158"/>
                    <a:pt x="1386" y="347"/>
                  </a:cubicBezTo>
                  <a:lnTo>
                    <a:pt x="1386" y="1449"/>
                  </a:lnTo>
                  <a:lnTo>
                    <a:pt x="1040" y="1449"/>
                  </a:lnTo>
                  <a:cubicBezTo>
                    <a:pt x="441" y="1449"/>
                    <a:pt x="0" y="1922"/>
                    <a:pt x="0" y="2489"/>
                  </a:cubicBezTo>
                  <a:lnTo>
                    <a:pt x="0" y="11846"/>
                  </a:lnTo>
                  <a:lnTo>
                    <a:pt x="2804" y="11846"/>
                  </a:lnTo>
                  <a:lnTo>
                    <a:pt x="2804" y="10491"/>
                  </a:lnTo>
                  <a:lnTo>
                    <a:pt x="4883" y="10491"/>
                  </a:lnTo>
                  <a:cubicBezTo>
                    <a:pt x="4852" y="10586"/>
                    <a:pt x="4852" y="11688"/>
                    <a:pt x="4852" y="11846"/>
                  </a:cubicBezTo>
                  <a:lnTo>
                    <a:pt x="7656" y="11846"/>
                  </a:lnTo>
                  <a:lnTo>
                    <a:pt x="7656" y="2489"/>
                  </a:lnTo>
                  <a:cubicBezTo>
                    <a:pt x="7656" y="1890"/>
                    <a:pt x="7183" y="1449"/>
                    <a:pt x="6616" y="1449"/>
                  </a:cubicBezTo>
                  <a:lnTo>
                    <a:pt x="6270" y="1449"/>
                  </a:lnTo>
                  <a:lnTo>
                    <a:pt x="6270" y="347"/>
                  </a:lnTo>
                  <a:cubicBezTo>
                    <a:pt x="6270" y="158"/>
                    <a:pt x="6112" y="0"/>
                    <a:pt x="5923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3"/>
          <p:cNvSpPr txBox="1"/>
          <p:nvPr/>
        </p:nvSpPr>
        <p:spPr>
          <a:xfrm>
            <a:off x="2240475" y="526400"/>
            <a:ext cx="25443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Propuesta</a:t>
            </a:r>
            <a:endParaRPr sz="300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grpSp>
        <p:nvGrpSpPr>
          <p:cNvPr id="259" name="Google Shape;259;p33"/>
          <p:cNvGrpSpPr/>
          <p:nvPr/>
        </p:nvGrpSpPr>
        <p:grpSpPr>
          <a:xfrm>
            <a:off x="1835209" y="611253"/>
            <a:ext cx="437532" cy="284211"/>
            <a:chOff x="-26981375" y="3951875"/>
            <a:chExt cx="296150" cy="242625"/>
          </a:xfrm>
        </p:grpSpPr>
        <p:sp>
          <p:nvSpPr>
            <p:cNvPr id="260" name="Google Shape;260;p33"/>
            <p:cNvSpPr/>
            <p:nvPr/>
          </p:nvSpPr>
          <p:spPr>
            <a:xfrm>
              <a:off x="-26978225" y="3951875"/>
              <a:ext cx="173300" cy="155975"/>
            </a:xfrm>
            <a:custGeom>
              <a:rect b="b" l="l" r="r" t="t"/>
              <a:pathLst>
                <a:path extrusionOk="0" h="6239" w="6932">
                  <a:moveTo>
                    <a:pt x="3340" y="2364"/>
                  </a:moveTo>
                  <a:cubicBezTo>
                    <a:pt x="3529" y="2364"/>
                    <a:pt x="3686" y="2521"/>
                    <a:pt x="3686" y="2710"/>
                  </a:cubicBezTo>
                  <a:lnTo>
                    <a:pt x="3686" y="3435"/>
                  </a:lnTo>
                  <a:lnTo>
                    <a:pt x="4411" y="3435"/>
                  </a:lnTo>
                  <a:cubicBezTo>
                    <a:pt x="4600" y="3435"/>
                    <a:pt x="4757" y="3592"/>
                    <a:pt x="4757" y="3782"/>
                  </a:cubicBezTo>
                  <a:cubicBezTo>
                    <a:pt x="4757" y="3971"/>
                    <a:pt x="4600" y="4128"/>
                    <a:pt x="4411" y="4128"/>
                  </a:cubicBezTo>
                  <a:lnTo>
                    <a:pt x="3686" y="4128"/>
                  </a:lnTo>
                  <a:lnTo>
                    <a:pt x="3686" y="4853"/>
                  </a:lnTo>
                  <a:cubicBezTo>
                    <a:pt x="3686" y="5042"/>
                    <a:pt x="3529" y="5199"/>
                    <a:pt x="3340" y="5199"/>
                  </a:cubicBezTo>
                  <a:cubicBezTo>
                    <a:pt x="3151" y="5199"/>
                    <a:pt x="2993" y="5042"/>
                    <a:pt x="2993" y="4853"/>
                  </a:cubicBezTo>
                  <a:lnTo>
                    <a:pt x="2993" y="4128"/>
                  </a:lnTo>
                  <a:lnTo>
                    <a:pt x="2268" y="4128"/>
                  </a:lnTo>
                  <a:cubicBezTo>
                    <a:pt x="2079" y="4128"/>
                    <a:pt x="1922" y="3971"/>
                    <a:pt x="1922" y="3782"/>
                  </a:cubicBezTo>
                  <a:cubicBezTo>
                    <a:pt x="1922" y="3592"/>
                    <a:pt x="2079" y="3435"/>
                    <a:pt x="2268" y="3435"/>
                  </a:cubicBezTo>
                  <a:lnTo>
                    <a:pt x="2993" y="3435"/>
                  </a:lnTo>
                  <a:lnTo>
                    <a:pt x="2993" y="2710"/>
                  </a:lnTo>
                  <a:cubicBezTo>
                    <a:pt x="2993" y="2521"/>
                    <a:pt x="3151" y="2364"/>
                    <a:pt x="3340" y="2364"/>
                  </a:cubicBezTo>
                  <a:close/>
                  <a:moveTo>
                    <a:pt x="3434" y="1"/>
                  </a:moveTo>
                  <a:cubicBezTo>
                    <a:pt x="2836" y="1"/>
                    <a:pt x="2394" y="474"/>
                    <a:pt x="2394" y="1041"/>
                  </a:cubicBezTo>
                  <a:lnTo>
                    <a:pt x="2394" y="1387"/>
                  </a:lnTo>
                  <a:lnTo>
                    <a:pt x="1008" y="1387"/>
                  </a:lnTo>
                  <a:cubicBezTo>
                    <a:pt x="441" y="1387"/>
                    <a:pt x="0" y="1860"/>
                    <a:pt x="0" y="2395"/>
                  </a:cubicBezTo>
                  <a:lnTo>
                    <a:pt x="0" y="6239"/>
                  </a:lnTo>
                  <a:lnTo>
                    <a:pt x="6931" y="6239"/>
                  </a:lnTo>
                  <a:lnTo>
                    <a:pt x="6931" y="2395"/>
                  </a:lnTo>
                  <a:lnTo>
                    <a:pt x="6837" y="2395"/>
                  </a:lnTo>
                  <a:cubicBezTo>
                    <a:pt x="6837" y="1828"/>
                    <a:pt x="6364" y="1387"/>
                    <a:pt x="5829" y="1387"/>
                  </a:cubicBezTo>
                  <a:lnTo>
                    <a:pt x="4442" y="1387"/>
                  </a:lnTo>
                  <a:lnTo>
                    <a:pt x="4442" y="1041"/>
                  </a:lnTo>
                  <a:cubicBezTo>
                    <a:pt x="4442" y="442"/>
                    <a:pt x="3970" y="1"/>
                    <a:pt x="3434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33"/>
            <p:cNvSpPr/>
            <p:nvPr/>
          </p:nvSpPr>
          <p:spPr>
            <a:xfrm>
              <a:off x="-26981375" y="4124375"/>
              <a:ext cx="174075" cy="70125"/>
            </a:xfrm>
            <a:custGeom>
              <a:rect b="b" l="l" r="r" t="t"/>
              <a:pathLst>
                <a:path extrusionOk="0" h="2805" w="6963">
                  <a:moveTo>
                    <a:pt x="2457" y="1418"/>
                  </a:moveTo>
                  <a:cubicBezTo>
                    <a:pt x="2647" y="1418"/>
                    <a:pt x="2804" y="1576"/>
                    <a:pt x="2804" y="1765"/>
                  </a:cubicBezTo>
                  <a:cubicBezTo>
                    <a:pt x="2804" y="1954"/>
                    <a:pt x="2647" y="2111"/>
                    <a:pt x="2457" y="2111"/>
                  </a:cubicBezTo>
                  <a:cubicBezTo>
                    <a:pt x="2237" y="2111"/>
                    <a:pt x="2079" y="1954"/>
                    <a:pt x="2079" y="1765"/>
                  </a:cubicBezTo>
                  <a:cubicBezTo>
                    <a:pt x="2079" y="1576"/>
                    <a:pt x="2237" y="1418"/>
                    <a:pt x="2457" y="1418"/>
                  </a:cubicBezTo>
                  <a:close/>
                  <a:moveTo>
                    <a:pt x="32" y="0"/>
                  </a:moveTo>
                  <a:lnTo>
                    <a:pt x="32" y="1009"/>
                  </a:lnTo>
                  <a:cubicBezTo>
                    <a:pt x="0" y="1607"/>
                    <a:pt x="473" y="2080"/>
                    <a:pt x="1071" y="2080"/>
                  </a:cubicBezTo>
                  <a:lnTo>
                    <a:pt x="1449" y="2080"/>
                  </a:lnTo>
                  <a:cubicBezTo>
                    <a:pt x="1607" y="2489"/>
                    <a:pt x="1985" y="2804"/>
                    <a:pt x="2457" y="2804"/>
                  </a:cubicBezTo>
                  <a:cubicBezTo>
                    <a:pt x="2867" y="2804"/>
                    <a:pt x="3277" y="2521"/>
                    <a:pt x="3434" y="2080"/>
                  </a:cubicBezTo>
                  <a:lnTo>
                    <a:pt x="6963" y="2080"/>
                  </a:lnTo>
                  <a:lnTo>
                    <a:pt x="6963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33"/>
            <p:cNvSpPr/>
            <p:nvPr/>
          </p:nvSpPr>
          <p:spPr>
            <a:xfrm>
              <a:off x="-26790000" y="4002300"/>
              <a:ext cx="104775" cy="192200"/>
            </a:xfrm>
            <a:custGeom>
              <a:rect b="b" l="l" r="r" t="t"/>
              <a:pathLst>
                <a:path extrusionOk="0" h="7688" w="4191">
                  <a:moveTo>
                    <a:pt x="1513" y="693"/>
                  </a:moveTo>
                  <a:cubicBezTo>
                    <a:pt x="1954" y="693"/>
                    <a:pt x="2364" y="977"/>
                    <a:pt x="2521" y="1386"/>
                  </a:cubicBezTo>
                  <a:lnTo>
                    <a:pt x="3372" y="3497"/>
                  </a:lnTo>
                  <a:lnTo>
                    <a:pt x="1765" y="3497"/>
                  </a:lnTo>
                  <a:cubicBezTo>
                    <a:pt x="1576" y="3497"/>
                    <a:pt x="1419" y="3340"/>
                    <a:pt x="1419" y="3151"/>
                  </a:cubicBezTo>
                  <a:lnTo>
                    <a:pt x="1419" y="693"/>
                  </a:lnTo>
                  <a:close/>
                  <a:moveTo>
                    <a:pt x="1765" y="6270"/>
                  </a:moveTo>
                  <a:cubicBezTo>
                    <a:pt x="1954" y="6270"/>
                    <a:pt x="2112" y="6427"/>
                    <a:pt x="2112" y="6616"/>
                  </a:cubicBezTo>
                  <a:cubicBezTo>
                    <a:pt x="2112" y="6805"/>
                    <a:pt x="1954" y="6963"/>
                    <a:pt x="1765" y="6963"/>
                  </a:cubicBezTo>
                  <a:cubicBezTo>
                    <a:pt x="1576" y="6963"/>
                    <a:pt x="1419" y="6805"/>
                    <a:pt x="1419" y="6616"/>
                  </a:cubicBezTo>
                  <a:cubicBezTo>
                    <a:pt x="1419" y="6427"/>
                    <a:pt x="1576" y="6270"/>
                    <a:pt x="1765" y="6270"/>
                  </a:cubicBezTo>
                  <a:close/>
                  <a:moveTo>
                    <a:pt x="1" y="0"/>
                  </a:moveTo>
                  <a:lnTo>
                    <a:pt x="1" y="6963"/>
                  </a:lnTo>
                  <a:lnTo>
                    <a:pt x="788" y="6963"/>
                  </a:lnTo>
                  <a:cubicBezTo>
                    <a:pt x="946" y="7372"/>
                    <a:pt x="1293" y="7687"/>
                    <a:pt x="1765" y="7687"/>
                  </a:cubicBezTo>
                  <a:cubicBezTo>
                    <a:pt x="2206" y="7687"/>
                    <a:pt x="2584" y="7404"/>
                    <a:pt x="2742" y="6963"/>
                  </a:cubicBezTo>
                  <a:lnTo>
                    <a:pt x="3151" y="6963"/>
                  </a:lnTo>
                  <a:cubicBezTo>
                    <a:pt x="3718" y="6963"/>
                    <a:pt x="4159" y="6490"/>
                    <a:pt x="4159" y="5955"/>
                  </a:cubicBezTo>
                  <a:lnTo>
                    <a:pt x="4159" y="5577"/>
                  </a:lnTo>
                  <a:lnTo>
                    <a:pt x="3151" y="5577"/>
                  </a:lnTo>
                  <a:cubicBezTo>
                    <a:pt x="2931" y="5577"/>
                    <a:pt x="2773" y="5419"/>
                    <a:pt x="2773" y="5230"/>
                  </a:cubicBezTo>
                  <a:cubicBezTo>
                    <a:pt x="2773" y="5041"/>
                    <a:pt x="2994" y="4883"/>
                    <a:pt x="3183" y="4883"/>
                  </a:cubicBezTo>
                  <a:lnTo>
                    <a:pt x="4191" y="4883"/>
                  </a:lnTo>
                  <a:lnTo>
                    <a:pt x="4191" y="4096"/>
                  </a:lnTo>
                  <a:cubicBezTo>
                    <a:pt x="4191" y="3970"/>
                    <a:pt x="4159" y="3812"/>
                    <a:pt x="4159" y="3686"/>
                  </a:cubicBezTo>
                  <a:cubicBezTo>
                    <a:pt x="4096" y="3466"/>
                    <a:pt x="3246" y="1386"/>
                    <a:pt x="3151" y="1103"/>
                  </a:cubicBezTo>
                  <a:cubicBezTo>
                    <a:pt x="2868" y="410"/>
                    <a:pt x="2238" y="0"/>
                    <a:pt x="154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3" name="Google Shape;263;p33"/>
          <p:cNvSpPr txBox="1"/>
          <p:nvPr/>
        </p:nvSpPr>
        <p:spPr>
          <a:xfrm>
            <a:off x="2240475" y="14728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Separación Lógica de Áreas Críticas</a:t>
            </a:r>
            <a:endParaRPr sz="12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264" name="Google Shape;264;p33"/>
          <p:cNvSpPr txBox="1"/>
          <p:nvPr/>
        </p:nvSpPr>
        <p:spPr>
          <a:xfrm>
            <a:off x="2240475" y="202775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Conectividad Redundante en la DMZ</a:t>
            </a:r>
            <a:endParaRPr sz="12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265" name="Google Shape;265;p33"/>
          <p:cNvSpPr txBox="1"/>
          <p:nvPr/>
        </p:nvSpPr>
        <p:spPr>
          <a:xfrm>
            <a:off x="2273375" y="25827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Topología Leaf-Spine Simplificada</a:t>
            </a:r>
            <a:endParaRPr sz="12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266" name="Google Shape;266;p33"/>
          <p:cNvSpPr txBox="1"/>
          <p:nvPr/>
        </p:nvSpPr>
        <p:spPr>
          <a:xfrm>
            <a:off x="2240475" y="3636650"/>
            <a:ext cx="4655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Acceso Remoto Seguro para Administración y Soporte Técnico</a:t>
            </a:r>
            <a:endParaRPr sz="12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267" name="Google Shape;267;p33"/>
          <p:cNvSpPr txBox="1"/>
          <p:nvPr/>
        </p:nvSpPr>
        <p:spPr>
          <a:xfrm>
            <a:off x="2240475" y="30959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Alojamiento Local de Servicios Críticos</a:t>
            </a:r>
            <a:endParaRPr sz="12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268" name="Google Shape;268;p33"/>
          <p:cNvGrpSpPr/>
          <p:nvPr/>
        </p:nvGrpSpPr>
        <p:grpSpPr>
          <a:xfrm>
            <a:off x="2030844" y="1555889"/>
            <a:ext cx="209634" cy="203107"/>
            <a:chOff x="-26583625" y="3917025"/>
            <a:chExt cx="315050" cy="295600"/>
          </a:xfrm>
        </p:grpSpPr>
        <p:sp>
          <p:nvSpPr>
            <p:cNvPr id="269" name="Google Shape;269;p33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33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" name="Google Shape;271;p33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33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3" name="Google Shape;273;p33"/>
          <p:cNvGrpSpPr/>
          <p:nvPr/>
        </p:nvGrpSpPr>
        <p:grpSpPr>
          <a:xfrm>
            <a:off x="2030844" y="2110839"/>
            <a:ext cx="209634" cy="203107"/>
            <a:chOff x="-26583625" y="3917025"/>
            <a:chExt cx="315050" cy="295600"/>
          </a:xfrm>
        </p:grpSpPr>
        <p:sp>
          <p:nvSpPr>
            <p:cNvPr id="274" name="Google Shape;274;p33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33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33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33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8" name="Google Shape;278;p33"/>
          <p:cNvGrpSpPr/>
          <p:nvPr/>
        </p:nvGrpSpPr>
        <p:grpSpPr>
          <a:xfrm>
            <a:off x="2030844" y="2665789"/>
            <a:ext cx="209634" cy="203107"/>
            <a:chOff x="-26583625" y="3917025"/>
            <a:chExt cx="315050" cy="295600"/>
          </a:xfrm>
        </p:grpSpPr>
        <p:sp>
          <p:nvSpPr>
            <p:cNvPr id="279" name="Google Shape;279;p33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33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33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33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3" name="Google Shape;283;p33"/>
          <p:cNvGrpSpPr/>
          <p:nvPr/>
        </p:nvGrpSpPr>
        <p:grpSpPr>
          <a:xfrm>
            <a:off x="2030844" y="3137514"/>
            <a:ext cx="209634" cy="203107"/>
            <a:chOff x="-26583625" y="3917025"/>
            <a:chExt cx="315050" cy="295600"/>
          </a:xfrm>
        </p:grpSpPr>
        <p:sp>
          <p:nvSpPr>
            <p:cNvPr id="284" name="Google Shape;284;p33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33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33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8" name="Google Shape;288;p33"/>
          <p:cNvGrpSpPr/>
          <p:nvPr/>
        </p:nvGrpSpPr>
        <p:grpSpPr>
          <a:xfrm>
            <a:off x="2030844" y="3719739"/>
            <a:ext cx="209634" cy="203107"/>
            <a:chOff x="-26583625" y="3917025"/>
            <a:chExt cx="315050" cy="295600"/>
          </a:xfrm>
        </p:grpSpPr>
        <p:sp>
          <p:nvSpPr>
            <p:cNvPr id="289" name="Google Shape;289;p33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33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33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33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4"/>
          <p:cNvSpPr txBox="1"/>
          <p:nvPr/>
        </p:nvSpPr>
        <p:spPr>
          <a:xfrm>
            <a:off x="1088325" y="466825"/>
            <a:ext cx="46554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Diseño de la topología</a:t>
            </a:r>
            <a:endParaRPr sz="300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pic>
        <p:nvPicPr>
          <p:cNvPr id="298" name="Google Shape;29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20150" y="964500"/>
            <a:ext cx="5110575" cy="37409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34"/>
          <p:cNvGrpSpPr/>
          <p:nvPr/>
        </p:nvGrpSpPr>
        <p:grpSpPr>
          <a:xfrm>
            <a:off x="736438" y="519622"/>
            <a:ext cx="351880" cy="352803"/>
            <a:chOff x="-23244900" y="3888100"/>
            <a:chExt cx="295375" cy="296150"/>
          </a:xfrm>
        </p:grpSpPr>
        <p:sp>
          <p:nvSpPr>
            <p:cNvPr id="300" name="Google Shape;300;p34"/>
            <p:cNvSpPr/>
            <p:nvPr/>
          </p:nvSpPr>
          <p:spPr>
            <a:xfrm>
              <a:off x="-23106275" y="3958975"/>
              <a:ext cx="18150" cy="17350"/>
            </a:xfrm>
            <a:custGeom>
              <a:rect b="b" l="l" r="r" t="t"/>
              <a:pathLst>
                <a:path extrusionOk="0" h="694" w="726">
                  <a:moveTo>
                    <a:pt x="0" y="0"/>
                  </a:moveTo>
                  <a:lnTo>
                    <a:pt x="0" y="694"/>
                  </a:lnTo>
                  <a:lnTo>
                    <a:pt x="725" y="694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34"/>
            <p:cNvSpPr/>
            <p:nvPr/>
          </p:nvSpPr>
          <p:spPr>
            <a:xfrm>
              <a:off x="-23106275" y="3992850"/>
              <a:ext cx="18150" cy="18125"/>
            </a:xfrm>
            <a:custGeom>
              <a:rect b="b" l="l" r="r" t="t"/>
              <a:pathLst>
                <a:path extrusionOk="0" h="725" w="726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34"/>
            <p:cNvSpPr/>
            <p:nvPr/>
          </p:nvSpPr>
          <p:spPr>
            <a:xfrm>
              <a:off x="-23106275" y="4062950"/>
              <a:ext cx="18150" cy="34675"/>
            </a:xfrm>
            <a:custGeom>
              <a:rect b="b" l="l" r="r" t="t"/>
              <a:pathLst>
                <a:path extrusionOk="0" h="1387" w="726">
                  <a:moveTo>
                    <a:pt x="0" y="0"/>
                  </a:moveTo>
                  <a:lnTo>
                    <a:pt x="0" y="1040"/>
                  </a:lnTo>
                  <a:cubicBezTo>
                    <a:pt x="0" y="1229"/>
                    <a:pt x="158" y="1386"/>
                    <a:pt x="379" y="1386"/>
                  </a:cubicBezTo>
                  <a:cubicBezTo>
                    <a:pt x="568" y="1386"/>
                    <a:pt x="725" y="1229"/>
                    <a:pt x="725" y="1040"/>
                  </a:cubicBezTo>
                  <a:lnTo>
                    <a:pt x="725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-23070825" y="3940850"/>
              <a:ext cx="52775" cy="26825"/>
            </a:xfrm>
            <a:custGeom>
              <a:rect b="b" l="l" r="r" t="t"/>
              <a:pathLst>
                <a:path extrusionOk="0" h="1073" w="2111">
                  <a:moveTo>
                    <a:pt x="0" y="1"/>
                  </a:moveTo>
                  <a:lnTo>
                    <a:pt x="0" y="725"/>
                  </a:lnTo>
                  <a:lnTo>
                    <a:pt x="1040" y="725"/>
                  </a:lnTo>
                  <a:cubicBezTo>
                    <a:pt x="1386" y="725"/>
                    <a:pt x="1701" y="883"/>
                    <a:pt x="1985" y="1072"/>
                  </a:cubicBezTo>
                  <a:cubicBezTo>
                    <a:pt x="2048" y="946"/>
                    <a:pt x="2111" y="851"/>
                    <a:pt x="2111" y="725"/>
                  </a:cubicBezTo>
                  <a:cubicBezTo>
                    <a:pt x="2111" y="316"/>
                    <a:pt x="1764" y="1"/>
                    <a:pt x="1386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-23106275" y="3923525"/>
              <a:ext cx="18150" cy="17350"/>
            </a:xfrm>
            <a:custGeom>
              <a:rect b="b" l="l" r="r" t="t"/>
              <a:pathLst>
                <a:path extrusionOk="0" h="694" w="726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694"/>
                  </a:lnTo>
                  <a:lnTo>
                    <a:pt x="725" y="694"/>
                  </a:lnTo>
                  <a:lnTo>
                    <a:pt x="725" y="347"/>
                  </a:ln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34"/>
            <p:cNvSpPr/>
            <p:nvPr/>
          </p:nvSpPr>
          <p:spPr>
            <a:xfrm>
              <a:off x="-23106275" y="4027500"/>
              <a:ext cx="18150" cy="18125"/>
            </a:xfrm>
            <a:custGeom>
              <a:rect b="b" l="l" r="r" t="t"/>
              <a:pathLst>
                <a:path extrusionOk="0" h="725" w="726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34"/>
            <p:cNvSpPr/>
            <p:nvPr/>
          </p:nvSpPr>
          <p:spPr>
            <a:xfrm>
              <a:off x="-23244900" y="3888100"/>
              <a:ext cx="295375" cy="296150"/>
            </a:xfrm>
            <a:custGeom>
              <a:rect b="b" l="l" r="r" t="t"/>
              <a:pathLst>
                <a:path extrusionOk="0" h="11846" w="11815">
                  <a:moveTo>
                    <a:pt x="5892" y="725"/>
                  </a:moveTo>
                  <a:cubicBezTo>
                    <a:pt x="6333" y="725"/>
                    <a:pt x="6743" y="1008"/>
                    <a:pt x="6900" y="1449"/>
                  </a:cubicBezTo>
                  <a:lnTo>
                    <a:pt x="8349" y="1449"/>
                  </a:lnTo>
                  <a:cubicBezTo>
                    <a:pt x="9106" y="1449"/>
                    <a:pt x="9736" y="2079"/>
                    <a:pt x="9736" y="2835"/>
                  </a:cubicBezTo>
                  <a:cubicBezTo>
                    <a:pt x="9736" y="3214"/>
                    <a:pt x="9578" y="3529"/>
                    <a:pt x="9295" y="3812"/>
                  </a:cubicBezTo>
                  <a:cubicBezTo>
                    <a:pt x="9326" y="3938"/>
                    <a:pt x="9358" y="4096"/>
                    <a:pt x="9358" y="4190"/>
                  </a:cubicBezTo>
                  <a:cubicBezTo>
                    <a:pt x="9358" y="4600"/>
                    <a:pt x="9200" y="4915"/>
                    <a:pt x="8948" y="5198"/>
                  </a:cubicBezTo>
                  <a:cubicBezTo>
                    <a:pt x="8980" y="5324"/>
                    <a:pt x="9011" y="5450"/>
                    <a:pt x="9011" y="5576"/>
                  </a:cubicBezTo>
                  <a:cubicBezTo>
                    <a:pt x="9011" y="6333"/>
                    <a:pt x="8381" y="6963"/>
                    <a:pt x="7625" y="6963"/>
                  </a:cubicBezTo>
                  <a:cubicBezTo>
                    <a:pt x="7436" y="6963"/>
                    <a:pt x="7278" y="6805"/>
                    <a:pt x="7278" y="6616"/>
                  </a:cubicBezTo>
                  <a:cubicBezTo>
                    <a:pt x="7278" y="6427"/>
                    <a:pt x="7436" y="6269"/>
                    <a:pt x="7625" y="6269"/>
                  </a:cubicBezTo>
                  <a:cubicBezTo>
                    <a:pt x="8034" y="6269"/>
                    <a:pt x="8349" y="5954"/>
                    <a:pt x="8349" y="5545"/>
                  </a:cubicBezTo>
                  <a:cubicBezTo>
                    <a:pt x="8349" y="5167"/>
                    <a:pt x="8034" y="4852"/>
                    <a:pt x="7625" y="4852"/>
                  </a:cubicBezTo>
                  <a:lnTo>
                    <a:pt x="6932" y="4852"/>
                  </a:lnTo>
                  <a:lnTo>
                    <a:pt x="6932" y="7593"/>
                  </a:lnTo>
                  <a:lnTo>
                    <a:pt x="7940" y="7593"/>
                  </a:lnTo>
                  <a:cubicBezTo>
                    <a:pt x="8538" y="7593"/>
                    <a:pt x="8980" y="8065"/>
                    <a:pt x="8980" y="8632"/>
                  </a:cubicBezTo>
                  <a:cubicBezTo>
                    <a:pt x="8980" y="9105"/>
                    <a:pt x="8664" y="9514"/>
                    <a:pt x="8192" y="9609"/>
                  </a:cubicBezTo>
                  <a:cubicBezTo>
                    <a:pt x="7562" y="9767"/>
                    <a:pt x="7058" y="10145"/>
                    <a:pt x="6680" y="10586"/>
                  </a:cubicBezTo>
                  <a:cubicBezTo>
                    <a:pt x="6459" y="10869"/>
                    <a:pt x="6176" y="11027"/>
                    <a:pt x="5861" y="11027"/>
                  </a:cubicBezTo>
                  <a:cubicBezTo>
                    <a:pt x="5545" y="11027"/>
                    <a:pt x="5230" y="10869"/>
                    <a:pt x="5041" y="10586"/>
                  </a:cubicBezTo>
                  <a:cubicBezTo>
                    <a:pt x="4695" y="10113"/>
                    <a:pt x="4128" y="9767"/>
                    <a:pt x="3529" y="9609"/>
                  </a:cubicBezTo>
                  <a:cubicBezTo>
                    <a:pt x="3057" y="9483"/>
                    <a:pt x="2742" y="9042"/>
                    <a:pt x="2742" y="8569"/>
                  </a:cubicBezTo>
                  <a:cubicBezTo>
                    <a:pt x="2742" y="8002"/>
                    <a:pt x="3214" y="7561"/>
                    <a:pt x="3781" y="7561"/>
                  </a:cubicBezTo>
                  <a:lnTo>
                    <a:pt x="4789" y="7561"/>
                  </a:lnTo>
                  <a:lnTo>
                    <a:pt x="4789" y="4789"/>
                  </a:lnTo>
                  <a:lnTo>
                    <a:pt x="4096" y="4789"/>
                  </a:lnTo>
                  <a:cubicBezTo>
                    <a:pt x="3687" y="4789"/>
                    <a:pt x="3372" y="5104"/>
                    <a:pt x="3372" y="5513"/>
                  </a:cubicBezTo>
                  <a:cubicBezTo>
                    <a:pt x="3372" y="5891"/>
                    <a:pt x="3687" y="6206"/>
                    <a:pt x="4096" y="6206"/>
                  </a:cubicBezTo>
                  <a:cubicBezTo>
                    <a:pt x="4285" y="6206"/>
                    <a:pt x="4443" y="6364"/>
                    <a:pt x="4443" y="6553"/>
                  </a:cubicBezTo>
                  <a:cubicBezTo>
                    <a:pt x="4443" y="6774"/>
                    <a:pt x="4285" y="6931"/>
                    <a:pt x="4096" y="6931"/>
                  </a:cubicBezTo>
                  <a:cubicBezTo>
                    <a:pt x="3340" y="6931"/>
                    <a:pt x="2710" y="6301"/>
                    <a:pt x="2710" y="5545"/>
                  </a:cubicBezTo>
                  <a:cubicBezTo>
                    <a:pt x="2710" y="5387"/>
                    <a:pt x="2742" y="5261"/>
                    <a:pt x="2805" y="5135"/>
                  </a:cubicBezTo>
                  <a:cubicBezTo>
                    <a:pt x="2521" y="4883"/>
                    <a:pt x="2363" y="4568"/>
                    <a:pt x="2363" y="4159"/>
                  </a:cubicBezTo>
                  <a:cubicBezTo>
                    <a:pt x="2363" y="4001"/>
                    <a:pt x="2395" y="3875"/>
                    <a:pt x="2426" y="3781"/>
                  </a:cubicBezTo>
                  <a:cubicBezTo>
                    <a:pt x="2174" y="3497"/>
                    <a:pt x="2017" y="3182"/>
                    <a:pt x="2017" y="2772"/>
                  </a:cubicBezTo>
                  <a:cubicBezTo>
                    <a:pt x="2080" y="2048"/>
                    <a:pt x="2710" y="1449"/>
                    <a:pt x="3466" y="1449"/>
                  </a:cubicBezTo>
                  <a:lnTo>
                    <a:pt x="4915" y="1449"/>
                  </a:lnTo>
                  <a:cubicBezTo>
                    <a:pt x="5073" y="1040"/>
                    <a:pt x="5419" y="725"/>
                    <a:pt x="5892" y="725"/>
                  </a:cubicBezTo>
                  <a:close/>
                  <a:moveTo>
                    <a:pt x="1009" y="0"/>
                  </a:moveTo>
                  <a:cubicBezTo>
                    <a:pt x="473" y="32"/>
                    <a:pt x="1" y="504"/>
                    <a:pt x="1" y="1040"/>
                  </a:cubicBezTo>
                  <a:lnTo>
                    <a:pt x="1" y="10838"/>
                  </a:lnTo>
                  <a:cubicBezTo>
                    <a:pt x="1" y="11405"/>
                    <a:pt x="473" y="11846"/>
                    <a:pt x="1009" y="11846"/>
                  </a:cubicBezTo>
                  <a:lnTo>
                    <a:pt x="10807" y="11846"/>
                  </a:lnTo>
                  <a:cubicBezTo>
                    <a:pt x="11374" y="11846"/>
                    <a:pt x="11815" y="11373"/>
                    <a:pt x="11815" y="10775"/>
                  </a:cubicBezTo>
                  <a:lnTo>
                    <a:pt x="11815" y="1071"/>
                  </a:lnTo>
                  <a:cubicBezTo>
                    <a:pt x="11815" y="504"/>
                    <a:pt x="11342" y="32"/>
                    <a:pt x="10807" y="32"/>
                  </a:cubicBezTo>
                  <a:lnTo>
                    <a:pt x="1009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34"/>
            <p:cNvSpPr/>
            <p:nvPr/>
          </p:nvSpPr>
          <p:spPr>
            <a:xfrm>
              <a:off x="-23070825" y="3975525"/>
              <a:ext cx="43325" cy="26800"/>
            </a:xfrm>
            <a:custGeom>
              <a:rect b="b" l="l" r="r" t="t"/>
              <a:pathLst>
                <a:path extrusionOk="0" h="1072" w="1733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cubicBezTo>
                    <a:pt x="748" y="722"/>
                    <a:pt x="772" y="721"/>
                    <a:pt x="795" y="721"/>
                  </a:cubicBezTo>
                  <a:cubicBezTo>
                    <a:pt x="1086" y="721"/>
                    <a:pt x="1374" y="896"/>
                    <a:pt x="1607" y="1071"/>
                  </a:cubicBezTo>
                  <a:cubicBezTo>
                    <a:pt x="1701" y="945"/>
                    <a:pt x="1733" y="819"/>
                    <a:pt x="1733" y="725"/>
                  </a:cubicBezTo>
                  <a:cubicBezTo>
                    <a:pt x="1733" y="315"/>
                    <a:pt x="1418" y="0"/>
                    <a:pt x="104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34"/>
            <p:cNvSpPr/>
            <p:nvPr/>
          </p:nvSpPr>
          <p:spPr>
            <a:xfrm>
              <a:off x="-23158250" y="4097600"/>
              <a:ext cx="121300" cy="52000"/>
            </a:xfrm>
            <a:custGeom>
              <a:rect b="b" l="l" r="r" t="t"/>
              <a:pathLst>
                <a:path extrusionOk="0" h="2080" w="4852">
                  <a:moveTo>
                    <a:pt x="315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662"/>
                    <a:pt x="284" y="693"/>
                  </a:cubicBezTo>
                  <a:cubicBezTo>
                    <a:pt x="1008" y="914"/>
                    <a:pt x="1701" y="1355"/>
                    <a:pt x="2174" y="1922"/>
                  </a:cubicBezTo>
                  <a:cubicBezTo>
                    <a:pt x="2205" y="2017"/>
                    <a:pt x="2269" y="2080"/>
                    <a:pt x="2426" y="2080"/>
                  </a:cubicBezTo>
                  <a:cubicBezTo>
                    <a:pt x="2584" y="2080"/>
                    <a:pt x="2678" y="2017"/>
                    <a:pt x="2710" y="1922"/>
                  </a:cubicBezTo>
                  <a:cubicBezTo>
                    <a:pt x="3151" y="1355"/>
                    <a:pt x="3812" y="882"/>
                    <a:pt x="4568" y="662"/>
                  </a:cubicBezTo>
                  <a:cubicBezTo>
                    <a:pt x="4726" y="630"/>
                    <a:pt x="4852" y="504"/>
                    <a:pt x="4852" y="347"/>
                  </a:cubicBezTo>
                  <a:cubicBezTo>
                    <a:pt x="4852" y="158"/>
                    <a:pt x="4694" y="0"/>
                    <a:pt x="4474" y="0"/>
                  </a:cubicBezTo>
                  <a:lnTo>
                    <a:pt x="3371" y="0"/>
                  </a:lnTo>
                  <a:cubicBezTo>
                    <a:pt x="3214" y="410"/>
                    <a:pt x="2867" y="725"/>
                    <a:pt x="2395" y="725"/>
                  </a:cubicBezTo>
                  <a:cubicBezTo>
                    <a:pt x="1922" y="725"/>
                    <a:pt x="1575" y="441"/>
                    <a:pt x="1418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34"/>
            <p:cNvSpPr/>
            <p:nvPr/>
          </p:nvSpPr>
          <p:spPr>
            <a:xfrm>
              <a:off x="-23176375" y="3940850"/>
              <a:ext cx="52800" cy="26825"/>
            </a:xfrm>
            <a:custGeom>
              <a:rect b="b" l="l" r="r" t="t"/>
              <a:pathLst>
                <a:path extrusionOk="0" h="1073" w="2112">
                  <a:moveTo>
                    <a:pt x="725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851"/>
                    <a:pt x="64" y="978"/>
                    <a:pt x="127" y="1072"/>
                  </a:cubicBezTo>
                  <a:cubicBezTo>
                    <a:pt x="410" y="883"/>
                    <a:pt x="725" y="725"/>
                    <a:pt x="1072" y="725"/>
                  </a:cubicBezTo>
                  <a:lnTo>
                    <a:pt x="2111" y="725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34"/>
            <p:cNvSpPr/>
            <p:nvPr/>
          </p:nvSpPr>
          <p:spPr>
            <a:xfrm>
              <a:off x="-23166125" y="3976300"/>
              <a:ext cx="44125" cy="26800"/>
            </a:xfrm>
            <a:custGeom>
              <a:rect b="b" l="l" r="r" t="t"/>
              <a:pathLst>
                <a:path extrusionOk="0" h="1072" w="1765">
                  <a:moveTo>
                    <a:pt x="693" y="1"/>
                  </a:moveTo>
                  <a:cubicBezTo>
                    <a:pt x="315" y="1"/>
                    <a:pt x="0" y="316"/>
                    <a:pt x="0" y="725"/>
                  </a:cubicBezTo>
                  <a:cubicBezTo>
                    <a:pt x="0" y="851"/>
                    <a:pt x="32" y="1009"/>
                    <a:pt x="126" y="1072"/>
                  </a:cubicBezTo>
                  <a:cubicBezTo>
                    <a:pt x="347" y="820"/>
                    <a:pt x="693" y="725"/>
                    <a:pt x="1071" y="725"/>
                  </a:cubicBezTo>
                  <a:lnTo>
                    <a:pt x="1764" y="725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5"/>
          <p:cNvSpPr txBox="1"/>
          <p:nvPr/>
        </p:nvSpPr>
        <p:spPr>
          <a:xfrm>
            <a:off x="1875938" y="570925"/>
            <a:ext cx="60756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Modelo spine-leaf:  </a:t>
            </a:r>
            <a:r>
              <a:rPr lang="en" sz="3000">
                <a:solidFill>
                  <a:srgbClr val="FFFFFF"/>
                </a:solidFill>
                <a:latin typeface="Khand"/>
                <a:ea typeface="Khand"/>
                <a:cs typeface="Khand"/>
                <a:sym typeface="Khand"/>
              </a:rPr>
              <a:t>Spine</a:t>
            </a:r>
            <a:endParaRPr sz="300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316" name="Google Shape;316;p35"/>
          <p:cNvSpPr txBox="1"/>
          <p:nvPr/>
        </p:nvSpPr>
        <p:spPr>
          <a:xfrm>
            <a:off x="1815500" y="11392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El tronco de la topología Spine-Leaf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17" name="Google Shape;317;p35"/>
          <p:cNvSpPr txBox="1"/>
          <p:nvPr/>
        </p:nvSpPr>
        <p:spPr>
          <a:xfrm>
            <a:off x="1815500" y="1333963"/>
            <a:ext cx="6432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Son el centro de conectividad, desde donde se ramifican los leaf.</a:t>
            </a:r>
            <a:endParaRPr sz="13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18" name="Google Shape;318;p35"/>
          <p:cNvSpPr txBox="1"/>
          <p:nvPr/>
        </p:nvSpPr>
        <p:spPr>
          <a:xfrm>
            <a:off x="1115025" y="1613550"/>
            <a:ext cx="33015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Switches de alto rendimiento y baja latencia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19" name="Google Shape;319;p35"/>
          <p:cNvSpPr txBox="1"/>
          <p:nvPr/>
        </p:nvSpPr>
        <p:spPr>
          <a:xfrm>
            <a:off x="1115025" y="1797900"/>
            <a:ext cx="6865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Diseñados para manejar grandes volúmenes de tráfico entre Leaf, sin cuellos de botella.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20" name="Google Shape;320;p35"/>
          <p:cNvSpPr txBox="1"/>
          <p:nvPr/>
        </p:nvSpPr>
        <p:spPr>
          <a:xfrm>
            <a:off x="1771625" y="2081475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No se conectan entre sí ni a dispositivos finales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21" name="Google Shape;321;p35"/>
          <p:cNvSpPr txBox="1"/>
          <p:nvPr/>
        </p:nvSpPr>
        <p:spPr>
          <a:xfrm>
            <a:off x="1771625" y="2288950"/>
            <a:ext cx="6240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No enlazan con servidores ni se conectan entre ellos. Su función es solo </a:t>
            </a:r>
            <a:r>
              <a:rPr lang="en" sz="1100">
                <a:solidFill>
                  <a:srgbClr val="3B8794"/>
                </a:solidFill>
                <a:latin typeface="Karla Light"/>
                <a:ea typeface="Karla Light"/>
                <a:cs typeface="Karla Light"/>
                <a:sym typeface="Karla Light"/>
              </a:rPr>
              <a:t>transporte eficiente.</a:t>
            </a:r>
            <a:endParaRPr sz="1100">
              <a:solidFill>
                <a:srgbClr val="3B879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1382479" y="512423"/>
            <a:ext cx="450470" cy="449325"/>
            <a:chOff x="-20946600" y="3317850"/>
            <a:chExt cx="304825" cy="304050"/>
          </a:xfrm>
        </p:grpSpPr>
        <p:sp>
          <p:nvSpPr>
            <p:cNvPr id="323" name="Google Shape;323;p35"/>
            <p:cNvSpPr/>
            <p:nvPr/>
          </p:nvSpPr>
          <p:spPr>
            <a:xfrm>
              <a:off x="-20946600" y="3317850"/>
              <a:ext cx="232350" cy="248925"/>
            </a:xfrm>
            <a:custGeom>
              <a:rect b="b" l="l" r="r" t="t"/>
              <a:pathLst>
                <a:path extrusionOk="0" h="9957" w="9294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-20775700" y="3318650"/>
              <a:ext cx="133925" cy="249700"/>
            </a:xfrm>
            <a:custGeom>
              <a:rect b="b" l="l" r="r" t="t"/>
              <a:pathLst>
                <a:path extrusionOk="0" h="9988" w="5357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35"/>
            <p:cNvSpPr/>
            <p:nvPr/>
          </p:nvSpPr>
          <p:spPr>
            <a:xfrm>
              <a:off x="-20890700" y="3586425"/>
              <a:ext cx="195375" cy="35475"/>
            </a:xfrm>
            <a:custGeom>
              <a:rect b="b" l="l" r="r" t="t"/>
              <a:pathLst>
                <a:path extrusionOk="0" h="1419" w="7815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26" name="Google Shape;326;p35"/>
          <p:cNvSpPr txBox="1"/>
          <p:nvPr/>
        </p:nvSpPr>
        <p:spPr>
          <a:xfrm>
            <a:off x="1115025" y="2577363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Malla total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27" name="Google Shape;327;p35"/>
          <p:cNvSpPr txBox="1"/>
          <p:nvPr/>
        </p:nvSpPr>
        <p:spPr>
          <a:xfrm>
            <a:off x="1115025" y="2771513"/>
            <a:ext cx="6240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Esto garantiza rutas redundantes, tráfico balanceado y latencia uniforme.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28" name="Google Shape;328;p35"/>
          <p:cNvSpPr txBox="1"/>
          <p:nvPr/>
        </p:nvSpPr>
        <p:spPr>
          <a:xfrm>
            <a:off x="1803350" y="3010800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Escalado horizontal sencillo y limpio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29" name="Google Shape;329;p35"/>
          <p:cNvSpPr txBox="1"/>
          <p:nvPr/>
        </p:nvSpPr>
        <p:spPr>
          <a:xfrm>
            <a:off x="1803350" y="3218275"/>
            <a:ext cx="6240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Esto garantiza rutas redundantes, tráfico balanceado y latencia uniforme.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30" name="Google Shape;330;p35"/>
          <p:cNvSpPr txBox="1"/>
          <p:nvPr/>
        </p:nvSpPr>
        <p:spPr>
          <a:xfrm>
            <a:off x="1367050" y="3580500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Distribución, no concentración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31" name="Google Shape;331;p35"/>
          <p:cNvSpPr txBox="1"/>
          <p:nvPr/>
        </p:nvSpPr>
        <p:spPr>
          <a:xfrm>
            <a:off x="1367050" y="3787975"/>
            <a:ext cx="6240600" cy="11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No acumulan funciones, sino que reparten la carga y mantienen la red fluida y simétrica, entre cualquier par de nodos finales.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332" name="Google Shape;332;p35"/>
          <p:cNvGrpSpPr/>
          <p:nvPr/>
        </p:nvGrpSpPr>
        <p:grpSpPr>
          <a:xfrm>
            <a:off x="1490754" y="1266505"/>
            <a:ext cx="280873" cy="296283"/>
            <a:chOff x="-18645175" y="3334200"/>
            <a:chExt cx="307200" cy="305825"/>
          </a:xfrm>
        </p:grpSpPr>
        <p:sp>
          <p:nvSpPr>
            <p:cNvPr id="333" name="Google Shape;333;p35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35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35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" name="Google Shape;336;p35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35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8" name="Google Shape;338;p35"/>
          <p:cNvGrpSpPr/>
          <p:nvPr/>
        </p:nvGrpSpPr>
        <p:grpSpPr>
          <a:xfrm>
            <a:off x="834154" y="1775093"/>
            <a:ext cx="280873" cy="296283"/>
            <a:chOff x="-18645175" y="3334200"/>
            <a:chExt cx="307200" cy="305825"/>
          </a:xfrm>
        </p:grpSpPr>
        <p:sp>
          <p:nvSpPr>
            <p:cNvPr id="339" name="Google Shape;339;p35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p35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" name="Google Shape;341;p35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" name="Google Shape;342;p35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35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4" name="Google Shape;344;p35"/>
          <p:cNvGrpSpPr/>
          <p:nvPr/>
        </p:nvGrpSpPr>
        <p:grpSpPr>
          <a:xfrm>
            <a:off x="1490754" y="2201668"/>
            <a:ext cx="280873" cy="296283"/>
            <a:chOff x="-18645175" y="3334200"/>
            <a:chExt cx="307200" cy="305825"/>
          </a:xfrm>
        </p:grpSpPr>
        <p:sp>
          <p:nvSpPr>
            <p:cNvPr id="345" name="Google Shape;345;p35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35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35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35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35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0" name="Google Shape;350;p35"/>
          <p:cNvGrpSpPr/>
          <p:nvPr/>
        </p:nvGrpSpPr>
        <p:grpSpPr>
          <a:xfrm>
            <a:off x="834154" y="2694043"/>
            <a:ext cx="280873" cy="296283"/>
            <a:chOff x="-18645175" y="3334200"/>
            <a:chExt cx="307200" cy="305825"/>
          </a:xfrm>
        </p:grpSpPr>
        <p:sp>
          <p:nvSpPr>
            <p:cNvPr id="351" name="Google Shape;351;p35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35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35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35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35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6" name="Google Shape;356;p35"/>
          <p:cNvGrpSpPr/>
          <p:nvPr/>
        </p:nvGrpSpPr>
        <p:grpSpPr>
          <a:xfrm>
            <a:off x="1490754" y="3162143"/>
            <a:ext cx="280873" cy="296283"/>
            <a:chOff x="-18645175" y="3334200"/>
            <a:chExt cx="307200" cy="305825"/>
          </a:xfrm>
        </p:grpSpPr>
        <p:sp>
          <p:nvSpPr>
            <p:cNvPr id="357" name="Google Shape;357;p35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35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35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35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2" name="Google Shape;362;p35"/>
          <p:cNvGrpSpPr/>
          <p:nvPr/>
        </p:nvGrpSpPr>
        <p:grpSpPr>
          <a:xfrm>
            <a:off x="1086179" y="3698818"/>
            <a:ext cx="280873" cy="296283"/>
            <a:chOff x="-18645175" y="3334200"/>
            <a:chExt cx="307200" cy="305825"/>
          </a:xfrm>
        </p:grpSpPr>
        <p:sp>
          <p:nvSpPr>
            <p:cNvPr id="363" name="Google Shape;363;p35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35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35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35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35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6"/>
          <p:cNvSpPr txBox="1"/>
          <p:nvPr/>
        </p:nvSpPr>
        <p:spPr>
          <a:xfrm>
            <a:off x="1371275" y="836850"/>
            <a:ext cx="46554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rgbClr val="51AFDB"/>
                </a:solidFill>
                <a:latin typeface="Audiowide"/>
                <a:ea typeface="Audiowide"/>
                <a:cs typeface="Audiowide"/>
                <a:sym typeface="Audiowide"/>
              </a:rPr>
              <a:t>Modelo spine-leaf: </a:t>
            </a:r>
            <a:r>
              <a:rPr lang="en" sz="2500">
                <a:solidFill>
                  <a:srgbClr val="FFFFFF"/>
                </a:solidFill>
                <a:latin typeface="Audiowide"/>
                <a:ea typeface="Audiowide"/>
                <a:cs typeface="Audiowide"/>
                <a:sym typeface="Audiowide"/>
              </a:rPr>
              <a:t>Leaf</a:t>
            </a:r>
            <a:endParaRPr sz="2500">
              <a:solidFill>
                <a:srgbClr val="FFFFFF"/>
              </a:solidFill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373" name="Google Shape;373;p36"/>
          <p:cNvSpPr txBox="1"/>
          <p:nvPr/>
        </p:nvSpPr>
        <p:spPr>
          <a:xfrm>
            <a:off x="1288600" y="15667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Punto de conexión final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74" name="Google Shape;374;p36"/>
          <p:cNvSpPr txBox="1"/>
          <p:nvPr/>
        </p:nvSpPr>
        <p:spPr>
          <a:xfrm>
            <a:off x="1288600" y="1741063"/>
            <a:ext cx="54633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Representan la primera capa de conexión hacia los dispositivos finales</a:t>
            </a:r>
            <a:endParaRPr sz="13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75" name="Google Shape;375;p36"/>
          <p:cNvSpPr txBox="1"/>
          <p:nvPr/>
        </p:nvSpPr>
        <p:spPr>
          <a:xfrm>
            <a:off x="1288600" y="209951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No se conectan entre sí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76" name="Google Shape;376;p36"/>
          <p:cNvSpPr txBox="1"/>
          <p:nvPr/>
        </p:nvSpPr>
        <p:spPr>
          <a:xfrm>
            <a:off x="1288600" y="2283863"/>
            <a:ext cx="6865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Los leaf solo se conectan a los spine. Esta separación garantiza latencia predecible y evita bucles.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77" name="Google Shape;377;p36"/>
          <p:cNvSpPr txBox="1"/>
          <p:nvPr/>
        </p:nvSpPr>
        <p:spPr>
          <a:xfrm>
            <a:off x="1288600" y="262011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Malla completa norte-sur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78" name="Google Shape;378;p36"/>
          <p:cNvSpPr txBox="1"/>
          <p:nvPr/>
        </p:nvSpPr>
        <p:spPr>
          <a:xfrm>
            <a:off x="1288600" y="2816463"/>
            <a:ext cx="6997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Cada leaf está conectado a todos los spine, formando una red con redundancia y múltiples rutas.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79" name="Google Shape;379;p36"/>
          <p:cNvSpPr txBox="1"/>
          <p:nvPr/>
        </p:nvSpPr>
        <p:spPr>
          <a:xfrm>
            <a:off x="1288600" y="31956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Escalabilidad horizontal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80" name="Google Shape;380;p36"/>
          <p:cNvSpPr txBox="1"/>
          <p:nvPr/>
        </p:nvSpPr>
        <p:spPr>
          <a:xfrm>
            <a:off x="1288600" y="3375438"/>
            <a:ext cx="6997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Se pueden añadir nuevos Leaf sin rediseñar la red, permitiendo crecer sin romper el diseño de red.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81" name="Google Shape;381;p36"/>
          <p:cNvSpPr txBox="1"/>
          <p:nvPr/>
        </p:nvSpPr>
        <p:spPr>
          <a:xfrm>
            <a:off x="1288600" y="363590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Crítico en entornos sensibles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82" name="Google Shape;382;p36"/>
          <p:cNvSpPr txBox="1"/>
          <p:nvPr/>
        </p:nvSpPr>
        <p:spPr>
          <a:xfrm>
            <a:off x="1288600" y="3815700"/>
            <a:ext cx="6997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Esenciales para asegurar alta disponibilidad, baja latencia y flujo constante de datos críticos.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383" name="Google Shape;383;p36"/>
          <p:cNvGrpSpPr/>
          <p:nvPr/>
        </p:nvGrpSpPr>
        <p:grpSpPr>
          <a:xfrm>
            <a:off x="1014916" y="778348"/>
            <a:ext cx="450470" cy="449325"/>
            <a:chOff x="-20946600" y="3317850"/>
            <a:chExt cx="304825" cy="304050"/>
          </a:xfrm>
        </p:grpSpPr>
        <p:sp>
          <p:nvSpPr>
            <p:cNvPr id="384" name="Google Shape;384;p36"/>
            <p:cNvSpPr/>
            <p:nvPr/>
          </p:nvSpPr>
          <p:spPr>
            <a:xfrm>
              <a:off x="-20946600" y="3317850"/>
              <a:ext cx="232350" cy="248925"/>
            </a:xfrm>
            <a:custGeom>
              <a:rect b="b" l="l" r="r" t="t"/>
              <a:pathLst>
                <a:path extrusionOk="0" h="9957" w="9294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36"/>
            <p:cNvSpPr/>
            <p:nvPr/>
          </p:nvSpPr>
          <p:spPr>
            <a:xfrm>
              <a:off x="-20775700" y="3318650"/>
              <a:ext cx="133925" cy="249700"/>
            </a:xfrm>
            <a:custGeom>
              <a:rect b="b" l="l" r="r" t="t"/>
              <a:pathLst>
                <a:path extrusionOk="0" h="9988" w="5357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36"/>
            <p:cNvSpPr/>
            <p:nvPr/>
          </p:nvSpPr>
          <p:spPr>
            <a:xfrm>
              <a:off x="-20890700" y="3586425"/>
              <a:ext cx="195375" cy="35475"/>
            </a:xfrm>
            <a:custGeom>
              <a:rect b="b" l="l" r="r" t="t"/>
              <a:pathLst>
                <a:path extrusionOk="0" h="1419" w="7815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387" name="Google Shape;38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1741061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2254986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2805786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3393973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3862973"/>
            <a:ext cx="273675" cy="27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7"/>
          <p:cNvSpPr txBox="1"/>
          <p:nvPr/>
        </p:nvSpPr>
        <p:spPr>
          <a:xfrm>
            <a:off x="1373225" y="815050"/>
            <a:ext cx="60756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rgbClr val="51AFDB"/>
                </a:solidFill>
                <a:latin typeface="Audiowide"/>
                <a:ea typeface="Audiowide"/>
                <a:cs typeface="Audiowide"/>
                <a:sym typeface="Audiowide"/>
              </a:rPr>
              <a:t>Modelo spine-leaf:  </a:t>
            </a:r>
            <a:r>
              <a:rPr lang="en" sz="2500">
                <a:solidFill>
                  <a:srgbClr val="FFFFFF"/>
                </a:solidFill>
                <a:latin typeface="Audiowide"/>
                <a:ea typeface="Audiowide"/>
                <a:cs typeface="Audiowide"/>
                <a:sym typeface="Audiowide"/>
              </a:rPr>
              <a:t>Border leaf </a:t>
            </a:r>
            <a:endParaRPr sz="2500">
              <a:solidFill>
                <a:srgbClr val="FFFFFF"/>
              </a:solidFill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397" name="Google Shape;397;p37"/>
          <p:cNvSpPr txBox="1"/>
          <p:nvPr/>
        </p:nvSpPr>
        <p:spPr>
          <a:xfrm>
            <a:off x="1348925" y="164541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Leaf especializado para el exterior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98" name="Google Shape;398;p37"/>
          <p:cNvSpPr txBox="1"/>
          <p:nvPr/>
        </p:nvSpPr>
        <p:spPr>
          <a:xfrm>
            <a:off x="1348925" y="1819713"/>
            <a:ext cx="6432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Conecta la red Spine-Leaf interna con Internet, redes WAN o centros de datos externos.</a:t>
            </a:r>
            <a:endParaRPr sz="13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99" name="Google Shape;399;p37"/>
          <p:cNvSpPr txBox="1"/>
          <p:nvPr/>
        </p:nvSpPr>
        <p:spPr>
          <a:xfrm>
            <a:off x="1348925" y="2101788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Punto de control del tráfico externo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00" name="Google Shape;400;p37"/>
          <p:cNvSpPr txBox="1"/>
          <p:nvPr/>
        </p:nvSpPr>
        <p:spPr>
          <a:xfrm>
            <a:off x="1348925" y="2286138"/>
            <a:ext cx="6865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Filtra y redirige tráfico que entra o sale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01" name="Google Shape;401;p37"/>
          <p:cNvSpPr txBox="1"/>
          <p:nvPr/>
        </p:nvSpPr>
        <p:spPr>
          <a:xfrm>
            <a:off x="1348925" y="254201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Función clave en redes virtualizadas y cloud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02" name="Google Shape;402;p37"/>
          <p:cNvSpPr txBox="1"/>
          <p:nvPr/>
        </p:nvSpPr>
        <p:spPr>
          <a:xfrm>
            <a:off x="1370875" y="2754675"/>
            <a:ext cx="6997500" cy="7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Traduce entre dominios físicos y virtuales, y conecta redes segmentadas o superpuestas. Es común que trabaje con firewalls, IDS/IPS y controladores SDN.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403" name="Google Shape;403;p37"/>
          <p:cNvGrpSpPr/>
          <p:nvPr/>
        </p:nvGrpSpPr>
        <p:grpSpPr>
          <a:xfrm>
            <a:off x="1016866" y="756548"/>
            <a:ext cx="450470" cy="449325"/>
            <a:chOff x="-20946600" y="3317850"/>
            <a:chExt cx="304825" cy="304050"/>
          </a:xfrm>
        </p:grpSpPr>
        <p:sp>
          <p:nvSpPr>
            <p:cNvPr id="404" name="Google Shape;404;p37"/>
            <p:cNvSpPr/>
            <p:nvPr/>
          </p:nvSpPr>
          <p:spPr>
            <a:xfrm>
              <a:off x="-20946600" y="3317850"/>
              <a:ext cx="232350" cy="248925"/>
            </a:xfrm>
            <a:custGeom>
              <a:rect b="b" l="l" r="r" t="t"/>
              <a:pathLst>
                <a:path extrusionOk="0" h="9957" w="9294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37"/>
            <p:cNvSpPr/>
            <p:nvPr/>
          </p:nvSpPr>
          <p:spPr>
            <a:xfrm>
              <a:off x="-20775700" y="3318650"/>
              <a:ext cx="133925" cy="249700"/>
            </a:xfrm>
            <a:custGeom>
              <a:rect b="b" l="l" r="r" t="t"/>
              <a:pathLst>
                <a:path extrusionOk="0" h="9988" w="5357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37"/>
            <p:cNvSpPr/>
            <p:nvPr/>
          </p:nvSpPr>
          <p:spPr>
            <a:xfrm>
              <a:off x="-20890700" y="3586425"/>
              <a:ext cx="195375" cy="35475"/>
            </a:xfrm>
            <a:custGeom>
              <a:rect b="b" l="l" r="r" t="t"/>
              <a:pathLst>
                <a:path extrusionOk="0" h="1419" w="7815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407" name="Google Shape;40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6875" y="1747779"/>
            <a:ext cx="354000" cy="35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8" name="Google Shape;40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6875" y="2173704"/>
            <a:ext cx="354000" cy="35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" name="Google Shape;409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6875" y="2658304"/>
            <a:ext cx="354000" cy="3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8"/>
          <p:cNvSpPr txBox="1"/>
          <p:nvPr/>
        </p:nvSpPr>
        <p:spPr>
          <a:xfrm>
            <a:off x="1686300" y="1112825"/>
            <a:ext cx="49419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Separación por zonas funcionales</a:t>
            </a:r>
            <a:endParaRPr sz="300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rgbClr val="51AFDB"/>
              </a:solidFill>
              <a:latin typeface="Audiowide"/>
              <a:ea typeface="Audiowide"/>
              <a:cs typeface="Audiowide"/>
              <a:sym typeface="Audiowide"/>
            </a:endParaRPr>
          </a:p>
        </p:txBody>
      </p:sp>
      <p:grpSp>
        <p:nvGrpSpPr>
          <p:cNvPr id="415" name="Google Shape;415;p38"/>
          <p:cNvGrpSpPr/>
          <p:nvPr/>
        </p:nvGrpSpPr>
        <p:grpSpPr>
          <a:xfrm>
            <a:off x="4728831" y="3206251"/>
            <a:ext cx="1340445" cy="594022"/>
            <a:chOff x="1498221" y="4047614"/>
            <a:chExt cx="529172" cy="240787"/>
          </a:xfrm>
        </p:grpSpPr>
        <p:grpSp>
          <p:nvGrpSpPr>
            <p:cNvPr id="416" name="Google Shape;416;p38"/>
            <p:cNvGrpSpPr/>
            <p:nvPr/>
          </p:nvGrpSpPr>
          <p:grpSpPr>
            <a:xfrm>
              <a:off x="1826655" y="4224370"/>
              <a:ext cx="200738" cy="25631"/>
              <a:chOff x="1826655" y="4224370"/>
              <a:chExt cx="200738" cy="25631"/>
            </a:xfrm>
          </p:grpSpPr>
          <p:sp>
            <p:nvSpPr>
              <p:cNvPr id="417" name="Google Shape;417;p38"/>
              <p:cNvSpPr/>
              <p:nvPr/>
            </p:nvSpPr>
            <p:spPr>
              <a:xfrm>
                <a:off x="1826655" y="4238011"/>
                <a:ext cx="175094" cy="5"/>
              </a:xfrm>
              <a:custGeom>
                <a:rect b="b" l="l" r="r" t="t"/>
                <a:pathLst>
                  <a:path extrusionOk="0" fill="none" h="1" w="36535">
                    <a:moveTo>
                      <a:pt x="1" y="0"/>
                    </a:moveTo>
                    <a:lnTo>
                      <a:pt x="36535" y="0"/>
                    </a:lnTo>
                  </a:path>
                </a:pathLst>
              </a:custGeom>
              <a:noFill/>
              <a:ln cap="rnd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8" name="Google Shape;418;p38"/>
              <p:cNvSpPr/>
              <p:nvPr/>
            </p:nvSpPr>
            <p:spPr>
              <a:xfrm>
                <a:off x="2000728" y="4224370"/>
                <a:ext cx="26665" cy="25631"/>
              </a:xfrm>
              <a:custGeom>
                <a:rect b="b" l="l" r="r" t="t"/>
                <a:pathLst>
                  <a:path extrusionOk="0" h="5351" w="5564">
                    <a:moveTo>
                      <a:pt x="2887" y="0"/>
                    </a:moveTo>
                    <a:cubicBezTo>
                      <a:pt x="2190" y="0"/>
                      <a:pt x="1506" y="271"/>
                      <a:pt x="996" y="783"/>
                    </a:cubicBezTo>
                    <a:cubicBezTo>
                      <a:pt x="230" y="1550"/>
                      <a:pt x="0" y="2699"/>
                      <a:pt x="416" y="3698"/>
                    </a:cubicBezTo>
                    <a:cubicBezTo>
                      <a:pt x="828" y="4698"/>
                      <a:pt x="1806" y="5351"/>
                      <a:pt x="2886" y="5351"/>
                    </a:cubicBezTo>
                    <a:cubicBezTo>
                      <a:pt x="4363" y="5351"/>
                      <a:pt x="5560" y="4150"/>
                      <a:pt x="5563" y="2677"/>
                    </a:cubicBezTo>
                    <a:cubicBezTo>
                      <a:pt x="5560" y="1593"/>
                      <a:pt x="4911" y="619"/>
                      <a:pt x="3911" y="203"/>
                    </a:cubicBezTo>
                    <a:cubicBezTo>
                      <a:pt x="3580" y="67"/>
                      <a:pt x="3232" y="0"/>
                      <a:pt x="2887" y="0"/>
                    </a:cubicBezTo>
                    <a:close/>
                  </a:path>
                </a:pathLst>
              </a:custGeom>
              <a:solidFill>
                <a:srgbClr val="213B55"/>
              </a:solidFill>
              <a:ln cap="flat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19" name="Google Shape;419;p38"/>
            <p:cNvGrpSpPr/>
            <p:nvPr/>
          </p:nvGrpSpPr>
          <p:grpSpPr>
            <a:xfrm>
              <a:off x="1498221" y="4047614"/>
              <a:ext cx="416878" cy="240787"/>
              <a:chOff x="1498221" y="4047614"/>
              <a:chExt cx="416878" cy="240787"/>
            </a:xfrm>
          </p:grpSpPr>
          <p:sp>
            <p:nvSpPr>
              <p:cNvPr id="420" name="Google Shape;420;p38"/>
              <p:cNvSpPr/>
              <p:nvPr/>
            </p:nvSpPr>
            <p:spPr>
              <a:xfrm>
                <a:off x="1648778" y="4185665"/>
                <a:ext cx="266322" cy="102736"/>
              </a:xfrm>
              <a:custGeom>
                <a:rect b="b" l="l" r="r" t="t"/>
                <a:pathLst>
                  <a:path extrusionOk="0" h="21448" w="37118">
                    <a:moveTo>
                      <a:pt x="4950" y="1"/>
                    </a:moveTo>
                    <a:cubicBezTo>
                      <a:pt x="2218" y="1"/>
                      <a:pt x="0" y="2679"/>
                      <a:pt x="0" y="5984"/>
                    </a:cubicBezTo>
                    <a:lnTo>
                      <a:pt x="0" y="15461"/>
                    </a:lnTo>
                    <a:cubicBezTo>
                      <a:pt x="0" y="18766"/>
                      <a:pt x="2218" y="21447"/>
                      <a:pt x="4950" y="21447"/>
                    </a:cubicBezTo>
                    <a:lnTo>
                      <a:pt x="32168" y="21447"/>
                    </a:lnTo>
                    <a:cubicBezTo>
                      <a:pt x="34904" y="21447"/>
                      <a:pt x="37118" y="18766"/>
                      <a:pt x="37118" y="15461"/>
                    </a:cubicBezTo>
                    <a:lnTo>
                      <a:pt x="37118" y="5984"/>
                    </a:lnTo>
                    <a:cubicBezTo>
                      <a:pt x="37118" y="2679"/>
                      <a:pt x="34904" y="1"/>
                      <a:pt x="32168" y="1"/>
                    </a:cubicBezTo>
                    <a:close/>
                  </a:path>
                </a:pathLst>
              </a:custGeom>
              <a:solidFill>
                <a:srgbClr val="213B55"/>
              </a:solidFill>
              <a:ln cap="flat" cmpd="sng" w="9525">
                <a:solidFill>
                  <a:srgbClr val="51AFDB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421" name="Google Shape;421;p38"/>
              <p:cNvGrpSpPr/>
              <p:nvPr/>
            </p:nvGrpSpPr>
            <p:grpSpPr>
              <a:xfrm>
                <a:off x="1498221" y="4047614"/>
                <a:ext cx="150566" cy="190416"/>
                <a:chOff x="1498221" y="4047614"/>
                <a:chExt cx="150566" cy="190416"/>
              </a:xfrm>
            </p:grpSpPr>
            <p:sp>
              <p:nvSpPr>
                <p:cNvPr id="422" name="Google Shape;422;p38"/>
                <p:cNvSpPr/>
                <p:nvPr/>
              </p:nvSpPr>
              <p:spPr>
                <a:xfrm>
                  <a:off x="1510686" y="4060421"/>
                  <a:ext cx="138101" cy="177608"/>
                </a:xfrm>
                <a:custGeom>
                  <a:rect b="b" l="l" r="r" t="t"/>
                  <a:pathLst>
                    <a:path extrusionOk="0" fill="none" h="37079" w="28816">
                      <a:moveTo>
                        <a:pt x="28815" y="37078"/>
                      </a:moveTo>
                      <a:lnTo>
                        <a:pt x="17922" y="37078"/>
                      </a:lnTo>
                      <a:cubicBezTo>
                        <a:pt x="14829" y="37078"/>
                        <a:pt x="14212" y="33613"/>
                        <a:pt x="14212" y="33613"/>
                      </a:cubicBezTo>
                      <a:lnTo>
                        <a:pt x="14212" y="10631"/>
                      </a:lnTo>
                      <a:lnTo>
                        <a:pt x="0" y="10631"/>
                      </a:lnTo>
                      <a:lnTo>
                        <a:pt x="0" y="1"/>
                      </a:lnTo>
                    </a:path>
                  </a:pathLst>
                </a:custGeom>
                <a:noFill/>
                <a:ln cap="rnd" cmpd="sng" w="9525">
                  <a:solidFill>
                    <a:srgbClr val="51AFD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3" name="Google Shape;423;p38"/>
                <p:cNvSpPr/>
                <p:nvPr/>
              </p:nvSpPr>
              <p:spPr>
                <a:xfrm>
                  <a:off x="1498221" y="4047614"/>
                  <a:ext cx="26646" cy="25622"/>
                </a:xfrm>
                <a:custGeom>
                  <a:rect b="b" l="l" r="r" t="t"/>
                  <a:pathLst>
                    <a:path extrusionOk="0" h="5349" w="5560">
                      <a:moveTo>
                        <a:pt x="2886" y="1"/>
                      </a:moveTo>
                      <a:cubicBezTo>
                        <a:pt x="1806" y="1"/>
                        <a:pt x="828" y="654"/>
                        <a:pt x="416" y="1653"/>
                      </a:cubicBezTo>
                      <a:cubicBezTo>
                        <a:pt x="0" y="2649"/>
                        <a:pt x="230" y="3802"/>
                        <a:pt x="996" y="4564"/>
                      </a:cubicBezTo>
                      <a:cubicBezTo>
                        <a:pt x="1506" y="5077"/>
                        <a:pt x="2190" y="5349"/>
                        <a:pt x="2886" y="5349"/>
                      </a:cubicBezTo>
                      <a:cubicBezTo>
                        <a:pt x="3232" y="5349"/>
                        <a:pt x="3580" y="5282"/>
                        <a:pt x="3911" y="5144"/>
                      </a:cubicBezTo>
                      <a:cubicBezTo>
                        <a:pt x="4910" y="4732"/>
                        <a:pt x="5560" y="3758"/>
                        <a:pt x="5560" y="2675"/>
                      </a:cubicBezTo>
                      <a:cubicBezTo>
                        <a:pt x="5560" y="1197"/>
                        <a:pt x="4363" y="1"/>
                        <a:pt x="288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 cap="flat" cmpd="sng" w="9525">
                  <a:solidFill>
                    <a:srgbClr val="51AFD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424" name="Google Shape;424;p38"/>
          <p:cNvSpPr/>
          <p:nvPr/>
        </p:nvSpPr>
        <p:spPr>
          <a:xfrm>
            <a:off x="5959150" y="3198620"/>
            <a:ext cx="57643" cy="63212"/>
          </a:xfrm>
          <a:custGeom>
            <a:rect b="b" l="l" r="r" t="t"/>
            <a:pathLst>
              <a:path extrusionOk="0" h="5349" w="5560">
                <a:moveTo>
                  <a:pt x="2886" y="0"/>
                </a:moveTo>
                <a:cubicBezTo>
                  <a:pt x="1806" y="0"/>
                  <a:pt x="828" y="650"/>
                  <a:pt x="416" y="1649"/>
                </a:cubicBezTo>
                <a:cubicBezTo>
                  <a:pt x="0" y="2649"/>
                  <a:pt x="230" y="3802"/>
                  <a:pt x="993" y="4564"/>
                </a:cubicBezTo>
                <a:cubicBezTo>
                  <a:pt x="1505" y="5076"/>
                  <a:pt x="2190" y="5349"/>
                  <a:pt x="2887" y="5349"/>
                </a:cubicBezTo>
                <a:cubicBezTo>
                  <a:pt x="3232" y="5349"/>
                  <a:pt x="3580" y="5282"/>
                  <a:pt x="3911" y="5144"/>
                </a:cubicBezTo>
                <a:cubicBezTo>
                  <a:pt x="4910" y="4732"/>
                  <a:pt x="5560" y="3758"/>
                  <a:pt x="5560" y="2674"/>
                </a:cubicBezTo>
                <a:cubicBezTo>
                  <a:pt x="5560" y="1197"/>
                  <a:pt x="4363" y="0"/>
                  <a:pt x="2886" y="0"/>
                </a:cubicBezTo>
                <a:close/>
              </a:path>
            </a:pathLst>
          </a:custGeom>
          <a:solidFill>
            <a:srgbClr val="869FB1"/>
          </a:solidFill>
          <a:ln cap="flat" cmpd="sng" w="9525">
            <a:solidFill>
              <a:srgbClr val="51AF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38"/>
          <p:cNvSpPr/>
          <p:nvPr/>
        </p:nvSpPr>
        <p:spPr>
          <a:xfrm>
            <a:off x="4210133" y="2590614"/>
            <a:ext cx="654863" cy="746405"/>
          </a:xfrm>
          <a:custGeom>
            <a:rect b="b" l="l" r="r" t="t"/>
            <a:pathLst>
              <a:path extrusionOk="0" fill="none" h="63161" w="63165">
                <a:moveTo>
                  <a:pt x="63165" y="31580"/>
                </a:moveTo>
                <a:cubicBezTo>
                  <a:pt x="63165" y="49021"/>
                  <a:pt x="49025" y="63161"/>
                  <a:pt x="31585" y="63161"/>
                </a:cubicBezTo>
                <a:cubicBezTo>
                  <a:pt x="14140" y="63161"/>
                  <a:pt x="1" y="49021"/>
                  <a:pt x="1" y="31580"/>
                </a:cubicBezTo>
                <a:cubicBezTo>
                  <a:pt x="1" y="14140"/>
                  <a:pt x="14140" y="0"/>
                  <a:pt x="31585" y="0"/>
                </a:cubicBezTo>
                <a:cubicBezTo>
                  <a:pt x="49025" y="0"/>
                  <a:pt x="63165" y="14140"/>
                  <a:pt x="63165" y="31580"/>
                </a:cubicBezTo>
                <a:close/>
              </a:path>
            </a:pathLst>
          </a:custGeom>
          <a:noFill/>
          <a:ln cap="flat" cmpd="sng" w="9525">
            <a:solidFill>
              <a:srgbClr val="51AFDB"/>
            </a:solidFill>
            <a:prstDash val="solid"/>
            <a:miter lim="3647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6" name="Google Shape;426;p38"/>
          <p:cNvGrpSpPr/>
          <p:nvPr/>
        </p:nvGrpSpPr>
        <p:grpSpPr>
          <a:xfrm>
            <a:off x="3186769" y="2115500"/>
            <a:ext cx="1157931" cy="614908"/>
            <a:chOff x="785350" y="3605480"/>
            <a:chExt cx="535311" cy="249243"/>
          </a:xfrm>
        </p:grpSpPr>
        <p:grpSp>
          <p:nvGrpSpPr>
            <p:cNvPr id="427" name="Google Shape;427;p38"/>
            <p:cNvGrpSpPr/>
            <p:nvPr/>
          </p:nvGrpSpPr>
          <p:grpSpPr>
            <a:xfrm>
              <a:off x="785350" y="3605480"/>
              <a:ext cx="376226" cy="102736"/>
              <a:chOff x="785350" y="3605480"/>
              <a:chExt cx="376226" cy="102736"/>
            </a:xfrm>
          </p:grpSpPr>
          <p:sp>
            <p:nvSpPr>
              <p:cNvPr id="428" name="Google Shape;428;p38"/>
              <p:cNvSpPr/>
              <p:nvPr/>
            </p:nvSpPr>
            <p:spPr>
              <a:xfrm>
                <a:off x="808023" y="3655851"/>
                <a:ext cx="175636" cy="5"/>
              </a:xfrm>
              <a:custGeom>
                <a:rect b="b" l="l" r="r" t="t"/>
                <a:pathLst>
                  <a:path extrusionOk="0" fill="none" h="1" w="36648">
                    <a:moveTo>
                      <a:pt x="36648" y="1"/>
                    </a:moveTo>
                    <a:lnTo>
                      <a:pt x="1" y="1"/>
                    </a:lnTo>
                  </a:path>
                </a:pathLst>
              </a:custGeom>
              <a:noFill/>
              <a:ln cap="rnd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" name="Google Shape;429;p38"/>
              <p:cNvSpPr/>
              <p:nvPr/>
            </p:nvSpPr>
            <p:spPr>
              <a:xfrm>
                <a:off x="785350" y="3643867"/>
                <a:ext cx="25635" cy="25622"/>
              </a:xfrm>
              <a:custGeom>
                <a:rect b="b" l="l" r="r" t="t"/>
                <a:pathLst>
                  <a:path extrusionOk="0" h="5349" w="5349">
                    <a:moveTo>
                      <a:pt x="2674" y="0"/>
                    </a:moveTo>
                    <a:cubicBezTo>
                      <a:pt x="1197" y="0"/>
                      <a:pt x="0" y="1197"/>
                      <a:pt x="0" y="2674"/>
                    </a:cubicBezTo>
                    <a:cubicBezTo>
                      <a:pt x="0" y="4152"/>
                      <a:pt x="1197" y="5348"/>
                      <a:pt x="2674" y="5348"/>
                    </a:cubicBezTo>
                    <a:cubicBezTo>
                      <a:pt x="4152" y="5348"/>
                      <a:pt x="5348" y="4152"/>
                      <a:pt x="5348" y="2674"/>
                    </a:cubicBezTo>
                    <a:cubicBezTo>
                      <a:pt x="5348" y="1197"/>
                      <a:pt x="4152" y="0"/>
                      <a:pt x="2674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 cap="flat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" name="Google Shape;430;p38"/>
              <p:cNvSpPr/>
              <p:nvPr/>
            </p:nvSpPr>
            <p:spPr>
              <a:xfrm>
                <a:off x="918817" y="3605480"/>
                <a:ext cx="242758" cy="102736"/>
              </a:xfrm>
              <a:custGeom>
                <a:rect b="b" l="l" r="r" t="t"/>
                <a:pathLst>
                  <a:path extrusionOk="0" h="21448" w="37119">
                    <a:moveTo>
                      <a:pt x="4951" y="1"/>
                    </a:moveTo>
                    <a:cubicBezTo>
                      <a:pt x="2219" y="1"/>
                      <a:pt x="1" y="2682"/>
                      <a:pt x="1" y="5987"/>
                    </a:cubicBezTo>
                    <a:lnTo>
                      <a:pt x="1" y="15464"/>
                    </a:lnTo>
                    <a:cubicBezTo>
                      <a:pt x="1" y="18769"/>
                      <a:pt x="2219" y="21447"/>
                      <a:pt x="4951" y="21447"/>
                    </a:cubicBezTo>
                    <a:lnTo>
                      <a:pt x="32172" y="21447"/>
                    </a:lnTo>
                    <a:cubicBezTo>
                      <a:pt x="34904" y="21447"/>
                      <a:pt x="37119" y="18769"/>
                      <a:pt x="37119" y="15464"/>
                    </a:cubicBezTo>
                    <a:lnTo>
                      <a:pt x="37119" y="5987"/>
                    </a:lnTo>
                    <a:cubicBezTo>
                      <a:pt x="37119" y="2682"/>
                      <a:pt x="34904" y="1"/>
                      <a:pt x="32172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 cap="flat" cmpd="sng" w="9525">
                <a:solidFill>
                  <a:srgbClr val="51AFDB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31" name="Google Shape;431;p38"/>
            <p:cNvGrpSpPr/>
            <p:nvPr/>
          </p:nvGrpSpPr>
          <p:grpSpPr>
            <a:xfrm>
              <a:off x="1161530" y="3655851"/>
              <a:ext cx="159131" cy="198872"/>
              <a:chOff x="1161530" y="3655851"/>
              <a:chExt cx="159131" cy="198872"/>
            </a:xfrm>
          </p:grpSpPr>
          <p:sp>
            <p:nvSpPr>
              <p:cNvPr id="432" name="Google Shape;432;p38"/>
              <p:cNvSpPr/>
              <p:nvPr/>
            </p:nvSpPr>
            <p:spPr>
              <a:xfrm>
                <a:off x="1161530" y="3655851"/>
                <a:ext cx="146440" cy="186082"/>
              </a:xfrm>
              <a:custGeom>
                <a:rect b="b" l="l" r="r" t="t"/>
                <a:pathLst>
                  <a:path extrusionOk="0" fill="none" h="38848" w="30556">
                    <a:moveTo>
                      <a:pt x="1" y="1"/>
                    </a:moveTo>
                    <a:lnTo>
                      <a:pt x="12633" y="1"/>
                    </a:lnTo>
                    <a:cubicBezTo>
                      <a:pt x="15723" y="1"/>
                      <a:pt x="16343" y="3466"/>
                      <a:pt x="16343" y="3466"/>
                    </a:cubicBezTo>
                    <a:lnTo>
                      <a:pt x="16343" y="26448"/>
                    </a:lnTo>
                    <a:lnTo>
                      <a:pt x="30556" y="26448"/>
                    </a:lnTo>
                    <a:lnTo>
                      <a:pt x="30556" y="38848"/>
                    </a:lnTo>
                  </a:path>
                </a:pathLst>
              </a:custGeom>
              <a:noFill/>
              <a:ln cap="rnd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3" name="Google Shape;433;p38"/>
              <p:cNvSpPr/>
              <p:nvPr/>
            </p:nvSpPr>
            <p:spPr>
              <a:xfrm>
                <a:off x="1293991" y="3829092"/>
                <a:ext cx="26670" cy="25631"/>
              </a:xfrm>
              <a:custGeom>
                <a:rect b="b" l="l" r="r" t="t"/>
                <a:pathLst>
                  <a:path extrusionOk="0" h="5351" w="5565">
                    <a:moveTo>
                      <a:pt x="2890" y="0"/>
                    </a:moveTo>
                    <a:cubicBezTo>
                      <a:pt x="1807" y="0"/>
                      <a:pt x="833" y="653"/>
                      <a:pt x="417" y="1653"/>
                    </a:cubicBezTo>
                    <a:cubicBezTo>
                      <a:pt x="1" y="2652"/>
                      <a:pt x="231" y="3801"/>
                      <a:pt x="997" y="4567"/>
                    </a:cubicBezTo>
                    <a:cubicBezTo>
                      <a:pt x="1509" y="5080"/>
                      <a:pt x="2193" y="5350"/>
                      <a:pt x="2888" y="5350"/>
                    </a:cubicBezTo>
                    <a:cubicBezTo>
                      <a:pt x="3233" y="5350"/>
                      <a:pt x="3580" y="5284"/>
                      <a:pt x="3912" y="5147"/>
                    </a:cubicBezTo>
                    <a:cubicBezTo>
                      <a:pt x="4911" y="4731"/>
                      <a:pt x="5564" y="3757"/>
                      <a:pt x="5564" y="2678"/>
                    </a:cubicBezTo>
                    <a:cubicBezTo>
                      <a:pt x="5564" y="1200"/>
                      <a:pt x="4364" y="0"/>
                      <a:pt x="2890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 cap="flat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434" name="Google Shape;434;p38"/>
          <p:cNvGrpSpPr/>
          <p:nvPr/>
        </p:nvGrpSpPr>
        <p:grpSpPr>
          <a:xfrm>
            <a:off x="3186769" y="3206289"/>
            <a:ext cx="1157931" cy="594046"/>
            <a:chOff x="785350" y="4047614"/>
            <a:chExt cx="535311" cy="240787"/>
          </a:xfrm>
        </p:grpSpPr>
        <p:grpSp>
          <p:nvGrpSpPr>
            <p:cNvPr id="435" name="Google Shape;435;p38"/>
            <p:cNvGrpSpPr/>
            <p:nvPr/>
          </p:nvGrpSpPr>
          <p:grpSpPr>
            <a:xfrm>
              <a:off x="1161636" y="4047614"/>
              <a:ext cx="159025" cy="190415"/>
              <a:chOff x="1161636" y="4047614"/>
              <a:chExt cx="159025" cy="190415"/>
            </a:xfrm>
          </p:grpSpPr>
          <p:sp>
            <p:nvSpPr>
              <p:cNvPr id="436" name="Google Shape;436;p38"/>
              <p:cNvSpPr/>
              <p:nvPr/>
            </p:nvSpPr>
            <p:spPr>
              <a:xfrm>
                <a:off x="1293991" y="4047614"/>
                <a:ext cx="26670" cy="25631"/>
              </a:xfrm>
              <a:custGeom>
                <a:rect b="b" l="l" r="r" t="t"/>
                <a:pathLst>
                  <a:path extrusionOk="0" h="5351" w="5565">
                    <a:moveTo>
                      <a:pt x="2890" y="1"/>
                    </a:moveTo>
                    <a:cubicBezTo>
                      <a:pt x="1807" y="1"/>
                      <a:pt x="833" y="654"/>
                      <a:pt x="417" y="1653"/>
                    </a:cubicBezTo>
                    <a:cubicBezTo>
                      <a:pt x="1" y="2653"/>
                      <a:pt x="231" y="3802"/>
                      <a:pt x="997" y="4568"/>
                    </a:cubicBezTo>
                    <a:cubicBezTo>
                      <a:pt x="1510" y="5078"/>
                      <a:pt x="2195" y="5350"/>
                      <a:pt x="2891" y="5350"/>
                    </a:cubicBezTo>
                    <a:cubicBezTo>
                      <a:pt x="3235" y="5350"/>
                      <a:pt x="3581" y="5284"/>
                      <a:pt x="3912" y="5148"/>
                    </a:cubicBezTo>
                    <a:cubicBezTo>
                      <a:pt x="4911" y="4732"/>
                      <a:pt x="5564" y="3758"/>
                      <a:pt x="5564" y="2675"/>
                    </a:cubicBezTo>
                    <a:cubicBezTo>
                      <a:pt x="5564" y="1197"/>
                      <a:pt x="4364" y="1"/>
                      <a:pt x="2890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 cap="flat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7" name="Google Shape;437;p38"/>
              <p:cNvSpPr/>
              <p:nvPr/>
            </p:nvSpPr>
            <p:spPr>
              <a:xfrm>
                <a:off x="1161636" y="4073229"/>
                <a:ext cx="146334" cy="164800"/>
              </a:xfrm>
              <a:custGeom>
                <a:rect b="b" l="l" r="r" t="t"/>
                <a:pathLst>
                  <a:path extrusionOk="0" fill="none" h="34405" w="30534">
                    <a:moveTo>
                      <a:pt x="0" y="34404"/>
                    </a:moveTo>
                    <a:lnTo>
                      <a:pt x="12611" y="34404"/>
                    </a:lnTo>
                    <a:cubicBezTo>
                      <a:pt x="15705" y="34404"/>
                      <a:pt x="16325" y="30939"/>
                      <a:pt x="16325" y="30939"/>
                    </a:cubicBezTo>
                    <a:lnTo>
                      <a:pt x="16325" y="7957"/>
                    </a:lnTo>
                    <a:lnTo>
                      <a:pt x="30534" y="7957"/>
                    </a:lnTo>
                    <a:lnTo>
                      <a:pt x="30534" y="1"/>
                    </a:lnTo>
                  </a:path>
                </a:pathLst>
              </a:custGeom>
              <a:noFill/>
              <a:ln cap="rnd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38" name="Google Shape;438;p38"/>
            <p:cNvGrpSpPr/>
            <p:nvPr/>
          </p:nvGrpSpPr>
          <p:grpSpPr>
            <a:xfrm>
              <a:off x="785350" y="4185665"/>
              <a:ext cx="376147" cy="102736"/>
              <a:chOff x="785350" y="4185665"/>
              <a:chExt cx="376147" cy="102736"/>
            </a:xfrm>
          </p:grpSpPr>
          <p:sp>
            <p:nvSpPr>
              <p:cNvPr id="439" name="Google Shape;439;p38"/>
              <p:cNvSpPr/>
              <p:nvPr/>
            </p:nvSpPr>
            <p:spPr>
              <a:xfrm>
                <a:off x="808023" y="4238011"/>
                <a:ext cx="175636" cy="5"/>
              </a:xfrm>
              <a:custGeom>
                <a:rect b="b" l="l" r="r" t="t"/>
                <a:pathLst>
                  <a:path extrusionOk="0" fill="none" h="1" w="36648">
                    <a:moveTo>
                      <a:pt x="36648" y="0"/>
                    </a:moveTo>
                    <a:lnTo>
                      <a:pt x="1" y="0"/>
                    </a:lnTo>
                  </a:path>
                </a:pathLst>
              </a:custGeom>
              <a:noFill/>
              <a:ln cap="rnd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905376" y="4185665"/>
                <a:ext cx="256121" cy="102736"/>
              </a:xfrm>
              <a:custGeom>
                <a:rect b="b" l="l" r="r" t="t"/>
                <a:pathLst>
                  <a:path extrusionOk="0" h="21448" w="37119">
                    <a:moveTo>
                      <a:pt x="4951" y="1"/>
                    </a:moveTo>
                    <a:cubicBezTo>
                      <a:pt x="2219" y="1"/>
                      <a:pt x="1" y="2679"/>
                      <a:pt x="1" y="5984"/>
                    </a:cubicBezTo>
                    <a:lnTo>
                      <a:pt x="1" y="15461"/>
                    </a:lnTo>
                    <a:cubicBezTo>
                      <a:pt x="1" y="18766"/>
                      <a:pt x="2219" y="21447"/>
                      <a:pt x="4951" y="21447"/>
                    </a:cubicBezTo>
                    <a:lnTo>
                      <a:pt x="32172" y="21447"/>
                    </a:lnTo>
                    <a:cubicBezTo>
                      <a:pt x="34904" y="21447"/>
                      <a:pt x="37119" y="18766"/>
                      <a:pt x="37119" y="15461"/>
                    </a:cubicBezTo>
                    <a:lnTo>
                      <a:pt x="37119" y="5984"/>
                    </a:lnTo>
                    <a:cubicBezTo>
                      <a:pt x="37119" y="2679"/>
                      <a:pt x="34904" y="1"/>
                      <a:pt x="32172" y="1"/>
                    </a:cubicBezTo>
                    <a:close/>
                  </a:path>
                </a:pathLst>
              </a:custGeom>
              <a:solidFill>
                <a:srgbClr val="E4E9ED"/>
              </a:solidFill>
              <a:ln cap="flat" cmpd="sng" w="9525">
                <a:solidFill>
                  <a:srgbClr val="51AFDB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1" name="Google Shape;441;p38"/>
              <p:cNvSpPr/>
              <p:nvPr/>
            </p:nvSpPr>
            <p:spPr>
              <a:xfrm>
                <a:off x="785350" y="4224370"/>
                <a:ext cx="26646" cy="25631"/>
              </a:xfrm>
              <a:custGeom>
                <a:rect b="b" l="l" r="r" t="t"/>
                <a:pathLst>
                  <a:path extrusionOk="0" h="5351" w="5560">
                    <a:moveTo>
                      <a:pt x="2674" y="0"/>
                    </a:moveTo>
                    <a:cubicBezTo>
                      <a:pt x="2328" y="0"/>
                      <a:pt x="1980" y="67"/>
                      <a:pt x="1649" y="203"/>
                    </a:cubicBezTo>
                    <a:cubicBezTo>
                      <a:pt x="650" y="619"/>
                      <a:pt x="0" y="1593"/>
                      <a:pt x="0" y="2677"/>
                    </a:cubicBezTo>
                    <a:cubicBezTo>
                      <a:pt x="0" y="4150"/>
                      <a:pt x="1197" y="5351"/>
                      <a:pt x="2674" y="5351"/>
                    </a:cubicBezTo>
                    <a:cubicBezTo>
                      <a:pt x="3754" y="5351"/>
                      <a:pt x="4732" y="4698"/>
                      <a:pt x="5144" y="3698"/>
                    </a:cubicBezTo>
                    <a:cubicBezTo>
                      <a:pt x="5560" y="2699"/>
                      <a:pt x="5330" y="1550"/>
                      <a:pt x="4568" y="783"/>
                    </a:cubicBezTo>
                    <a:cubicBezTo>
                      <a:pt x="4055" y="271"/>
                      <a:pt x="3370" y="0"/>
                      <a:pt x="2674" y="0"/>
                    </a:cubicBezTo>
                    <a:close/>
                  </a:path>
                </a:pathLst>
              </a:custGeom>
              <a:solidFill>
                <a:srgbClr val="E4E9ED"/>
              </a:solidFill>
              <a:ln cap="flat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442" name="Google Shape;442;p38"/>
          <p:cNvGrpSpPr/>
          <p:nvPr/>
        </p:nvGrpSpPr>
        <p:grpSpPr>
          <a:xfrm>
            <a:off x="4734908" y="2115500"/>
            <a:ext cx="1138525" cy="614896"/>
            <a:chOff x="1501054" y="3605480"/>
            <a:chExt cx="526340" cy="249238"/>
          </a:xfrm>
        </p:grpSpPr>
        <p:grpSp>
          <p:nvGrpSpPr>
            <p:cNvPr id="443" name="Google Shape;443;p38"/>
            <p:cNvGrpSpPr/>
            <p:nvPr/>
          </p:nvGrpSpPr>
          <p:grpSpPr>
            <a:xfrm>
              <a:off x="1834208" y="3643867"/>
              <a:ext cx="193185" cy="25622"/>
              <a:chOff x="1834208" y="3643867"/>
              <a:chExt cx="193185" cy="25622"/>
            </a:xfrm>
          </p:grpSpPr>
          <p:sp>
            <p:nvSpPr>
              <p:cNvPr id="444" name="Google Shape;444;p38"/>
              <p:cNvSpPr/>
              <p:nvPr/>
            </p:nvSpPr>
            <p:spPr>
              <a:xfrm>
                <a:off x="1834208" y="3655851"/>
                <a:ext cx="167541" cy="5"/>
              </a:xfrm>
              <a:custGeom>
                <a:rect b="b" l="l" r="r" t="t"/>
                <a:pathLst>
                  <a:path extrusionOk="0" fill="none" h="1" w="34959">
                    <a:moveTo>
                      <a:pt x="1" y="1"/>
                    </a:moveTo>
                    <a:lnTo>
                      <a:pt x="34959" y="1"/>
                    </a:lnTo>
                  </a:path>
                </a:pathLst>
              </a:custGeom>
              <a:noFill/>
              <a:ln cap="rnd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5" name="Google Shape;445;p38"/>
              <p:cNvSpPr/>
              <p:nvPr/>
            </p:nvSpPr>
            <p:spPr>
              <a:xfrm>
                <a:off x="2000728" y="3643867"/>
                <a:ext cx="26665" cy="25622"/>
              </a:xfrm>
              <a:custGeom>
                <a:rect b="b" l="l" r="r" t="t"/>
                <a:pathLst>
                  <a:path extrusionOk="0" h="5349" w="5564">
                    <a:moveTo>
                      <a:pt x="2886" y="0"/>
                    </a:moveTo>
                    <a:cubicBezTo>
                      <a:pt x="1806" y="0"/>
                      <a:pt x="828" y="650"/>
                      <a:pt x="416" y="1649"/>
                    </a:cubicBezTo>
                    <a:cubicBezTo>
                      <a:pt x="0" y="2649"/>
                      <a:pt x="230" y="3802"/>
                      <a:pt x="996" y="4564"/>
                    </a:cubicBezTo>
                    <a:cubicBezTo>
                      <a:pt x="1506" y="5076"/>
                      <a:pt x="2190" y="5349"/>
                      <a:pt x="2887" y="5349"/>
                    </a:cubicBezTo>
                    <a:cubicBezTo>
                      <a:pt x="3232" y="5349"/>
                      <a:pt x="3580" y="5282"/>
                      <a:pt x="3911" y="5144"/>
                    </a:cubicBezTo>
                    <a:cubicBezTo>
                      <a:pt x="4911" y="4732"/>
                      <a:pt x="5560" y="3758"/>
                      <a:pt x="5563" y="2674"/>
                    </a:cubicBezTo>
                    <a:cubicBezTo>
                      <a:pt x="5560" y="1197"/>
                      <a:pt x="4363" y="0"/>
                      <a:pt x="2886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 cap="flat" cmpd="sng" w="9525">
                <a:solidFill>
                  <a:srgbClr val="51AFD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46" name="Google Shape;446;p38"/>
            <p:cNvGrpSpPr/>
            <p:nvPr/>
          </p:nvGrpSpPr>
          <p:grpSpPr>
            <a:xfrm>
              <a:off x="1501054" y="3605480"/>
              <a:ext cx="401362" cy="249238"/>
              <a:chOff x="1501054" y="3605480"/>
              <a:chExt cx="401362" cy="249238"/>
            </a:xfrm>
          </p:grpSpPr>
          <p:sp>
            <p:nvSpPr>
              <p:cNvPr id="447" name="Google Shape;447;p38"/>
              <p:cNvSpPr/>
              <p:nvPr/>
            </p:nvSpPr>
            <p:spPr>
              <a:xfrm>
                <a:off x="1656323" y="3605480"/>
                <a:ext cx="246092" cy="102736"/>
              </a:xfrm>
              <a:custGeom>
                <a:rect b="b" l="l" r="r" t="t"/>
                <a:pathLst>
                  <a:path extrusionOk="0" h="21448" w="37118">
                    <a:moveTo>
                      <a:pt x="4947" y="1"/>
                    </a:moveTo>
                    <a:cubicBezTo>
                      <a:pt x="2214" y="1"/>
                      <a:pt x="0" y="2682"/>
                      <a:pt x="0" y="5987"/>
                    </a:cubicBezTo>
                    <a:lnTo>
                      <a:pt x="0" y="15464"/>
                    </a:lnTo>
                    <a:cubicBezTo>
                      <a:pt x="0" y="18769"/>
                      <a:pt x="2214" y="21447"/>
                      <a:pt x="4950" y="21447"/>
                    </a:cubicBezTo>
                    <a:lnTo>
                      <a:pt x="32168" y="21447"/>
                    </a:lnTo>
                    <a:cubicBezTo>
                      <a:pt x="34900" y="21447"/>
                      <a:pt x="37118" y="18769"/>
                      <a:pt x="37118" y="15464"/>
                    </a:cubicBezTo>
                    <a:lnTo>
                      <a:pt x="37118" y="5987"/>
                    </a:lnTo>
                    <a:cubicBezTo>
                      <a:pt x="37118" y="2682"/>
                      <a:pt x="34900" y="1"/>
                      <a:pt x="32168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 cap="flat" cmpd="sng" w="9525">
                <a:solidFill>
                  <a:srgbClr val="51AFDB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448" name="Google Shape;448;p38"/>
              <p:cNvGrpSpPr/>
              <p:nvPr/>
            </p:nvGrpSpPr>
            <p:grpSpPr>
              <a:xfrm>
                <a:off x="1501054" y="3655851"/>
                <a:ext cx="155286" cy="198867"/>
                <a:chOff x="1501054" y="3655851"/>
                <a:chExt cx="155286" cy="198867"/>
              </a:xfrm>
            </p:grpSpPr>
            <p:sp>
              <p:nvSpPr>
                <p:cNvPr id="449" name="Google Shape;449;p38"/>
                <p:cNvSpPr/>
                <p:nvPr/>
              </p:nvSpPr>
              <p:spPr>
                <a:xfrm>
                  <a:off x="1516351" y="3655851"/>
                  <a:ext cx="139989" cy="186082"/>
                </a:xfrm>
                <a:custGeom>
                  <a:rect b="b" l="l" r="r" t="t"/>
                  <a:pathLst>
                    <a:path extrusionOk="0" fill="none" h="38848" w="29210">
                      <a:moveTo>
                        <a:pt x="29209" y="1"/>
                      </a:moveTo>
                      <a:lnTo>
                        <a:pt x="17922" y="1"/>
                      </a:lnTo>
                      <a:cubicBezTo>
                        <a:pt x="14829" y="1"/>
                        <a:pt x="14209" y="3466"/>
                        <a:pt x="14209" y="3466"/>
                      </a:cubicBezTo>
                      <a:lnTo>
                        <a:pt x="14209" y="26448"/>
                      </a:lnTo>
                      <a:lnTo>
                        <a:pt x="0" y="26448"/>
                      </a:lnTo>
                      <a:lnTo>
                        <a:pt x="0" y="38848"/>
                      </a:lnTo>
                    </a:path>
                  </a:pathLst>
                </a:custGeom>
                <a:noFill/>
                <a:ln cap="rnd" cmpd="sng" w="9525">
                  <a:solidFill>
                    <a:srgbClr val="51AFD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0" name="Google Shape;450;p38"/>
                <p:cNvSpPr/>
                <p:nvPr/>
              </p:nvSpPr>
              <p:spPr>
                <a:xfrm>
                  <a:off x="1501054" y="3829092"/>
                  <a:ext cx="26646" cy="25626"/>
                </a:xfrm>
                <a:custGeom>
                  <a:rect b="b" l="l" r="r" t="t"/>
                  <a:pathLst>
                    <a:path extrusionOk="0" h="5350" w="5560">
                      <a:moveTo>
                        <a:pt x="2886" y="0"/>
                      </a:moveTo>
                      <a:cubicBezTo>
                        <a:pt x="1806" y="0"/>
                        <a:pt x="828" y="653"/>
                        <a:pt x="416" y="1653"/>
                      </a:cubicBezTo>
                      <a:cubicBezTo>
                        <a:pt x="0" y="2652"/>
                        <a:pt x="230" y="3801"/>
                        <a:pt x="996" y="4567"/>
                      </a:cubicBezTo>
                      <a:cubicBezTo>
                        <a:pt x="1507" y="5078"/>
                        <a:pt x="2192" y="5350"/>
                        <a:pt x="2890" y="5350"/>
                      </a:cubicBezTo>
                      <a:cubicBezTo>
                        <a:pt x="3234" y="5350"/>
                        <a:pt x="3581" y="5283"/>
                        <a:pt x="3911" y="5147"/>
                      </a:cubicBezTo>
                      <a:cubicBezTo>
                        <a:pt x="4910" y="4731"/>
                        <a:pt x="5560" y="3757"/>
                        <a:pt x="5560" y="2678"/>
                      </a:cubicBezTo>
                      <a:cubicBezTo>
                        <a:pt x="5560" y="1200"/>
                        <a:pt x="4363" y="0"/>
                        <a:pt x="288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 cap="flat" cmpd="sng" w="9525">
                  <a:solidFill>
                    <a:srgbClr val="51AFDB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451" name="Google Shape;451;p38"/>
          <p:cNvSpPr/>
          <p:nvPr/>
        </p:nvSpPr>
        <p:spPr>
          <a:xfrm>
            <a:off x="3990388" y="2932181"/>
            <a:ext cx="57654" cy="63212"/>
          </a:xfrm>
          <a:custGeom>
            <a:rect b="b" l="l" r="r" t="t"/>
            <a:pathLst>
              <a:path extrusionOk="0" h="5349" w="5561">
                <a:moveTo>
                  <a:pt x="2886" y="1"/>
                </a:moveTo>
                <a:cubicBezTo>
                  <a:pt x="1803" y="1"/>
                  <a:pt x="829" y="650"/>
                  <a:pt x="413" y="1649"/>
                </a:cubicBezTo>
                <a:cubicBezTo>
                  <a:pt x="1" y="2649"/>
                  <a:pt x="227" y="3798"/>
                  <a:pt x="993" y="4564"/>
                </a:cubicBezTo>
                <a:cubicBezTo>
                  <a:pt x="1505" y="5076"/>
                  <a:pt x="2189" y="5349"/>
                  <a:pt x="2884" y="5349"/>
                </a:cubicBezTo>
                <a:cubicBezTo>
                  <a:pt x="3229" y="5349"/>
                  <a:pt x="3576" y="5282"/>
                  <a:pt x="3908" y="5144"/>
                </a:cubicBezTo>
                <a:cubicBezTo>
                  <a:pt x="4907" y="4732"/>
                  <a:pt x="5560" y="3758"/>
                  <a:pt x="5560" y="2674"/>
                </a:cubicBezTo>
                <a:cubicBezTo>
                  <a:pt x="5560" y="1197"/>
                  <a:pt x="4364" y="1"/>
                  <a:pt x="2886" y="1"/>
                </a:cubicBezTo>
                <a:close/>
              </a:path>
            </a:pathLst>
          </a:custGeom>
          <a:solidFill>
            <a:srgbClr val="CFD9E0"/>
          </a:solidFill>
          <a:ln cap="flat" cmpd="sng" w="9525">
            <a:solidFill>
              <a:srgbClr val="51AF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52" name="Google Shape;452;p38"/>
          <p:cNvGrpSpPr/>
          <p:nvPr/>
        </p:nvGrpSpPr>
        <p:grpSpPr>
          <a:xfrm rot="10800000">
            <a:off x="2982029" y="2975118"/>
            <a:ext cx="417879" cy="63211"/>
            <a:chOff x="1834208" y="3643867"/>
            <a:chExt cx="193185" cy="25622"/>
          </a:xfrm>
        </p:grpSpPr>
        <p:sp>
          <p:nvSpPr>
            <p:cNvPr id="453" name="Google Shape;453;p38"/>
            <p:cNvSpPr/>
            <p:nvPr/>
          </p:nvSpPr>
          <p:spPr>
            <a:xfrm>
              <a:off x="1834208" y="3655851"/>
              <a:ext cx="167541" cy="5"/>
            </a:xfrm>
            <a:custGeom>
              <a:rect b="b" l="l" r="r" t="t"/>
              <a:pathLst>
                <a:path extrusionOk="0" fill="none" h="1" w="34959">
                  <a:moveTo>
                    <a:pt x="1" y="1"/>
                  </a:moveTo>
                  <a:lnTo>
                    <a:pt x="34959" y="1"/>
                  </a:lnTo>
                </a:path>
              </a:pathLst>
            </a:custGeom>
            <a:noFill/>
            <a:ln cap="rnd" cmpd="sng" w="9525">
              <a:solidFill>
                <a:srgbClr val="51AFD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2000728" y="3643867"/>
              <a:ext cx="26665" cy="25622"/>
            </a:xfrm>
            <a:custGeom>
              <a:rect b="b" l="l" r="r" t="t"/>
              <a:pathLst>
                <a:path extrusionOk="0" h="5349" w="5564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1" y="4732"/>
                    <a:pt x="5560" y="3758"/>
                    <a:pt x="5563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A5B7C5"/>
            </a:solidFill>
            <a:ln cap="flat" cmpd="sng" w="9525">
              <a:solidFill>
                <a:srgbClr val="51AFD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55" name="Google Shape;455;p38"/>
          <p:cNvGrpSpPr/>
          <p:nvPr/>
        </p:nvGrpSpPr>
        <p:grpSpPr>
          <a:xfrm>
            <a:off x="1334399" y="975645"/>
            <a:ext cx="351910" cy="354710"/>
            <a:chOff x="-25094250" y="3176075"/>
            <a:chExt cx="295400" cy="297750"/>
          </a:xfrm>
        </p:grpSpPr>
        <p:sp>
          <p:nvSpPr>
            <p:cNvPr id="456" name="Google Shape;456;p38"/>
            <p:cNvSpPr/>
            <p:nvPr/>
          </p:nvSpPr>
          <p:spPr>
            <a:xfrm>
              <a:off x="-24989225" y="3176075"/>
              <a:ext cx="87200" cy="122500"/>
            </a:xfrm>
            <a:custGeom>
              <a:rect b="b" l="l" r="r" t="t"/>
              <a:pathLst>
                <a:path extrusionOk="0" h="4900" w="3488">
                  <a:moveTo>
                    <a:pt x="1408" y="1"/>
                  </a:moveTo>
                  <a:lnTo>
                    <a:pt x="1408" y="1922"/>
                  </a:lnTo>
                  <a:cubicBezTo>
                    <a:pt x="1408" y="2647"/>
                    <a:pt x="998" y="3277"/>
                    <a:pt x="463" y="3561"/>
                  </a:cubicBezTo>
                  <a:cubicBezTo>
                    <a:pt x="211" y="3655"/>
                    <a:pt x="53" y="3907"/>
                    <a:pt x="22" y="4128"/>
                  </a:cubicBezTo>
                  <a:cubicBezTo>
                    <a:pt x="1" y="4609"/>
                    <a:pt x="369" y="4896"/>
                    <a:pt x="738" y="4896"/>
                  </a:cubicBezTo>
                  <a:cubicBezTo>
                    <a:pt x="925" y="4896"/>
                    <a:pt x="1113" y="4822"/>
                    <a:pt x="1250" y="4663"/>
                  </a:cubicBezTo>
                  <a:cubicBezTo>
                    <a:pt x="1361" y="4506"/>
                    <a:pt x="1557" y="4427"/>
                    <a:pt x="1754" y="4427"/>
                  </a:cubicBezTo>
                  <a:cubicBezTo>
                    <a:pt x="1951" y="4427"/>
                    <a:pt x="2148" y="4506"/>
                    <a:pt x="2258" y="4663"/>
                  </a:cubicBezTo>
                  <a:cubicBezTo>
                    <a:pt x="2411" y="4826"/>
                    <a:pt x="2604" y="4899"/>
                    <a:pt x="2792" y="4899"/>
                  </a:cubicBezTo>
                  <a:cubicBezTo>
                    <a:pt x="3149" y="4899"/>
                    <a:pt x="3487" y="4635"/>
                    <a:pt x="3487" y="4222"/>
                  </a:cubicBezTo>
                  <a:cubicBezTo>
                    <a:pt x="3487" y="3939"/>
                    <a:pt x="3330" y="3718"/>
                    <a:pt x="3109" y="3592"/>
                  </a:cubicBezTo>
                  <a:cubicBezTo>
                    <a:pt x="2479" y="3277"/>
                    <a:pt x="2101" y="2710"/>
                    <a:pt x="2101" y="2143"/>
                  </a:cubicBezTo>
                  <a:lnTo>
                    <a:pt x="2101" y="32"/>
                  </a:lnTo>
                  <a:cubicBezTo>
                    <a:pt x="2006" y="32"/>
                    <a:pt x="1880" y="1"/>
                    <a:pt x="1754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-25094250" y="3179225"/>
              <a:ext cx="295400" cy="291450"/>
            </a:xfrm>
            <a:custGeom>
              <a:rect b="b" l="l" r="r" t="t"/>
              <a:pathLst>
                <a:path extrusionOk="0" h="11658" w="11816">
                  <a:moveTo>
                    <a:pt x="4884" y="1"/>
                  </a:moveTo>
                  <a:cubicBezTo>
                    <a:pt x="2143" y="505"/>
                    <a:pt x="1" y="2899"/>
                    <a:pt x="1" y="5829"/>
                  </a:cubicBezTo>
                  <a:cubicBezTo>
                    <a:pt x="1" y="8696"/>
                    <a:pt x="2143" y="11153"/>
                    <a:pt x="4884" y="11657"/>
                  </a:cubicBezTo>
                  <a:lnTo>
                    <a:pt x="4884" y="9799"/>
                  </a:lnTo>
                  <a:cubicBezTo>
                    <a:pt x="4884" y="9358"/>
                    <a:pt x="4664" y="8980"/>
                    <a:pt x="4349" y="8822"/>
                  </a:cubicBezTo>
                  <a:cubicBezTo>
                    <a:pt x="3876" y="8633"/>
                    <a:pt x="3561" y="8160"/>
                    <a:pt x="3530" y="7625"/>
                  </a:cubicBezTo>
                  <a:cubicBezTo>
                    <a:pt x="3446" y="6731"/>
                    <a:pt x="4186" y="6180"/>
                    <a:pt x="4925" y="6180"/>
                  </a:cubicBezTo>
                  <a:cubicBezTo>
                    <a:pt x="5306" y="6180"/>
                    <a:pt x="5687" y="6327"/>
                    <a:pt x="5955" y="6648"/>
                  </a:cubicBezTo>
                  <a:cubicBezTo>
                    <a:pt x="6188" y="6316"/>
                    <a:pt x="6553" y="6163"/>
                    <a:pt x="6929" y="6163"/>
                  </a:cubicBezTo>
                  <a:cubicBezTo>
                    <a:pt x="7621" y="6163"/>
                    <a:pt x="8350" y="6684"/>
                    <a:pt x="8350" y="7562"/>
                  </a:cubicBezTo>
                  <a:cubicBezTo>
                    <a:pt x="8350" y="8066"/>
                    <a:pt x="8035" y="8570"/>
                    <a:pt x="7562" y="8822"/>
                  </a:cubicBezTo>
                  <a:cubicBezTo>
                    <a:pt x="7184" y="9011"/>
                    <a:pt x="6995" y="9326"/>
                    <a:pt x="6995" y="9641"/>
                  </a:cubicBezTo>
                  <a:lnTo>
                    <a:pt x="6995" y="11657"/>
                  </a:lnTo>
                  <a:cubicBezTo>
                    <a:pt x="9736" y="11153"/>
                    <a:pt x="11815" y="8728"/>
                    <a:pt x="11815" y="5829"/>
                  </a:cubicBezTo>
                  <a:cubicBezTo>
                    <a:pt x="11815" y="2899"/>
                    <a:pt x="9736" y="505"/>
                    <a:pt x="6995" y="1"/>
                  </a:cubicBezTo>
                  <a:lnTo>
                    <a:pt x="6995" y="2017"/>
                  </a:lnTo>
                  <a:cubicBezTo>
                    <a:pt x="6995" y="2364"/>
                    <a:pt x="7216" y="2679"/>
                    <a:pt x="7562" y="2836"/>
                  </a:cubicBezTo>
                  <a:cubicBezTo>
                    <a:pt x="8035" y="3057"/>
                    <a:pt x="8350" y="3529"/>
                    <a:pt x="8350" y="4096"/>
                  </a:cubicBezTo>
                  <a:cubicBezTo>
                    <a:pt x="8350" y="4945"/>
                    <a:pt x="7656" y="5495"/>
                    <a:pt x="6948" y="5495"/>
                  </a:cubicBezTo>
                  <a:cubicBezTo>
                    <a:pt x="6578" y="5495"/>
                    <a:pt x="6205" y="5345"/>
                    <a:pt x="5924" y="5010"/>
                  </a:cubicBezTo>
                  <a:cubicBezTo>
                    <a:pt x="5691" y="5321"/>
                    <a:pt x="5310" y="5471"/>
                    <a:pt x="4919" y="5471"/>
                  </a:cubicBezTo>
                  <a:cubicBezTo>
                    <a:pt x="4200" y="5471"/>
                    <a:pt x="3448" y="4961"/>
                    <a:pt x="3530" y="4002"/>
                  </a:cubicBezTo>
                  <a:cubicBezTo>
                    <a:pt x="3561" y="3498"/>
                    <a:pt x="3876" y="3057"/>
                    <a:pt x="4349" y="2836"/>
                  </a:cubicBezTo>
                  <a:cubicBezTo>
                    <a:pt x="4664" y="2679"/>
                    <a:pt x="4884" y="2269"/>
                    <a:pt x="4884" y="1859"/>
                  </a:cubicBezTo>
                  <a:lnTo>
                    <a:pt x="4884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-24989225" y="3350975"/>
              <a:ext cx="87200" cy="122850"/>
            </a:xfrm>
            <a:custGeom>
              <a:rect b="b" l="l" r="r" t="t"/>
              <a:pathLst>
                <a:path extrusionOk="0" h="4914" w="3488">
                  <a:moveTo>
                    <a:pt x="2777" y="1"/>
                  </a:moveTo>
                  <a:cubicBezTo>
                    <a:pt x="2589" y="1"/>
                    <a:pt x="2399" y="77"/>
                    <a:pt x="2258" y="251"/>
                  </a:cubicBezTo>
                  <a:cubicBezTo>
                    <a:pt x="2148" y="408"/>
                    <a:pt x="1951" y="487"/>
                    <a:pt x="1754" y="487"/>
                  </a:cubicBezTo>
                  <a:cubicBezTo>
                    <a:pt x="1557" y="487"/>
                    <a:pt x="1361" y="408"/>
                    <a:pt x="1250" y="251"/>
                  </a:cubicBezTo>
                  <a:cubicBezTo>
                    <a:pt x="1122" y="91"/>
                    <a:pt x="936" y="17"/>
                    <a:pt x="748" y="17"/>
                  </a:cubicBezTo>
                  <a:cubicBezTo>
                    <a:pt x="379" y="17"/>
                    <a:pt x="1" y="297"/>
                    <a:pt x="22" y="755"/>
                  </a:cubicBezTo>
                  <a:cubicBezTo>
                    <a:pt x="22" y="1007"/>
                    <a:pt x="242" y="1227"/>
                    <a:pt x="463" y="1353"/>
                  </a:cubicBezTo>
                  <a:cubicBezTo>
                    <a:pt x="1061" y="1637"/>
                    <a:pt x="1408" y="2267"/>
                    <a:pt x="1408" y="2960"/>
                  </a:cubicBezTo>
                  <a:lnTo>
                    <a:pt x="1408" y="4914"/>
                  </a:lnTo>
                  <a:cubicBezTo>
                    <a:pt x="1534" y="4851"/>
                    <a:pt x="1660" y="4851"/>
                    <a:pt x="1754" y="4851"/>
                  </a:cubicBezTo>
                  <a:lnTo>
                    <a:pt x="2101" y="4851"/>
                  </a:lnTo>
                  <a:lnTo>
                    <a:pt x="2101" y="2771"/>
                  </a:lnTo>
                  <a:cubicBezTo>
                    <a:pt x="2101" y="2141"/>
                    <a:pt x="2479" y="1606"/>
                    <a:pt x="3109" y="1322"/>
                  </a:cubicBezTo>
                  <a:cubicBezTo>
                    <a:pt x="3330" y="1196"/>
                    <a:pt x="3487" y="975"/>
                    <a:pt x="3487" y="692"/>
                  </a:cubicBezTo>
                  <a:cubicBezTo>
                    <a:pt x="3487" y="279"/>
                    <a:pt x="3135" y="1"/>
                    <a:pt x="277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9" name="Google Shape;459;p38"/>
          <p:cNvSpPr txBox="1"/>
          <p:nvPr/>
        </p:nvSpPr>
        <p:spPr>
          <a:xfrm>
            <a:off x="1056600" y="2078625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Administración y soporte técnico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60" name="Google Shape;460;p38"/>
          <p:cNvSpPr txBox="1"/>
          <p:nvPr/>
        </p:nvSpPr>
        <p:spPr>
          <a:xfrm>
            <a:off x="4233175" y="2791350"/>
            <a:ext cx="608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VLANS</a:t>
            </a:r>
            <a:endParaRPr>
              <a:solidFill>
                <a:srgbClr val="51AFDB"/>
              </a:solidFill>
              <a:latin typeface="Karla Medium"/>
              <a:ea typeface="Karla Medium"/>
              <a:cs typeface="Karla Medium"/>
              <a:sym typeface="Karla Medium"/>
            </a:endParaRPr>
          </a:p>
        </p:txBody>
      </p:sp>
      <p:sp>
        <p:nvSpPr>
          <p:cNvPr id="461" name="Google Shape;461;p38"/>
          <p:cNvSpPr txBox="1"/>
          <p:nvPr/>
        </p:nvSpPr>
        <p:spPr>
          <a:xfrm>
            <a:off x="3446400" y="2056250"/>
            <a:ext cx="810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VLAN 10</a:t>
            </a:r>
            <a:endParaRPr sz="10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grpSp>
        <p:nvGrpSpPr>
          <p:cNvPr id="462" name="Google Shape;462;p38"/>
          <p:cNvGrpSpPr/>
          <p:nvPr/>
        </p:nvGrpSpPr>
        <p:grpSpPr>
          <a:xfrm rot="10800000">
            <a:off x="3140952" y="2880068"/>
            <a:ext cx="1069154" cy="253450"/>
            <a:chOff x="1459655" y="3605478"/>
            <a:chExt cx="374563" cy="102736"/>
          </a:xfrm>
        </p:grpSpPr>
        <p:sp>
          <p:nvSpPr>
            <p:cNvPr id="463" name="Google Shape;463;p38"/>
            <p:cNvSpPr/>
            <p:nvPr/>
          </p:nvSpPr>
          <p:spPr>
            <a:xfrm>
              <a:off x="1656330" y="3605478"/>
              <a:ext cx="177888" cy="102736"/>
            </a:xfrm>
            <a:custGeom>
              <a:rect b="b" l="l" r="r" t="t"/>
              <a:pathLst>
                <a:path extrusionOk="0" h="21448" w="37118">
                  <a:moveTo>
                    <a:pt x="4947" y="1"/>
                  </a:moveTo>
                  <a:cubicBezTo>
                    <a:pt x="2214" y="1"/>
                    <a:pt x="0" y="2682"/>
                    <a:pt x="0" y="5987"/>
                  </a:cubicBezTo>
                  <a:lnTo>
                    <a:pt x="0" y="15464"/>
                  </a:lnTo>
                  <a:cubicBezTo>
                    <a:pt x="0" y="18769"/>
                    <a:pt x="2214" y="21447"/>
                    <a:pt x="4950" y="21447"/>
                  </a:cubicBezTo>
                  <a:lnTo>
                    <a:pt x="32168" y="21447"/>
                  </a:lnTo>
                  <a:cubicBezTo>
                    <a:pt x="34900" y="21447"/>
                    <a:pt x="37118" y="18769"/>
                    <a:pt x="37118" y="15464"/>
                  </a:cubicBezTo>
                  <a:lnTo>
                    <a:pt x="37118" y="5987"/>
                  </a:lnTo>
                  <a:cubicBezTo>
                    <a:pt x="37118" y="2682"/>
                    <a:pt x="34900" y="1"/>
                    <a:pt x="32168" y="1"/>
                  </a:cubicBezTo>
                  <a:close/>
                </a:path>
              </a:pathLst>
            </a:custGeom>
            <a:solidFill>
              <a:srgbClr val="A5B7C5"/>
            </a:solidFill>
            <a:ln cap="flat" cmpd="sng" w="9525">
              <a:solidFill>
                <a:srgbClr val="51AFDB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38"/>
            <p:cNvSpPr/>
            <p:nvPr/>
          </p:nvSpPr>
          <p:spPr>
            <a:xfrm rot="10800000">
              <a:off x="1459655" y="3655843"/>
              <a:ext cx="196656" cy="25640"/>
            </a:xfrm>
            <a:custGeom>
              <a:rect b="b" l="l" r="r" t="t"/>
              <a:pathLst>
                <a:path extrusionOk="0" fill="none" h="38848" w="29210">
                  <a:moveTo>
                    <a:pt x="29209" y="1"/>
                  </a:moveTo>
                  <a:lnTo>
                    <a:pt x="17922" y="1"/>
                  </a:lnTo>
                  <a:cubicBezTo>
                    <a:pt x="14829" y="1"/>
                    <a:pt x="14209" y="3466"/>
                    <a:pt x="14209" y="3466"/>
                  </a:cubicBezTo>
                  <a:lnTo>
                    <a:pt x="14209" y="26448"/>
                  </a:lnTo>
                  <a:lnTo>
                    <a:pt x="0" y="26448"/>
                  </a:lnTo>
                  <a:lnTo>
                    <a:pt x="0" y="38848"/>
                  </a:lnTo>
                </a:path>
              </a:pathLst>
            </a:custGeom>
            <a:noFill/>
            <a:ln cap="rnd" cmpd="sng" w="9525">
              <a:solidFill>
                <a:srgbClr val="51AFD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5" name="Google Shape;465;p38"/>
          <p:cNvSpPr txBox="1"/>
          <p:nvPr/>
        </p:nvSpPr>
        <p:spPr>
          <a:xfrm>
            <a:off x="3065400" y="2837450"/>
            <a:ext cx="654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VLAN 20</a:t>
            </a:r>
            <a:endParaRPr sz="10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66" name="Google Shape;466;p38"/>
          <p:cNvSpPr txBox="1"/>
          <p:nvPr/>
        </p:nvSpPr>
        <p:spPr>
          <a:xfrm>
            <a:off x="677125" y="2822600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Servicios: DHCP, DNS, bases de datos médicas</a:t>
            </a:r>
            <a:endParaRPr sz="1300"/>
          </a:p>
        </p:txBody>
      </p:sp>
      <p:sp>
        <p:nvSpPr>
          <p:cNvPr id="467" name="Google Shape;467;p38"/>
          <p:cNvSpPr txBox="1"/>
          <p:nvPr/>
        </p:nvSpPr>
        <p:spPr>
          <a:xfrm>
            <a:off x="3399900" y="3494525"/>
            <a:ext cx="654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VLAN 30</a:t>
            </a:r>
            <a:endParaRPr sz="10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68" name="Google Shape;468;p38"/>
          <p:cNvSpPr txBox="1"/>
          <p:nvPr/>
        </p:nvSpPr>
        <p:spPr>
          <a:xfrm>
            <a:off x="2122925" y="3464425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Videovigilancia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69" name="Google Shape;469;p38"/>
          <p:cNvSpPr txBox="1"/>
          <p:nvPr/>
        </p:nvSpPr>
        <p:spPr>
          <a:xfrm>
            <a:off x="5008050" y="2056250"/>
            <a:ext cx="810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VLAN 40</a:t>
            </a:r>
            <a:endParaRPr sz="10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70" name="Google Shape;470;p38"/>
          <p:cNvSpPr txBox="1"/>
          <p:nvPr/>
        </p:nvSpPr>
        <p:spPr>
          <a:xfrm>
            <a:off x="5090375" y="3494525"/>
            <a:ext cx="978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VLAN 200</a:t>
            </a:r>
            <a:endParaRPr sz="10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71" name="Google Shape;471;p38"/>
          <p:cNvSpPr txBox="1"/>
          <p:nvPr/>
        </p:nvSpPr>
        <p:spPr>
          <a:xfrm>
            <a:off x="5873425" y="2026875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Equipos médicos especializados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72" name="Google Shape;472;p38"/>
          <p:cNvSpPr txBox="1"/>
          <p:nvPr/>
        </p:nvSpPr>
        <p:spPr>
          <a:xfrm>
            <a:off x="6123575" y="3494525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Zona desmilitarizada (DMZ)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Google Shape;47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6450" y="1785954"/>
            <a:ext cx="2268531" cy="2268531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39"/>
          <p:cNvSpPr txBox="1"/>
          <p:nvPr/>
        </p:nvSpPr>
        <p:spPr>
          <a:xfrm>
            <a:off x="1197525" y="426275"/>
            <a:ext cx="60756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Zona desmilitarizada</a:t>
            </a:r>
            <a:endParaRPr sz="300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grpSp>
        <p:nvGrpSpPr>
          <p:cNvPr id="479" name="Google Shape;479;p39"/>
          <p:cNvGrpSpPr/>
          <p:nvPr/>
        </p:nvGrpSpPr>
        <p:grpSpPr>
          <a:xfrm>
            <a:off x="766697" y="479515"/>
            <a:ext cx="351880" cy="351910"/>
            <a:chOff x="-26573400" y="3546250"/>
            <a:chExt cx="295375" cy="295400"/>
          </a:xfrm>
        </p:grpSpPr>
        <p:sp>
          <p:nvSpPr>
            <p:cNvPr id="480" name="Google Shape;480;p39"/>
            <p:cNvSpPr/>
            <p:nvPr/>
          </p:nvSpPr>
          <p:spPr>
            <a:xfrm>
              <a:off x="-26464700" y="3599225"/>
              <a:ext cx="77200" cy="38425"/>
            </a:xfrm>
            <a:custGeom>
              <a:rect b="b" l="l" r="r" t="t"/>
              <a:pathLst>
                <a:path extrusionOk="0" h="1537" w="3088">
                  <a:moveTo>
                    <a:pt x="1532" y="1"/>
                  </a:moveTo>
                  <a:cubicBezTo>
                    <a:pt x="1001" y="1"/>
                    <a:pt x="473" y="103"/>
                    <a:pt x="0" y="308"/>
                  </a:cubicBezTo>
                  <a:lnTo>
                    <a:pt x="693" y="1537"/>
                  </a:lnTo>
                  <a:cubicBezTo>
                    <a:pt x="946" y="1442"/>
                    <a:pt x="1229" y="1379"/>
                    <a:pt x="1544" y="1379"/>
                  </a:cubicBezTo>
                  <a:cubicBezTo>
                    <a:pt x="1859" y="1379"/>
                    <a:pt x="2143" y="1442"/>
                    <a:pt x="2426" y="1537"/>
                  </a:cubicBezTo>
                  <a:lnTo>
                    <a:pt x="3088" y="308"/>
                  </a:lnTo>
                  <a:cubicBezTo>
                    <a:pt x="2600" y="103"/>
                    <a:pt x="2064" y="1"/>
                    <a:pt x="1532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39"/>
            <p:cNvSpPr/>
            <p:nvPr/>
          </p:nvSpPr>
          <p:spPr>
            <a:xfrm>
              <a:off x="-26434775" y="3686450"/>
              <a:ext cx="17350" cy="17350"/>
            </a:xfrm>
            <a:custGeom>
              <a:rect b="b" l="l" r="r" t="t"/>
              <a:pathLst>
                <a:path extrusionOk="0" h="694" w="694">
                  <a:moveTo>
                    <a:pt x="347" y="1"/>
                  </a:moveTo>
                  <a:cubicBezTo>
                    <a:pt x="158" y="1"/>
                    <a:pt x="1" y="127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27"/>
                    <a:pt x="536" y="1"/>
                    <a:pt x="34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" name="Google Shape;482;p39"/>
            <p:cNvSpPr/>
            <p:nvPr/>
          </p:nvSpPr>
          <p:spPr>
            <a:xfrm>
              <a:off x="-26520625" y="3703775"/>
              <a:ext cx="55950" cy="67775"/>
            </a:xfrm>
            <a:custGeom>
              <a:rect b="b" l="l" r="r" t="t"/>
              <a:pathLst>
                <a:path extrusionOk="0" h="2711" w="2238">
                  <a:moveTo>
                    <a:pt x="1387" y="1"/>
                  </a:moveTo>
                  <a:lnTo>
                    <a:pt x="1" y="32"/>
                  </a:lnTo>
                  <a:cubicBezTo>
                    <a:pt x="127" y="1104"/>
                    <a:pt x="662" y="2080"/>
                    <a:pt x="1544" y="2710"/>
                  </a:cubicBezTo>
                  <a:lnTo>
                    <a:pt x="2237" y="1545"/>
                  </a:lnTo>
                  <a:cubicBezTo>
                    <a:pt x="1765" y="1135"/>
                    <a:pt x="1450" y="600"/>
                    <a:pt x="138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39"/>
            <p:cNvSpPr/>
            <p:nvPr/>
          </p:nvSpPr>
          <p:spPr>
            <a:xfrm>
              <a:off x="-26387525" y="3703000"/>
              <a:ext cx="55950" cy="67750"/>
            </a:xfrm>
            <a:custGeom>
              <a:rect b="b" l="l" r="r" t="t"/>
              <a:pathLst>
                <a:path extrusionOk="0" h="2710" w="2238">
                  <a:moveTo>
                    <a:pt x="851" y="0"/>
                  </a:moveTo>
                  <a:cubicBezTo>
                    <a:pt x="757" y="631"/>
                    <a:pt x="473" y="1166"/>
                    <a:pt x="1" y="1544"/>
                  </a:cubicBezTo>
                  <a:lnTo>
                    <a:pt x="694" y="2710"/>
                  </a:lnTo>
                  <a:cubicBezTo>
                    <a:pt x="1576" y="2080"/>
                    <a:pt x="2112" y="1103"/>
                    <a:pt x="2238" y="32"/>
                  </a:cubicBezTo>
                  <a:lnTo>
                    <a:pt x="851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39"/>
            <p:cNvSpPr/>
            <p:nvPr/>
          </p:nvSpPr>
          <p:spPr>
            <a:xfrm>
              <a:off x="-26573400" y="3546250"/>
              <a:ext cx="295375" cy="295400"/>
            </a:xfrm>
            <a:custGeom>
              <a:rect b="b" l="l" r="r" t="t"/>
              <a:pathLst>
                <a:path extrusionOk="0" h="11816" w="11815">
                  <a:moveTo>
                    <a:pt x="5876" y="1419"/>
                  </a:moveTo>
                  <a:cubicBezTo>
                    <a:pt x="6632" y="1419"/>
                    <a:pt x="7389" y="1608"/>
                    <a:pt x="8066" y="1986"/>
                  </a:cubicBezTo>
                  <a:cubicBezTo>
                    <a:pt x="8223" y="2049"/>
                    <a:pt x="8286" y="2301"/>
                    <a:pt x="8192" y="2458"/>
                  </a:cubicBezTo>
                  <a:lnTo>
                    <a:pt x="7152" y="4254"/>
                  </a:lnTo>
                  <a:cubicBezTo>
                    <a:pt x="7110" y="4361"/>
                    <a:pt x="6980" y="4439"/>
                    <a:pt x="6852" y="4439"/>
                  </a:cubicBezTo>
                  <a:cubicBezTo>
                    <a:pt x="6791" y="4439"/>
                    <a:pt x="6731" y="4421"/>
                    <a:pt x="6680" y="4380"/>
                  </a:cubicBezTo>
                  <a:cubicBezTo>
                    <a:pt x="6428" y="4238"/>
                    <a:pt x="6136" y="4167"/>
                    <a:pt x="5841" y="4167"/>
                  </a:cubicBezTo>
                  <a:cubicBezTo>
                    <a:pt x="5546" y="4167"/>
                    <a:pt x="5246" y="4238"/>
                    <a:pt x="4978" y="4380"/>
                  </a:cubicBezTo>
                  <a:cubicBezTo>
                    <a:pt x="4929" y="4400"/>
                    <a:pt x="4872" y="4411"/>
                    <a:pt x="4816" y="4411"/>
                  </a:cubicBezTo>
                  <a:cubicBezTo>
                    <a:pt x="4694" y="4411"/>
                    <a:pt x="4570" y="4362"/>
                    <a:pt x="4506" y="4254"/>
                  </a:cubicBezTo>
                  <a:lnTo>
                    <a:pt x="3498" y="2458"/>
                  </a:lnTo>
                  <a:cubicBezTo>
                    <a:pt x="3466" y="2301"/>
                    <a:pt x="3529" y="2080"/>
                    <a:pt x="3687" y="1986"/>
                  </a:cubicBezTo>
                  <a:cubicBezTo>
                    <a:pt x="4364" y="1608"/>
                    <a:pt x="5120" y="1419"/>
                    <a:pt x="5876" y="1419"/>
                  </a:cubicBezTo>
                  <a:close/>
                  <a:moveTo>
                    <a:pt x="5861" y="4916"/>
                  </a:moveTo>
                  <a:cubicBezTo>
                    <a:pt x="6459" y="4916"/>
                    <a:pt x="6869" y="5388"/>
                    <a:pt x="6869" y="5955"/>
                  </a:cubicBezTo>
                  <a:cubicBezTo>
                    <a:pt x="6869" y="6554"/>
                    <a:pt x="6396" y="6964"/>
                    <a:pt x="5861" y="6964"/>
                  </a:cubicBezTo>
                  <a:cubicBezTo>
                    <a:pt x="5294" y="6964"/>
                    <a:pt x="4821" y="6491"/>
                    <a:pt x="4821" y="5955"/>
                  </a:cubicBezTo>
                  <a:cubicBezTo>
                    <a:pt x="4821" y="5357"/>
                    <a:pt x="5294" y="4916"/>
                    <a:pt x="5861" y="4916"/>
                  </a:cubicBezTo>
                  <a:close/>
                  <a:moveTo>
                    <a:pt x="3813" y="5609"/>
                  </a:moveTo>
                  <a:cubicBezTo>
                    <a:pt x="4065" y="5640"/>
                    <a:pt x="4159" y="5735"/>
                    <a:pt x="4159" y="5955"/>
                  </a:cubicBezTo>
                  <a:cubicBezTo>
                    <a:pt x="4159" y="6522"/>
                    <a:pt x="4474" y="7090"/>
                    <a:pt x="5010" y="7405"/>
                  </a:cubicBezTo>
                  <a:cubicBezTo>
                    <a:pt x="5136" y="7531"/>
                    <a:pt x="5230" y="7720"/>
                    <a:pt x="5104" y="7877"/>
                  </a:cubicBezTo>
                  <a:lnTo>
                    <a:pt x="4033" y="9641"/>
                  </a:lnTo>
                  <a:cubicBezTo>
                    <a:pt x="3991" y="9748"/>
                    <a:pt x="3861" y="9826"/>
                    <a:pt x="3733" y="9826"/>
                  </a:cubicBezTo>
                  <a:cubicBezTo>
                    <a:pt x="3672" y="9826"/>
                    <a:pt x="3612" y="9808"/>
                    <a:pt x="3561" y="9767"/>
                  </a:cubicBezTo>
                  <a:cubicBezTo>
                    <a:pt x="2238" y="8948"/>
                    <a:pt x="1418" y="7531"/>
                    <a:pt x="1355" y="5987"/>
                  </a:cubicBezTo>
                  <a:cubicBezTo>
                    <a:pt x="1355" y="5798"/>
                    <a:pt x="1544" y="5640"/>
                    <a:pt x="1733" y="5640"/>
                  </a:cubicBezTo>
                  <a:lnTo>
                    <a:pt x="3813" y="5609"/>
                  </a:lnTo>
                  <a:close/>
                  <a:moveTo>
                    <a:pt x="8003" y="5640"/>
                  </a:moveTo>
                  <a:lnTo>
                    <a:pt x="10082" y="5672"/>
                  </a:lnTo>
                  <a:cubicBezTo>
                    <a:pt x="10271" y="5672"/>
                    <a:pt x="10429" y="5829"/>
                    <a:pt x="10429" y="6018"/>
                  </a:cubicBezTo>
                  <a:cubicBezTo>
                    <a:pt x="10397" y="7562"/>
                    <a:pt x="9547" y="8980"/>
                    <a:pt x="8223" y="9799"/>
                  </a:cubicBezTo>
                  <a:cubicBezTo>
                    <a:pt x="8168" y="9844"/>
                    <a:pt x="8100" y="9865"/>
                    <a:pt x="8033" y="9865"/>
                  </a:cubicBezTo>
                  <a:cubicBezTo>
                    <a:pt x="7911" y="9865"/>
                    <a:pt x="7792" y="9795"/>
                    <a:pt x="7751" y="9673"/>
                  </a:cubicBezTo>
                  <a:lnTo>
                    <a:pt x="6680" y="7909"/>
                  </a:lnTo>
                  <a:cubicBezTo>
                    <a:pt x="6554" y="7751"/>
                    <a:pt x="6648" y="7531"/>
                    <a:pt x="6806" y="7436"/>
                  </a:cubicBezTo>
                  <a:cubicBezTo>
                    <a:pt x="7310" y="7121"/>
                    <a:pt x="7625" y="6585"/>
                    <a:pt x="7625" y="5987"/>
                  </a:cubicBezTo>
                  <a:cubicBezTo>
                    <a:pt x="7625" y="5829"/>
                    <a:pt x="7751" y="5672"/>
                    <a:pt x="8003" y="5640"/>
                  </a:cubicBezTo>
                  <a:close/>
                  <a:moveTo>
                    <a:pt x="5892" y="1"/>
                  </a:moveTo>
                  <a:cubicBezTo>
                    <a:pt x="2616" y="1"/>
                    <a:pt x="1" y="2679"/>
                    <a:pt x="1" y="5924"/>
                  </a:cubicBezTo>
                  <a:cubicBezTo>
                    <a:pt x="1" y="9137"/>
                    <a:pt x="2679" y="11815"/>
                    <a:pt x="5892" y="11815"/>
                  </a:cubicBezTo>
                  <a:cubicBezTo>
                    <a:pt x="9169" y="11815"/>
                    <a:pt x="11815" y="9137"/>
                    <a:pt x="11815" y="5924"/>
                  </a:cubicBezTo>
                  <a:cubicBezTo>
                    <a:pt x="11815" y="2679"/>
                    <a:pt x="9137" y="1"/>
                    <a:pt x="5892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85" name="Google Shape;485;p39"/>
          <p:cNvGrpSpPr/>
          <p:nvPr/>
        </p:nvGrpSpPr>
        <p:grpSpPr>
          <a:xfrm>
            <a:off x="2217029" y="831428"/>
            <a:ext cx="4036590" cy="3941676"/>
            <a:chOff x="2256567" y="677103"/>
            <a:chExt cx="4036590" cy="3941676"/>
          </a:xfrm>
        </p:grpSpPr>
        <p:sp>
          <p:nvSpPr>
            <p:cNvPr id="486" name="Google Shape;486;p39"/>
            <p:cNvSpPr/>
            <p:nvPr/>
          </p:nvSpPr>
          <p:spPr>
            <a:xfrm rot="-6597333">
              <a:off x="4296826" y="3950027"/>
              <a:ext cx="586303" cy="586303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39"/>
            <p:cNvSpPr/>
            <p:nvPr/>
          </p:nvSpPr>
          <p:spPr>
            <a:xfrm rot="-6599386">
              <a:off x="2318596" y="1407533"/>
              <a:ext cx="440541" cy="440541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39"/>
            <p:cNvSpPr/>
            <p:nvPr/>
          </p:nvSpPr>
          <p:spPr>
            <a:xfrm rot="-6598839">
              <a:off x="2887641" y="2346984"/>
              <a:ext cx="1199287" cy="1199287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39"/>
            <p:cNvSpPr/>
            <p:nvPr/>
          </p:nvSpPr>
          <p:spPr>
            <a:xfrm rot="-6598620">
              <a:off x="4374916" y="913763"/>
              <a:ext cx="1681581" cy="1681581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39"/>
            <p:cNvSpPr/>
            <p:nvPr/>
          </p:nvSpPr>
          <p:spPr>
            <a:xfrm rot="-6597866">
              <a:off x="2661829" y="2208216"/>
              <a:ext cx="629106" cy="629106"/>
            </a:xfrm>
            <a:prstGeom prst="ellipse">
              <a:avLst/>
            </a:pr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39"/>
            <p:cNvSpPr/>
            <p:nvPr/>
          </p:nvSpPr>
          <p:spPr>
            <a:xfrm rot="-6597701">
              <a:off x="3267625" y="1113818"/>
              <a:ext cx="274172" cy="274172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2" name="Google Shape;492;p39"/>
          <p:cNvGrpSpPr/>
          <p:nvPr/>
        </p:nvGrpSpPr>
        <p:grpSpPr>
          <a:xfrm>
            <a:off x="4407656" y="1970091"/>
            <a:ext cx="2440200" cy="2440200"/>
            <a:chOff x="4447194" y="1815766"/>
            <a:chExt cx="2440200" cy="2440200"/>
          </a:xfrm>
        </p:grpSpPr>
        <p:sp>
          <p:nvSpPr>
            <p:cNvPr id="493" name="Google Shape;493;p39"/>
            <p:cNvSpPr/>
            <p:nvPr/>
          </p:nvSpPr>
          <p:spPr>
            <a:xfrm>
              <a:off x="4447194" y="1815766"/>
              <a:ext cx="2440200" cy="2440200"/>
            </a:xfrm>
            <a:prstGeom prst="ellipse">
              <a:avLst/>
            </a:prstGeom>
            <a:solidFill>
              <a:srgbClr val="10355F"/>
            </a:solidFill>
            <a:ln>
              <a:noFill/>
            </a:ln>
            <a:effectLst>
              <a:outerShdw blurRad="228600" rotWithShape="0" algn="tl" dir="5400000" dist="50800">
                <a:srgbClr val="000000">
                  <a:alpha val="549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" name="Google Shape;494;p39"/>
            <p:cNvSpPr txBox="1"/>
            <p:nvPr/>
          </p:nvSpPr>
          <p:spPr>
            <a:xfrm>
              <a:off x="4660189" y="2504275"/>
              <a:ext cx="2014200" cy="116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51AFDB"/>
                  </a:solidFill>
                  <a:latin typeface="Karla"/>
                  <a:ea typeface="Karla"/>
                  <a:cs typeface="Karla"/>
                  <a:sym typeface="Karla"/>
                </a:rPr>
                <a:t>Zona </a:t>
              </a:r>
              <a:r>
                <a:rPr lang="en" sz="1000">
                  <a:solidFill>
                    <a:srgbClr val="51AFDB"/>
                  </a:solidFill>
                  <a:latin typeface="Karla"/>
                  <a:ea typeface="Karla"/>
                  <a:cs typeface="Karla"/>
                  <a:sym typeface="Karla"/>
                </a:rPr>
                <a:t>accesible</a:t>
              </a:r>
              <a:endParaRPr sz="10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51AFDB"/>
                  </a:solidFill>
                  <a:latin typeface="Karla"/>
                  <a:ea typeface="Karla"/>
                  <a:cs typeface="Karla"/>
                  <a:sym typeface="Karla"/>
                </a:rPr>
                <a:t> desde el exterior</a:t>
              </a:r>
              <a:endParaRPr sz="10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 Light"/>
                  <a:ea typeface="Karla Light"/>
                  <a:cs typeface="Karla Light"/>
                  <a:sym typeface="Karla Light"/>
                </a:rPr>
                <a:t>Es una subred diseñada para alojar servicios públicos como portales web o apps para pacientes externos.</a:t>
              </a:r>
              <a:endParaRPr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endParaRPr>
            </a:p>
          </p:txBody>
        </p:sp>
      </p:grpSp>
      <p:sp>
        <p:nvSpPr>
          <p:cNvPr id="495" name="Google Shape;495;p39"/>
          <p:cNvSpPr/>
          <p:nvPr/>
        </p:nvSpPr>
        <p:spPr>
          <a:xfrm>
            <a:off x="3261525" y="1396450"/>
            <a:ext cx="1891800" cy="1923300"/>
          </a:xfrm>
          <a:prstGeom prst="ellipse">
            <a:avLst/>
          </a:prstGeom>
          <a:solidFill>
            <a:srgbClr val="10355F"/>
          </a:solidFill>
          <a:ln>
            <a:noFill/>
          </a:ln>
          <a:effectLst>
            <a:outerShdw blurRad="228600" rotWithShape="0" algn="tl" dir="5400000" dist="50800">
              <a:srgbClr val="000000">
                <a:alpha val="5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39"/>
          <p:cNvSpPr/>
          <p:nvPr/>
        </p:nvSpPr>
        <p:spPr>
          <a:xfrm>
            <a:off x="3061150" y="3092625"/>
            <a:ext cx="1623900" cy="1575300"/>
          </a:xfrm>
          <a:prstGeom prst="ellipse">
            <a:avLst/>
          </a:prstGeom>
          <a:solidFill>
            <a:srgbClr val="4F81BD"/>
          </a:solidFill>
          <a:ln>
            <a:noFill/>
          </a:ln>
          <a:effectLst>
            <a:outerShdw blurRad="228600" rotWithShape="0" algn="tl" dir="5400000" dist="50800">
              <a:srgbClr val="000000">
                <a:alpha val="5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39"/>
          <p:cNvSpPr/>
          <p:nvPr/>
        </p:nvSpPr>
        <p:spPr>
          <a:xfrm>
            <a:off x="5649139" y="859098"/>
            <a:ext cx="1542600" cy="1543500"/>
          </a:xfrm>
          <a:prstGeom prst="ellipse">
            <a:avLst/>
          </a:prstGeom>
          <a:solidFill>
            <a:srgbClr val="4F81BD"/>
          </a:solidFill>
          <a:ln>
            <a:noFill/>
          </a:ln>
          <a:effectLst>
            <a:outerShdw blurRad="228600" rotWithShape="0" algn="tl" dir="5400000" dist="50800">
              <a:srgbClr val="000000">
                <a:alpha val="5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39"/>
          <p:cNvSpPr txBox="1"/>
          <p:nvPr/>
        </p:nvSpPr>
        <p:spPr>
          <a:xfrm>
            <a:off x="3395475" y="1873975"/>
            <a:ext cx="16239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 Doble protección</a:t>
            </a:r>
            <a:endParaRPr sz="9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Fortinet filtra tráfico desde Internet hacia la DMZ.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Palo Alto controla lo que la DMZ puede alcanzar internamente.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99" name="Google Shape;499;p39"/>
          <p:cNvSpPr txBox="1"/>
          <p:nvPr/>
        </p:nvSpPr>
        <p:spPr>
          <a:xfrm>
            <a:off x="3022725" y="3411300"/>
            <a:ext cx="16239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Zona de contención de amenazas</a:t>
            </a:r>
            <a:endParaRPr sz="9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Si un servicio de la DMZ es atacado, el daño queda confinado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00" name="Google Shape;500;p39"/>
          <p:cNvSpPr txBox="1"/>
          <p:nvPr/>
        </p:nvSpPr>
        <p:spPr>
          <a:xfrm>
            <a:off x="5647275" y="1133400"/>
            <a:ext cx="15321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Escalable y </a:t>
            </a:r>
            <a:endParaRPr sz="9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segura por diseño</a:t>
            </a:r>
            <a:endParaRPr sz="9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Pueden añadirse más servicios externos sin comprometer el rendimiento ni la seguridad del resto de la red.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01" name="Google Shape;501;p39"/>
          <p:cNvSpPr/>
          <p:nvPr/>
        </p:nvSpPr>
        <p:spPr>
          <a:xfrm>
            <a:off x="3656405" y="3169295"/>
            <a:ext cx="356556" cy="349557"/>
          </a:xfrm>
          <a:custGeom>
            <a:rect b="b" l="l" r="r" t="t"/>
            <a:pathLst>
              <a:path extrusionOk="0" h="11737" w="11972">
                <a:moveTo>
                  <a:pt x="3214" y="5522"/>
                </a:moveTo>
                <a:cubicBezTo>
                  <a:pt x="3403" y="5522"/>
                  <a:pt x="3560" y="5679"/>
                  <a:pt x="3560" y="5868"/>
                </a:cubicBezTo>
                <a:cubicBezTo>
                  <a:pt x="3560" y="6057"/>
                  <a:pt x="3403" y="6215"/>
                  <a:pt x="3214" y="6215"/>
                </a:cubicBezTo>
                <a:cubicBezTo>
                  <a:pt x="3024" y="6215"/>
                  <a:pt x="2867" y="6057"/>
                  <a:pt x="2867" y="5868"/>
                </a:cubicBezTo>
                <a:cubicBezTo>
                  <a:pt x="2867" y="5679"/>
                  <a:pt x="3024" y="5522"/>
                  <a:pt x="3214" y="5522"/>
                </a:cubicBezTo>
                <a:close/>
                <a:moveTo>
                  <a:pt x="5986" y="2749"/>
                </a:moveTo>
                <a:cubicBezTo>
                  <a:pt x="6931" y="2749"/>
                  <a:pt x="7719" y="3537"/>
                  <a:pt x="7719" y="4482"/>
                </a:cubicBezTo>
                <a:cubicBezTo>
                  <a:pt x="7719" y="5427"/>
                  <a:pt x="6963" y="6215"/>
                  <a:pt x="5986" y="6215"/>
                </a:cubicBezTo>
                <a:cubicBezTo>
                  <a:pt x="5041" y="6215"/>
                  <a:pt x="4253" y="5427"/>
                  <a:pt x="4253" y="4482"/>
                </a:cubicBezTo>
                <a:cubicBezTo>
                  <a:pt x="4253" y="3537"/>
                  <a:pt x="5041" y="2749"/>
                  <a:pt x="5986" y="2749"/>
                </a:cubicBezTo>
                <a:close/>
                <a:moveTo>
                  <a:pt x="8790" y="5522"/>
                </a:moveTo>
                <a:cubicBezTo>
                  <a:pt x="8979" y="5522"/>
                  <a:pt x="9136" y="5679"/>
                  <a:pt x="9136" y="5868"/>
                </a:cubicBezTo>
                <a:cubicBezTo>
                  <a:pt x="9136" y="6057"/>
                  <a:pt x="8979" y="6215"/>
                  <a:pt x="8790" y="6215"/>
                </a:cubicBezTo>
                <a:cubicBezTo>
                  <a:pt x="8569" y="6215"/>
                  <a:pt x="8412" y="6057"/>
                  <a:pt x="8412" y="5868"/>
                </a:cubicBezTo>
                <a:cubicBezTo>
                  <a:pt x="8412" y="5679"/>
                  <a:pt x="8569" y="5522"/>
                  <a:pt x="8790" y="5522"/>
                </a:cubicBezTo>
                <a:close/>
                <a:moveTo>
                  <a:pt x="4600" y="7601"/>
                </a:moveTo>
                <a:cubicBezTo>
                  <a:pt x="4789" y="7601"/>
                  <a:pt x="4946" y="7759"/>
                  <a:pt x="4946" y="7948"/>
                </a:cubicBezTo>
                <a:cubicBezTo>
                  <a:pt x="4946" y="8168"/>
                  <a:pt x="4789" y="8326"/>
                  <a:pt x="4600" y="8326"/>
                </a:cubicBezTo>
                <a:cubicBezTo>
                  <a:pt x="4411" y="8326"/>
                  <a:pt x="4253" y="8168"/>
                  <a:pt x="4253" y="7948"/>
                </a:cubicBezTo>
                <a:cubicBezTo>
                  <a:pt x="4253" y="7759"/>
                  <a:pt x="4411" y="7601"/>
                  <a:pt x="4600" y="7601"/>
                </a:cubicBezTo>
                <a:close/>
                <a:moveTo>
                  <a:pt x="6679" y="6939"/>
                </a:moveTo>
                <a:cubicBezTo>
                  <a:pt x="7278" y="6939"/>
                  <a:pt x="7719" y="7412"/>
                  <a:pt x="7719" y="7948"/>
                </a:cubicBezTo>
                <a:cubicBezTo>
                  <a:pt x="7719" y="8515"/>
                  <a:pt x="7246" y="8987"/>
                  <a:pt x="6679" y="8987"/>
                </a:cubicBezTo>
                <a:cubicBezTo>
                  <a:pt x="6080" y="8987"/>
                  <a:pt x="5671" y="8515"/>
                  <a:pt x="5671" y="7948"/>
                </a:cubicBezTo>
                <a:cubicBezTo>
                  <a:pt x="5671" y="7412"/>
                  <a:pt x="6143" y="6939"/>
                  <a:pt x="6679" y="6939"/>
                </a:cubicBezTo>
                <a:close/>
                <a:moveTo>
                  <a:pt x="5309" y="1"/>
                </a:moveTo>
                <a:cubicBezTo>
                  <a:pt x="5222" y="1"/>
                  <a:pt x="5135" y="24"/>
                  <a:pt x="5072" y="71"/>
                </a:cubicBezTo>
                <a:cubicBezTo>
                  <a:pt x="4946" y="197"/>
                  <a:pt x="4946" y="449"/>
                  <a:pt x="5072" y="544"/>
                </a:cubicBezTo>
                <a:cubicBezTo>
                  <a:pt x="5356" y="828"/>
                  <a:pt x="5545" y="1080"/>
                  <a:pt x="5639" y="1363"/>
                </a:cubicBezTo>
                <a:cubicBezTo>
                  <a:pt x="5356" y="1426"/>
                  <a:pt x="5041" y="1458"/>
                  <a:pt x="4757" y="1552"/>
                </a:cubicBezTo>
                <a:cubicBezTo>
                  <a:pt x="4474" y="1017"/>
                  <a:pt x="4096" y="796"/>
                  <a:pt x="3592" y="576"/>
                </a:cubicBezTo>
                <a:cubicBezTo>
                  <a:pt x="3552" y="560"/>
                  <a:pt x="3507" y="552"/>
                  <a:pt x="3460" y="552"/>
                </a:cubicBezTo>
                <a:cubicBezTo>
                  <a:pt x="3320" y="552"/>
                  <a:pt x="3166" y="623"/>
                  <a:pt x="3119" y="765"/>
                </a:cubicBezTo>
                <a:cubicBezTo>
                  <a:pt x="3024" y="922"/>
                  <a:pt x="3119" y="1143"/>
                  <a:pt x="3277" y="1206"/>
                </a:cubicBezTo>
                <a:cubicBezTo>
                  <a:pt x="3623" y="1363"/>
                  <a:pt x="3907" y="1552"/>
                  <a:pt x="4064" y="1804"/>
                </a:cubicBezTo>
                <a:cubicBezTo>
                  <a:pt x="3781" y="1930"/>
                  <a:pt x="3529" y="2088"/>
                  <a:pt x="3308" y="2245"/>
                </a:cubicBezTo>
                <a:cubicBezTo>
                  <a:pt x="2867" y="1836"/>
                  <a:pt x="2394" y="1773"/>
                  <a:pt x="1890" y="1741"/>
                </a:cubicBezTo>
                <a:cubicBezTo>
                  <a:pt x="1701" y="1741"/>
                  <a:pt x="1544" y="1836"/>
                  <a:pt x="1481" y="2056"/>
                </a:cubicBezTo>
                <a:cubicBezTo>
                  <a:pt x="1481" y="2245"/>
                  <a:pt x="1607" y="2403"/>
                  <a:pt x="1796" y="2434"/>
                </a:cubicBezTo>
                <a:cubicBezTo>
                  <a:pt x="2205" y="2466"/>
                  <a:pt x="2489" y="2529"/>
                  <a:pt x="2741" y="2718"/>
                </a:cubicBezTo>
                <a:cubicBezTo>
                  <a:pt x="2552" y="2907"/>
                  <a:pt x="2363" y="3159"/>
                  <a:pt x="2205" y="3379"/>
                </a:cubicBezTo>
                <a:cubicBezTo>
                  <a:pt x="1949" y="3294"/>
                  <a:pt x="1725" y="3260"/>
                  <a:pt x="1508" y="3260"/>
                </a:cubicBezTo>
                <a:cubicBezTo>
                  <a:pt x="1243" y="3260"/>
                  <a:pt x="987" y="3310"/>
                  <a:pt x="693" y="3379"/>
                </a:cubicBezTo>
                <a:cubicBezTo>
                  <a:pt x="504" y="3411"/>
                  <a:pt x="441" y="3631"/>
                  <a:pt x="473" y="3821"/>
                </a:cubicBezTo>
                <a:cubicBezTo>
                  <a:pt x="498" y="3970"/>
                  <a:pt x="621" y="4060"/>
                  <a:pt x="781" y="4060"/>
                </a:cubicBezTo>
                <a:cubicBezTo>
                  <a:pt x="823" y="4060"/>
                  <a:pt x="868" y="4054"/>
                  <a:pt x="914" y="4041"/>
                </a:cubicBezTo>
                <a:cubicBezTo>
                  <a:pt x="1160" y="3979"/>
                  <a:pt x="1366" y="3931"/>
                  <a:pt x="1567" y="3931"/>
                </a:cubicBezTo>
                <a:cubicBezTo>
                  <a:pt x="1674" y="3931"/>
                  <a:pt x="1780" y="3945"/>
                  <a:pt x="1890" y="3978"/>
                </a:cubicBezTo>
                <a:cubicBezTo>
                  <a:pt x="1764" y="4262"/>
                  <a:pt x="1638" y="4514"/>
                  <a:pt x="1607" y="4797"/>
                </a:cubicBezTo>
                <a:cubicBezTo>
                  <a:pt x="1071" y="4797"/>
                  <a:pt x="630" y="4986"/>
                  <a:pt x="189" y="5301"/>
                </a:cubicBezTo>
                <a:cubicBezTo>
                  <a:pt x="32" y="5427"/>
                  <a:pt x="0" y="5616"/>
                  <a:pt x="126" y="5774"/>
                </a:cubicBezTo>
                <a:cubicBezTo>
                  <a:pt x="186" y="5874"/>
                  <a:pt x="296" y="5935"/>
                  <a:pt x="409" y="5935"/>
                </a:cubicBezTo>
                <a:cubicBezTo>
                  <a:pt x="474" y="5935"/>
                  <a:pt x="541" y="5915"/>
                  <a:pt x="599" y="5868"/>
                </a:cubicBezTo>
                <a:cubicBezTo>
                  <a:pt x="914" y="5616"/>
                  <a:pt x="1166" y="5459"/>
                  <a:pt x="1481" y="5459"/>
                </a:cubicBezTo>
                <a:cubicBezTo>
                  <a:pt x="1481" y="5585"/>
                  <a:pt x="1449" y="5742"/>
                  <a:pt x="1449" y="5868"/>
                </a:cubicBezTo>
                <a:cubicBezTo>
                  <a:pt x="1449" y="6026"/>
                  <a:pt x="1449" y="6183"/>
                  <a:pt x="1481" y="6341"/>
                </a:cubicBezTo>
                <a:cubicBezTo>
                  <a:pt x="945" y="6530"/>
                  <a:pt x="662" y="6876"/>
                  <a:pt x="347" y="7318"/>
                </a:cubicBezTo>
                <a:cubicBezTo>
                  <a:pt x="221" y="7475"/>
                  <a:pt x="284" y="7664"/>
                  <a:pt x="441" y="7790"/>
                </a:cubicBezTo>
                <a:cubicBezTo>
                  <a:pt x="507" y="7843"/>
                  <a:pt x="584" y="7868"/>
                  <a:pt x="658" y="7868"/>
                </a:cubicBezTo>
                <a:cubicBezTo>
                  <a:pt x="761" y="7868"/>
                  <a:pt x="859" y="7819"/>
                  <a:pt x="914" y="7727"/>
                </a:cubicBezTo>
                <a:cubicBezTo>
                  <a:pt x="1134" y="7349"/>
                  <a:pt x="1323" y="7129"/>
                  <a:pt x="1607" y="7002"/>
                </a:cubicBezTo>
                <a:cubicBezTo>
                  <a:pt x="1701" y="7286"/>
                  <a:pt x="1764" y="7570"/>
                  <a:pt x="1922" y="7822"/>
                </a:cubicBezTo>
                <a:cubicBezTo>
                  <a:pt x="1481" y="8200"/>
                  <a:pt x="1323" y="8609"/>
                  <a:pt x="1166" y="9145"/>
                </a:cubicBezTo>
                <a:cubicBezTo>
                  <a:pt x="1134" y="9334"/>
                  <a:pt x="1260" y="9523"/>
                  <a:pt x="1418" y="9554"/>
                </a:cubicBezTo>
                <a:cubicBezTo>
                  <a:pt x="1452" y="9566"/>
                  <a:pt x="1486" y="9571"/>
                  <a:pt x="1519" y="9571"/>
                </a:cubicBezTo>
                <a:cubicBezTo>
                  <a:pt x="1671" y="9571"/>
                  <a:pt x="1807" y="9463"/>
                  <a:pt x="1859" y="9334"/>
                </a:cubicBezTo>
                <a:cubicBezTo>
                  <a:pt x="1953" y="8924"/>
                  <a:pt x="2048" y="8672"/>
                  <a:pt x="2268" y="8420"/>
                </a:cubicBezTo>
                <a:cubicBezTo>
                  <a:pt x="2426" y="8672"/>
                  <a:pt x="2646" y="8893"/>
                  <a:pt x="2835" y="9082"/>
                </a:cubicBezTo>
                <a:cubicBezTo>
                  <a:pt x="2520" y="9554"/>
                  <a:pt x="2552" y="10027"/>
                  <a:pt x="2583" y="10594"/>
                </a:cubicBezTo>
                <a:cubicBezTo>
                  <a:pt x="2583" y="10783"/>
                  <a:pt x="2741" y="10909"/>
                  <a:pt x="2961" y="10909"/>
                </a:cubicBezTo>
                <a:lnTo>
                  <a:pt x="2993" y="10909"/>
                </a:lnTo>
                <a:cubicBezTo>
                  <a:pt x="3182" y="10909"/>
                  <a:pt x="3308" y="10720"/>
                  <a:pt x="3308" y="10500"/>
                </a:cubicBezTo>
                <a:cubicBezTo>
                  <a:pt x="3277" y="10090"/>
                  <a:pt x="3277" y="9806"/>
                  <a:pt x="3371" y="9523"/>
                </a:cubicBezTo>
                <a:cubicBezTo>
                  <a:pt x="3623" y="9680"/>
                  <a:pt x="3844" y="9838"/>
                  <a:pt x="4127" y="9964"/>
                </a:cubicBezTo>
                <a:cubicBezTo>
                  <a:pt x="4001" y="10500"/>
                  <a:pt x="4159" y="10941"/>
                  <a:pt x="4411" y="11445"/>
                </a:cubicBezTo>
                <a:cubicBezTo>
                  <a:pt x="4452" y="11589"/>
                  <a:pt x="4561" y="11652"/>
                  <a:pt x="4684" y="11652"/>
                </a:cubicBezTo>
                <a:cubicBezTo>
                  <a:pt x="4749" y="11652"/>
                  <a:pt x="4818" y="11635"/>
                  <a:pt x="4883" y="11602"/>
                </a:cubicBezTo>
                <a:cubicBezTo>
                  <a:pt x="5041" y="11539"/>
                  <a:pt x="5104" y="11350"/>
                  <a:pt x="5041" y="11130"/>
                </a:cubicBezTo>
                <a:cubicBezTo>
                  <a:pt x="4883" y="10783"/>
                  <a:pt x="4757" y="10500"/>
                  <a:pt x="4789" y="10184"/>
                </a:cubicBezTo>
                <a:lnTo>
                  <a:pt x="4789" y="10184"/>
                </a:lnTo>
                <a:cubicBezTo>
                  <a:pt x="5072" y="10279"/>
                  <a:pt x="5356" y="10311"/>
                  <a:pt x="5671" y="10342"/>
                </a:cubicBezTo>
                <a:cubicBezTo>
                  <a:pt x="5734" y="10909"/>
                  <a:pt x="6049" y="11256"/>
                  <a:pt x="6427" y="11665"/>
                </a:cubicBezTo>
                <a:cubicBezTo>
                  <a:pt x="6474" y="11712"/>
                  <a:pt x="6561" y="11736"/>
                  <a:pt x="6651" y="11736"/>
                </a:cubicBezTo>
                <a:cubicBezTo>
                  <a:pt x="6742" y="11736"/>
                  <a:pt x="6837" y="11712"/>
                  <a:pt x="6900" y="11665"/>
                </a:cubicBezTo>
                <a:cubicBezTo>
                  <a:pt x="6994" y="11539"/>
                  <a:pt x="6994" y="11287"/>
                  <a:pt x="6900" y="11193"/>
                </a:cubicBezTo>
                <a:cubicBezTo>
                  <a:pt x="6616" y="10909"/>
                  <a:pt x="6427" y="10657"/>
                  <a:pt x="6333" y="10342"/>
                </a:cubicBezTo>
                <a:cubicBezTo>
                  <a:pt x="6616" y="10311"/>
                  <a:pt x="6931" y="10279"/>
                  <a:pt x="7215" y="10184"/>
                </a:cubicBezTo>
                <a:cubicBezTo>
                  <a:pt x="7467" y="10720"/>
                  <a:pt x="7876" y="10941"/>
                  <a:pt x="8380" y="11130"/>
                </a:cubicBezTo>
                <a:cubicBezTo>
                  <a:pt x="8424" y="11156"/>
                  <a:pt x="8474" y="11167"/>
                  <a:pt x="8526" y="11167"/>
                </a:cubicBezTo>
                <a:cubicBezTo>
                  <a:pt x="8662" y="11167"/>
                  <a:pt x="8807" y="11086"/>
                  <a:pt x="8853" y="10972"/>
                </a:cubicBezTo>
                <a:cubicBezTo>
                  <a:pt x="8947" y="10815"/>
                  <a:pt x="8853" y="10594"/>
                  <a:pt x="8695" y="10500"/>
                </a:cubicBezTo>
                <a:cubicBezTo>
                  <a:pt x="8349" y="10374"/>
                  <a:pt x="8065" y="10184"/>
                  <a:pt x="7908" y="9932"/>
                </a:cubicBezTo>
                <a:cubicBezTo>
                  <a:pt x="8191" y="9806"/>
                  <a:pt x="8412" y="9649"/>
                  <a:pt x="8664" y="9491"/>
                </a:cubicBezTo>
                <a:cubicBezTo>
                  <a:pt x="9105" y="9901"/>
                  <a:pt x="9578" y="9964"/>
                  <a:pt x="10082" y="9995"/>
                </a:cubicBezTo>
                <a:lnTo>
                  <a:pt x="10113" y="9995"/>
                </a:lnTo>
                <a:cubicBezTo>
                  <a:pt x="10302" y="9995"/>
                  <a:pt x="10428" y="9869"/>
                  <a:pt x="10460" y="9680"/>
                </a:cubicBezTo>
                <a:cubicBezTo>
                  <a:pt x="10460" y="9491"/>
                  <a:pt x="10365" y="9334"/>
                  <a:pt x="10145" y="9302"/>
                </a:cubicBezTo>
                <a:cubicBezTo>
                  <a:pt x="9767" y="9239"/>
                  <a:pt x="9483" y="9208"/>
                  <a:pt x="9199" y="9019"/>
                </a:cubicBezTo>
                <a:cubicBezTo>
                  <a:pt x="9388" y="8830"/>
                  <a:pt x="9609" y="8578"/>
                  <a:pt x="9767" y="8357"/>
                </a:cubicBezTo>
                <a:cubicBezTo>
                  <a:pt x="9980" y="8437"/>
                  <a:pt x="10181" y="8466"/>
                  <a:pt x="10384" y="8466"/>
                </a:cubicBezTo>
                <a:cubicBezTo>
                  <a:pt x="10660" y="8466"/>
                  <a:pt x="10938" y="8412"/>
                  <a:pt x="11247" y="8357"/>
                </a:cubicBezTo>
                <a:cubicBezTo>
                  <a:pt x="11468" y="8294"/>
                  <a:pt x="11531" y="8105"/>
                  <a:pt x="11499" y="7916"/>
                </a:cubicBezTo>
                <a:cubicBezTo>
                  <a:pt x="11472" y="7751"/>
                  <a:pt x="11300" y="7658"/>
                  <a:pt x="11131" y="7658"/>
                </a:cubicBezTo>
                <a:cubicBezTo>
                  <a:pt x="11107" y="7658"/>
                  <a:pt x="11082" y="7660"/>
                  <a:pt x="11058" y="7664"/>
                </a:cubicBezTo>
                <a:cubicBezTo>
                  <a:pt x="10806" y="7748"/>
                  <a:pt x="10596" y="7804"/>
                  <a:pt x="10391" y="7804"/>
                </a:cubicBezTo>
                <a:cubicBezTo>
                  <a:pt x="10288" y="7804"/>
                  <a:pt x="10187" y="7790"/>
                  <a:pt x="10082" y="7759"/>
                </a:cubicBezTo>
                <a:cubicBezTo>
                  <a:pt x="10208" y="7475"/>
                  <a:pt x="10302" y="7192"/>
                  <a:pt x="10365" y="6939"/>
                </a:cubicBezTo>
                <a:lnTo>
                  <a:pt x="10397" y="6939"/>
                </a:lnTo>
                <a:cubicBezTo>
                  <a:pt x="10932" y="6939"/>
                  <a:pt x="11342" y="6687"/>
                  <a:pt x="11751" y="6372"/>
                </a:cubicBezTo>
                <a:cubicBezTo>
                  <a:pt x="11940" y="6246"/>
                  <a:pt x="11972" y="6057"/>
                  <a:pt x="11846" y="5900"/>
                </a:cubicBezTo>
                <a:cubicBezTo>
                  <a:pt x="11789" y="5843"/>
                  <a:pt x="11687" y="5798"/>
                  <a:pt x="11580" y="5798"/>
                </a:cubicBezTo>
                <a:cubicBezTo>
                  <a:pt x="11509" y="5798"/>
                  <a:pt x="11436" y="5818"/>
                  <a:pt x="11373" y="5868"/>
                </a:cubicBezTo>
                <a:cubicBezTo>
                  <a:pt x="11058" y="6120"/>
                  <a:pt x="10775" y="6278"/>
                  <a:pt x="10460" y="6278"/>
                </a:cubicBezTo>
                <a:cubicBezTo>
                  <a:pt x="10460" y="6152"/>
                  <a:pt x="10491" y="5994"/>
                  <a:pt x="10491" y="5868"/>
                </a:cubicBezTo>
                <a:cubicBezTo>
                  <a:pt x="10491" y="5711"/>
                  <a:pt x="10491" y="5553"/>
                  <a:pt x="10460" y="5396"/>
                </a:cubicBezTo>
                <a:cubicBezTo>
                  <a:pt x="11027" y="5207"/>
                  <a:pt x="11279" y="4860"/>
                  <a:pt x="11594" y="4419"/>
                </a:cubicBezTo>
                <a:cubicBezTo>
                  <a:pt x="11720" y="4262"/>
                  <a:pt x="11688" y="4073"/>
                  <a:pt x="11531" y="3947"/>
                </a:cubicBezTo>
                <a:cubicBezTo>
                  <a:pt x="11465" y="3894"/>
                  <a:pt x="11394" y="3869"/>
                  <a:pt x="11324" y="3869"/>
                </a:cubicBezTo>
                <a:cubicBezTo>
                  <a:pt x="11226" y="3869"/>
                  <a:pt x="11132" y="3918"/>
                  <a:pt x="11058" y="4010"/>
                </a:cubicBezTo>
                <a:cubicBezTo>
                  <a:pt x="10838" y="4388"/>
                  <a:pt x="10617" y="4608"/>
                  <a:pt x="10365" y="4734"/>
                </a:cubicBezTo>
                <a:cubicBezTo>
                  <a:pt x="10271" y="4451"/>
                  <a:pt x="10176" y="4167"/>
                  <a:pt x="10019" y="3915"/>
                </a:cubicBezTo>
                <a:cubicBezTo>
                  <a:pt x="10460" y="3537"/>
                  <a:pt x="10617" y="3127"/>
                  <a:pt x="10775" y="2592"/>
                </a:cubicBezTo>
                <a:cubicBezTo>
                  <a:pt x="10806" y="2403"/>
                  <a:pt x="10712" y="2214"/>
                  <a:pt x="10554" y="2182"/>
                </a:cubicBezTo>
                <a:cubicBezTo>
                  <a:pt x="10520" y="2171"/>
                  <a:pt x="10485" y="2166"/>
                  <a:pt x="10450" y="2166"/>
                </a:cubicBezTo>
                <a:cubicBezTo>
                  <a:pt x="10292" y="2166"/>
                  <a:pt x="10139" y="2274"/>
                  <a:pt x="10113" y="2403"/>
                </a:cubicBezTo>
                <a:cubicBezTo>
                  <a:pt x="9987" y="2812"/>
                  <a:pt x="9924" y="3064"/>
                  <a:pt x="9672" y="3316"/>
                </a:cubicBezTo>
                <a:cubicBezTo>
                  <a:pt x="9515" y="3064"/>
                  <a:pt x="9325" y="2844"/>
                  <a:pt x="9136" y="2655"/>
                </a:cubicBezTo>
                <a:cubicBezTo>
                  <a:pt x="9451" y="2182"/>
                  <a:pt x="9388" y="1710"/>
                  <a:pt x="9357" y="1143"/>
                </a:cubicBezTo>
                <a:cubicBezTo>
                  <a:pt x="9357" y="954"/>
                  <a:pt x="9168" y="828"/>
                  <a:pt x="8979" y="828"/>
                </a:cubicBezTo>
                <a:cubicBezTo>
                  <a:pt x="8790" y="828"/>
                  <a:pt x="8664" y="1017"/>
                  <a:pt x="8664" y="1237"/>
                </a:cubicBezTo>
                <a:cubicBezTo>
                  <a:pt x="8695" y="1647"/>
                  <a:pt x="8695" y="1930"/>
                  <a:pt x="8569" y="2214"/>
                </a:cubicBezTo>
                <a:cubicBezTo>
                  <a:pt x="8349" y="2056"/>
                  <a:pt x="8097" y="1899"/>
                  <a:pt x="7813" y="1773"/>
                </a:cubicBezTo>
                <a:cubicBezTo>
                  <a:pt x="7939" y="1237"/>
                  <a:pt x="7782" y="796"/>
                  <a:pt x="7561" y="292"/>
                </a:cubicBezTo>
                <a:cubicBezTo>
                  <a:pt x="7493" y="178"/>
                  <a:pt x="7375" y="97"/>
                  <a:pt x="7243" y="97"/>
                </a:cubicBezTo>
                <a:cubicBezTo>
                  <a:pt x="7193" y="97"/>
                  <a:pt x="7141" y="108"/>
                  <a:pt x="7089" y="134"/>
                </a:cubicBezTo>
                <a:cubicBezTo>
                  <a:pt x="6931" y="197"/>
                  <a:pt x="6837" y="386"/>
                  <a:pt x="6931" y="607"/>
                </a:cubicBezTo>
                <a:cubicBezTo>
                  <a:pt x="7089" y="954"/>
                  <a:pt x="7215" y="1237"/>
                  <a:pt x="7152" y="1552"/>
                </a:cubicBezTo>
                <a:cubicBezTo>
                  <a:pt x="6900" y="1458"/>
                  <a:pt x="6616" y="1426"/>
                  <a:pt x="6301" y="1395"/>
                </a:cubicBezTo>
                <a:cubicBezTo>
                  <a:pt x="6206" y="828"/>
                  <a:pt x="5891" y="481"/>
                  <a:pt x="5545" y="71"/>
                </a:cubicBezTo>
                <a:cubicBezTo>
                  <a:pt x="5482" y="24"/>
                  <a:pt x="5395" y="1"/>
                  <a:pt x="5309" y="1"/>
                </a:cubicBezTo>
                <a:close/>
              </a:path>
            </a:pathLst>
          </a:custGeom>
          <a:solidFill>
            <a:srgbClr val="51AF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02" name="Google Shape;502;p39"/>
          <p:cNvGrpSpPr/>
          <p:nvPr/>
        </p:nvGrpSpPr>
        <p:grpSpPr>
          <a:xfrm>
            <a:off x="4052119" y="1521174"/>
            <a:ext cx="310602" cy="352803"/>
            <a:chOff x="-28069875" y="3175300"/>
            <a:chExt cx="260725" cy="296150"/>
          </a:xfrm>
        </p:grpSpPr>
        <p:sp>
          <p:nvSpPr>
            <p:cNvPr id="503" name="Google Shape;503;p39"/>
            <p:cNvSpPr/>
            <p:nvPr/>
          </p:nvSpPr>
          <p:spPr>
            <a:xfrm>
              <a:off x="-28059650" y="3192625"/>
              <a:ext cx="26025" cy="70125"/>
            </a:xfrm>
            <a:custGeom>
              <a:rect b="b" l="l" r="r" t="t"/>
              <a:pathLst>
                <a:path extrusionOk="0" h="2805" w="1041">
                  <a:moveTo>
                    <a:pt x="536" y="0"/>
                  </a:moveTo>
                  <a:cubicBezTo>
                    <a:pt x="253" y="0"/>
                    <a:pt x="1" y="252"/>
                    <a:pt x="1" y="536"/>
                  </a:cubicBezTo>
                  <a:lnTo>
                    <a:pt x="1" y="2458"/>
                  </a:lnTo>
                  <a:cubicBezTo>
                    <a:pt x="410" y="2458"/>
                    <a:pt x="757" y="2584"/>
                    <a:pt x="1040" y="2804"/>
                  </a:cubicBezTo>
                  <a:lnTo>
                    <a:pt x="1040" y="536"/>
                  </a:lnTo>
                  <a:cubicBezTo>
                    <a:pt x="1040" y="252"/>
                    <a:pt x="788" y="0"/>
                    <a:pt x="536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39"/>
            <p:cNvSpPr/>
            <p:nvPr/>
          </p:nvSpPr>
          <p:spPr>
            <a:xfrm>
              <a:off x="-27843050" y="3192625"/>
              <a:ext cx="26025" cy="69325"/>
            </a:xfrm>
            <a:custGeom>
              <a:rect b="b" l="l" r="r" t="t"/>
              <a:pathLst>
                <a:path extrusionOk="0" h="2773" w="1041">
                  <a:moveTo>
                    <a:pt x="536" y="0"/>
                  </a:moveTo>
                  <a:cubicBezTo>
                    <a:pt x="253" y="0"/>
                    <a:pt x="1" y="252"/>
                    <a:pt x="1" y="536"/>
                  </a:cubicBezTo>
                  <a:lnTo>
                    <a:pt x="1" y="2773"/>
                  </a:lnTo>
                  <a:cubicBezTo>
                    <a:pt x="284" y="2584"/>
                    <a:pt x="694" y="2426"/>
                    <a:pt x="1040" y="2426"/>
                  </a:cubicBezTo>
                  <a:lnTo>
                    <a:pt x="1040" y="536"/>
                  </a:lnTo>
                  <a:cubicBezTo>
                    <a:pt x="1040" y="252"/>
                    <a:pt x="788" y="0"/>
                    <a:pt x="536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39"/>
            <p:cNvSpPr/>
            <p:nvPr/>
          </p:nvSpPr>
          <p:spPr>
            <a:xfrm>
              <a:off x="-27973000" y="3202075"/>
              <a:ext cx="26000" cy="57525"/>
            </a:xfrm>
            <a:custGeom>
              <a:rect b="b" l="l" r="r" t="t"/>
              <a:pathLst>
                <a:path extrusionOk="0" h="2301" w="1040">
                  <a:moveTo>
                    <a:pt x="536" y="0"/>
                  </a:moveTo>
                  <a:cubicBezTo>
                    <a:pt x="252" y="0"/>
                    <a:pt x="0" y="221"/>
                    <a:pt x="0" y="504"/>
                  </a:cubicBezTo>
                  <a:lnTo>
                    <a:pt x="0" y="1954"/>
                  </a:lnTo>
                  <a:cubicBezTo>
                    <a:pt x="410" y="1985"/>
                    <a:pt x="756" y="2080"/>
                    <a:pt x="1040" y="2300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39"/>
            <p:cNvSpPr/>
            <p:nvPr/>
          </p:nvSpPr>
          <p:spPr>
            <a:xfrm>
              <a:off x="-27929675" y="3202075"/>
              <a:ext cx="26000" cy="57525"/>
            </a:xfrm>
            <a:custGeom>
              <a:rect b="b" l="l" r="r" t="t"/>
              <a:pathLst>
                <a:path extrusionOk="0" h="2301" w="1040">
                  <a:moveTo>
                    <a:pt x="536" y="0"/>
                  </a:moveTo>
                  <a:cubicBezTo>
                    <a:pt x="252" y="0"/>
                    <a:pt x="0" y="221"/>
                    <a:pt x="0" y="504"/>
                  </a:cubicBezTo>
                  <a:lnTo>
                    <a:pt x="0" y="2300"/>
                  </a:lnTo>
                  <a:cubicBezTo>
                    <a:pt x="315" y="2111"/>
                    <a:pt x="693" y="1985"/>
                    <a:pt x="1040" y="1954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39"/>
            <p:cNvSpPr/>
            <p:nvPr/>
          </p:nvSpPr>
          <p:spPr>
            <a:xfrm>
              <a:off x="-28016325" y="3175300"/>
              <a:ext cx="26025" cy="91375"/>
            </a:xfrm>
            <a:custGeom>
              <a:rect b="b" l="l" r="r" t="t"/>
              <a:pathLst>
                <a:path extrusionOk="0" h="3655" w="1041">
                  <a:moveTo>
                    <a:pt x="536" y="0"/>
                  </a:moveTo>
                  <a:cubicBezTo>
                    <a:pt x="253" y="0"/>
                    <a:pt x="1" y="221"/>
                    <a:pt x="1" y="504"/>
                  </a:cubicBezTo>
                  <a:lnTo>
                    <a:pt x="1" y="3655"/>
                  </a:lnTo>
                  <a:cubicBezTo>
                    <a:pt x="1" y="3655"/>
                    <a:pt x="1" y="3623"/>
                    <a:pt x="64" y="3623"/>
                  </a:cubicBezTo>
                  <a:cubicBezTo>
                    <a:pt x="284" y="3371"/>
                    <a:pt x="631" y="3182"/>
                    <a:pt x="1040" y="3056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39"/>
            <p:cNvSpPr/>
            <p:nvPr/>
          </p:nvSpPr>
          <p:spPr>
            <a:xfrm>
              <a:off x="-27886375" y="3176075"/>
              <a:ext cx="26025" cy="91400"/>
            </a:xfrm>
            <a:custGeom>
              <a:rect b="b" l="l" r="r" t="t"/>
              <a:pathLst>
                <a:path extrusionOk="0" h="3656" w="1041">
                  <a:moveTo>
                    <a:pt x="536" y="1"/>
                  </a:moveTo>
                  <a:cubicBezTo>
                    <a:pt x="253" y="1"/>
                    <a:pt x="1" y="221"/>
                    <a:pt x="1" y="505"/>
                  </a:cubicBezTo>
                  <a:lnTo>
                    <a:pt x="1" y="3088"/>
                  </a:lnTo>
                  <a:cubicBezTo>
                    <a:pt x="379" y="3151"/>
                    <a:pt x="726" y="3340"/>
                    <a:pt x="1041" y="3655"/>
                  </a:cubicBezTo>
                  <a:lnTo>
                    <a:pt x="1041" y="505"/>
                  </a:lnTo>
                  <a:cubicBezTo>
                    <a:pt x="1041" y="253"/>
                    <a:pt x="789" y="1"/>
                    <a:pt x="536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39"/>
            <p:cNvSpPr/>
            <p:nvPr/>
          </p:nvSpPr>
          <p:spPr>
            <a:xfrm>
              <a:off x="-28017900" y="3269025"/>
              <a:ext cx="161475" cy="133125"/>
            </a:xfrm>
            <a:custGeom>
              <a:rect b="b" l="l" r="r" t="t"/>
              <a:pathLst>
                <a:path extrusionOk="0" h="5325" w="6459">
                  <a:moveTo>
                    <a:pt x="1733" y="0"/>
                  </a:moveTo>
                  <a:cubicBezTo>
                    <a:pt x="1355" y="0"/>
                    <a:pt x="946" y="158"/>
                    <a:pt x="662" y="410"/>
                  </a:cubicBezTo>
                  <a:cubicBezTo>
                    <a:pt x="64" y="882"/>
                    <a:pt x="1" y="1639"/>
                    <a:pt x="347" y="2237"/>
                  </a:cubicBezTo>
                  <a:cubicBezTo>
                    <a:pt x="1324" y="2458"/>
                    <a:pt x="2048" y="3340"/>
                    <a:pt x="2174" y="4348"/>
                  </a:cubicBezTo>
                  <a:lnTo>
                    <a:pt x="3214" y="5325"/>
                  </a:lnTo>
                  <a:lnTo>
                    <a:pt x="4285" y="4348"/>
                  </a:lnTo>
                  <a:cubicBezTo>
                    <a:pt x="4380" y="3340"/>
                    <a:pt x="5073" y="2521"/>
                    <a:pt x="6113" y="2237"/>
                  </a:cubicBezTo>
                  <a:cubicBezTo>
                    <a:pt x="6459" y="1639"/>
                    <a:pt x="6333" y="882"/>
                    <a:pt x="5860" y="410"/>
                  </a:cubicBezTo>
                  <a:cubicBezTo>
                    <a:pt x="5577" y="158"/>
                    <a:pt x="5199" y="0"/>
                    <a:pt x="4789" y="0"/>
                  </a:cubicBezTo>
                  <a:cubicBezTo>
                    <a:pt x="4411" y="0"/>
                    <a:pt x="4002" y="158"/>
                    <a:pt x="3750" y="410"/>
                  </a:cubicBezTo>
                  <a:lnTo>
                    <a:pt x="3277" y="882"/>
                  </a:lnTo>
                  <a:lnTo>
                    <a:pt x="2805" y="410"/>
                  </a:lnTo>
                  <a:cubicBezTo>
                    <a:pt x="2521" y="158"/>
                    <a:pt x="2143" y="0"/>
                    <a:pt x="1733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39"/>
            <p:cNvSpPr/>
            <p:nvPr/>
          </p:nvSpPr>
          <p:spPr>
            <a:xfrm>
              <a:off x="-27930475" y="3269800"/>
              <a:ext cx="121325" cy="201650"/>
            </a:xfrm>
            <a:custGeom>
              <a:rect b="b" l="l" r="r" t="t"/>
              <a:pathLst>
                <a:path extrusionOk="0" h="8066" w="4853">
                  <a:moveTo>
                    <a:pt x="4506" y="1"/>
                  </a:moveTo>
                  <a:cubicBezTo>
                    <a:pt x="3876" y="1"/>
                    <a:pt x="3403" y="505"/>
                    <a:pt x="3403" y="1198"/>
                  </a:cubicBezTo>
                  <a:lnTo>
                    <a:pt x="3403" y="2395"/>
                  </a:lnTo>
                  <a:cubicBezTo>
                    <a:pt x="3403" y="2584"/>
                    <a:pt x="3246" y="2742"/>
                    <a:pt x="3025" y="2742"/>
                  </a:cubicBezTo>
                  <a:cubicBezTo>
                    <a:pt x="2679" y="2742"/>
                    <a:pt x="2363" y="2868"/>
                    <a:pt x="2080" y="3025"/>
                  </a:cubicBezTo>
                  <a:cubicBezTo>
                    <a:pt x="1702" y="3372"/>
                    <a:pt x="1418" y="3939"/>
                    <a:pt x="1418" y="4474"/>
                  </a:cubicBezTo>
                  <a:lnTo>
                    <a:pt x="1418" y="5231"/>
                  </a:lnTo>
                  <a:cubicBezTo>
                    <a:pt x="1418" y="5420"/>
                    <a:pt x="1261" y="5577"/>
                    <a:pt x="1072" y="5577"/>
                  </a:cubicBezTo>
                  <a:cubicBezTo>
                    <a:pt x="883" y="5577"/>
                    <a:pt x="725" y="5420"/>
                    <a:pt x="725" y="5231"/>
                  </a:cubicBezTo>
                  <a:lnTo>
                    <a:pt x="1" y="5892"/>
                  </a:lnTo>
                  <a:lnTo>
                    <a:pt x="1" y="8066"/>
                  </a:lnTo>
                  <a:lnTo>
                    <a:pt x="3813" y="8066"/>
                  </a:lnTo>
                  <a:cubicBezTo>
                    <a:pt x="4033" y="8066"/>
                    <a:pt x="4191" y="7908"/>
                    <a:pt x="4191" y="7719"/>
                  </a:cubicBezTo>
                  <a:cubicBezTo>
                    <a:pt x="4191" y="7530"/>
                    <a:pt x="4033" y="7373"/>
                    <a:pt x="3813" y="7373"/>
                  </a:cubicBezTo>
                  <a:lnTo>
                    <a:pt x="3466" y="7373"/>
                  </a:lnTo>
                  <a:lnTo>
                    <a:pt x="3466" y="6270"/>
                  </a:lnTo>
                  <a:cubicBezTo>
                    <a:pt x="3466" y="6176"/>
                    <a:pt x="3498" y="6050"/>
                    <a:pt x="3592" y="6018"/>
                  </a:cubicBezTo>
                  <a:lnTo>
                    <a:pt x="4128" y="5420"/>
                  </a:lnTo>
                  <a:cubicBezTo>
                    <a:pt x="4600" y="4947"/>
                    <a:pt x="4852" y="4380"/>
                    <a:pt x="4852" y="3687"/>
                  </a:cubicBezTo>
                  <a:lnTo>
                    <a:pt x="4852" y="347"/>
                  </a:ln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" name="Google Shape;511;p39"/>
            <p:cNvSpPr/>
            <p:nvPr/>
          </p:nvSpPr>
          <p:spPr>
            <a:xfrm>
              <a:off x="-28069875" y="3271375"/>
              <a:ext cx="122875" cy="200075"/>
            </a:xfrm>
            <a:custGeom>
              <a:rect b="b" l="l" r="r" t="t"/>
              <a:pathLst>
                <a:path extrusionOk="0" h="8003" w="4915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3718"/>
                  </a:lnTo>
                  <a:cubicBezTo>
                    <a:pt x="0" y="4348"/>
                    <a:pt x="221" y="4979"/>
                    <a:pt x="693" y="5451"/>
                  </a:cubicBezTo>
                  <a:lnTo>
                    <a:pt x="1323" y="5955"/>
                  </a:lnTo>
                  <a:cubicBezTo>
                    <a:pt x="1418" y="6018"/>
                    <a:pt x="1449" y="6113"/>
                    <a:pt x="1449" y="6207"/>
                  </a:cubicBezTo>
                  <a:lnTo>
                    <a:pt x="1449" y="7310"/>
                  </a:lnTo>
                  <a:lnTo>
                    <a:pt x="1103" y="7310"/>
                  </a:lnTo>
                  <a:cubicBezTo>
                    <a:pt x="882" y="7310"/>
                    <a:pt x="725" y="7467"/>
                    <a:pt x="725" y="7656"/>
                  </a:cubicBezTo>
                  <a:cubicBezTo>
                    <a:pt x="725" y="7845"/>
                    <a:pt x="882" y="8003"/>
                    <a:pt x="1103" y="8003"/>
                  </a:cubicBezTo>
                  <a:lnTo>
                    <a:pt x="4915" y="8003"/>
                  </a:lnTo>
                  <a:lnTo>
                    <a:pt x="4915" y="5829"/>
                  </a:lnTo>
                  <a:lnTo>
                    <a:pt x="4190" y="5168"/>
                  </a:lnTo>
                  <a:cubicBezTo>
                    <a:pt x="4190" y="5357"/>
                    <a:pt x="4033" y="5514"/>
                    <a:pt x="3844" y="5514"/>
                  </a:cubicBezTo>
                  <a:cubicBezTo>
                    <a:pt x="3655" y="5514"/>
                    <a:pt x="3497" y="5357"/>
                    <a:pt x="3497" y="5168"/>
                  </a:cubicBezTo>
                  <a:lnTo>
                    <a:pt x="3497" y="4411"/>
                  </a:lnTo>
                  <a:cubicBezTo>
                    <a:pt x="3497" y="3876"/>
                    <a:pt x="3214" y="3372"/>
                    <a:pt x="2741" y="3057"/>
                  </a:cubicBezTo>
                  <a:cubicBezTo>
                    <a:pt x="2458" y="2899"/>
                    <a:pt x="2143" y="2773"/>
                    <a:pt x="1796" y="2773"/>
                  </a:cubicBezTo>
                  <a:cubicBezTo>
                    <a:pt x="1607" y="2773"/>
                    <a:pt x="1449" y="2616"/>
                    <a:pt x="1449" y="2427"/>
                  </a:cubicBezTo>
                  <a:lnTo>
                    <a:pt x="1449" y="1229"/>
                  </a:lnTo>
                  <a:cubicBezTo>
                    <a:pt x="1449" y="473"/>
                    <a:pt x="945" y="1"/>
                    <a:pt x="34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12" name="Google Shape;512;p39"/>
          <p:cNvGrpSpPr/>
          <p:nvPr/>
        </p:nvGrpSpPr>
        <p:grpSpPr>
          <a:xfrm>
            <a:off x="5470095" y="2412315"/>
            <a:ext cx="315307" cy="351910"/>
            <a:chOff x="-23962425" y="3519475"/>
            <a:chExt cx="264675" cy="295400"/>
          </a:xfrm>
        </p:grpSpPr>
        <p:sp>
          <p:nvSpPr>
            <p:cNvPr id="513" name="Google Shape;513;p39"/>
            <p:cNvSpPr/>
            <p:nvPr/>
          </p:nvSpPr>
          <p:spPr>
            <a:xfrm>
              <a:off x="-23961625" y="3580925"/>
              <a:ext cx="263875" cy="233950"/>
            </a:xfrm>
            <a:custGeom>
              <a:rect b="b" l="l" r="r" t="t"/>
              <a:pathLst>
                <a:path extrusionOk="0" h="9358" w="10555">
                  <a:moveTo>
                    <a:pt x="1701" y="3119"/>
                  </a:moveTo>
                  <a:cubicBezTo>
                    <a:pt x="1890" y="3119"/>
                    <a:pt x="2048" y="3277"/>
                    <a:pt x="2048" y="3466"/>
                  </a:cubicBezTo>
                  <a:lnTo>
                    <a:pt x="2048" y="4159"/>
                  </a:lnTo>
                  <a:cubicBezTo>
                    <a:pt x="2048" y="4379"/>
                    <a:pt x="2205" y="4537"/>
                    <a:pt x="2394" y="4537"/>
                  </a:cubicBezTo>
                  <a:lnTo>
                    <a:pt x="3119" y="4537"/>
                  </a:lnTo>
                  <a:cubicBezTo>
                    <a:pt x="3308" y="4537"/>
                    <a:pt x="3466" y="4663"/>
                    <a:pt x="3466" y="4883"/>
                  </a:cubicBezTo>
                  <a:cubicBezTo>
                    <a:pt x="3466" y="5072"/>
                    <a:pt x="3308" y="5230"/>
                    <a:pt x="3119" y="5230"/>
                  </a:cubicBezTo>
                  <a:lnTo>
                    <a:pt x="2394" y="5230"/>
                  </a:lnTo>
                  <a:cubicBezTo>
                    <a:pt x="1796" y="5198"/>
                    <a:pt x="1323" y="4726"/>
                    <a:pt x="1323" y="4159"/>
                  </a:cubicBezTo>
                  <a:lnTo>
                    <a:pt x="1323" y="3466"/>
                  </a:lnTo>
                  <a:cubicBezTo>
                    <a:pt x="1323" y="3277"/>
                    <a:pt x="1512" y="3119"/>
                    <a:pt x="1701" y="3119"/>
                  </a:cubicBezTo>
                  <a:close/>
                  <a:moveTo>
                    <a:pt x="3781" y="6585"/>
                  </a:moveTo>
                  <a:lnTo>
                    <a:pt x="3781" y="6931"/>
                  </a:lnTo>
                  <a:cubicBezTo>
                    <a:pt x="3781" y="7120"/>
                    <a:pt x="3623" y="7278"/>
                    <a:pt x="3434" y="7278"/>
                  </a:cubicBezTo>
                  <a:cubicBezTo>
                    <a:pt x="3214" y="7278"/>
                    <a:pt x="3056" y="7120"/>
                    <a:pt x="3056" y="6931"/>
                  </a:cubicBezTo>
                  <a:lnTo>
                    <a:pt x="3056" y="6585"/>
                  </a:lnTo>
                  <a:close/>
                  <a:moveTo>
                    <a:pt x="6900" y="0"/>
                  </a:moveTo>
                  <a:cubicBezTo>
                    <a:pt x="5986" y="0"/>
                    <a:pt x="5293" y="693"/>
                    <a:pt x="5293" y="1607"/>
                  </a:cubicBezTo>
                  <a:cubicBezTo>
                    <a:pt x="5293" y="2363"/>
                    <a:pt x="5765" y="2741"/>
                    <a:pt x="6238" y="3182"/>
                  </a:cubicBezTo>
                  <a:lnTo>
                    <a:pt x="7561" y="4379"/>
                  </a:lnTo>
                  <a:lnTo>
                    <a:pt x="7561" y="7624"/>
                  </a:lnTo>
                  <a:cubicBezTo>
                    <a:pt x="7561" y="8223"/>
                    <a:pt x="7089" y="8664"/>
                    <a:pt x="6553" y="8664"/>
                  </a:cubicBezTo>
                  <a:lnTo>
                    <a:pt x="4820" y="8664"/>
                  </a:lnTo>
                  <a:cubicBezTo>
                    <a:pt x="4348" y="8664"/>
                    <a:pt x="3938" y="8349"/>
                    <a:pt x="3812" y="7876"/>
                  </a:cubicBezTo>
                  <a:cubicBezTo>
                    <a:pt x="4222" y="7719"/>
                    <a:pt x="4505" y="7372"/>
                    <a:pt x="4505" y="6931"/>
                  </a:cubicBezTo>
                  <a:lnTo>
                    <a:pt x="4505" y="6585"/>
                  </a:lnTo>
                  <a:lnTo>
                    <a:pt x="5198" y="6585"/>
                  </a:lnTo>
                  <a:cubicBezTo>
                    <a:pt x="6144" y="6585"/>
                    <a:pt x="6931" y="5797"/>
                    <a:pt x="6931" y="4852"/>
                  </a:cubicBezTo>
                  <a:lnTo>
                    <a:pt x="6931" y="4631"/>
                  </a:lnTo>
                  <a:lnTo>
                    <a:pt x="5829" y="3686"/>
                  </a:lnTo>
                  <a:cubicBezTo>
                    <a:pt x="5671" y="3529"/>
                    <a:pt x="5482" y="3371"/>
                    <a:pt x="5293" y="3182"/>
                  </a:cubicBezTo>
                  <a:cubicBezTo>
                    <a:pt x="4568" y="3151"/>
                    <a:pt x="3875" y="2899"/>
                    <a:pt x="3182" y="2332"/>
                  </a:cubicBezTo>
                  <a:cubicBezTo>
                    <a:pt x="2720" y="1911"/>
                    <a:pt x="1880" y="1701"/>
                    <a:pt x="1091" y="1701"/>
                  </a:cubicBezTo>
                  <a:cubicBezTo>
                    <a:pt x="697" y="1701"/>
                    <a:pt x="315" y="1754"/>
                    <a:pt x="0" y="1859"/>
                  </a:cubicBezTo>
                  <a:lnTo>
                    <a:pt x="0" y="4883"/>
                  </a:lnTo>
                  <a:cubicBezTo>
                    <a:pt x="0" y="5829"/>
                    <a:pt x="788" y="6616"/>
                    <a:pt x="1733" y="6616"/>
                  </a:cubicBezTo>
                  <a:lnTo>
                    <a:pt x="2457" y="6616"/>
                  </a:lnTo>
                  <a:lnTo>
                    <a:pt x="2457" y="6963"/>
                  </a:lnTo>
                  <a:cubicBezTo>
                    <a:pt x="2394" y="7404"/>
                    <a:pt x="2678" y="7782"/>
                    <a:pt x="3119" y="7908"/>
                  </a:cubicBezTo>
                  <a:cubicBezTo>
                    <a:pt x="3277" y="8727"/>
                    <a:pt x="3970" y="9357"/>
                    <a:pt x="4820" y="9357"/>
                  </a:cubicBezTo>
                  <a:lnTo>
                    <a:pt x="6553" y="9357"/>
                  </a:lnTo>
                  <a:cubicBezTo>
                    <a:pt x="7498" y="9357"/>
                    <a:pt x="8286" y="8569"/>
                    <a:pt x="8286" y="7624"/>
                  </a:cubicBezTo>
                  <a:lnTo>
                    <a:pt x="8286" y="4379"/>
                  </a:lnTo>
                  <a:cubicBezTo>
                    <a:pt x="9294" y="3497"/>
                    <a:pt x="9546" y="3277"/>
                    <a:pt x="9546" y="3277"/>
                  </a:cubicBezTo>
                  <a:cubicBezTo>
                    <a:pt x="9987" y="2867"/>
                    <a:pt x="10554" y="2395"/>
                    <a:pt x="10554" y="1607"/>
                  </a:cubicBezTo>
                  <a:cubicBezTo>
                    <a:pt x="10554" y="693"/>
                    <a:pt x="9830" y="0"/>
                    <a:pt x="8948" y="0"/>
                  </a:cubicBezTo>
                  <a:cubicBezTo>
                    <a:pt x="8538" y="0"/>
                    <a:pt x="8191" y="126"/>
                    <a:pt x="7908" y="347"/>
                  </a:cubicBezTo>
                  <a:cubicBezTo>
                    <a:pt x="7656" y="95"/>
                    <a:pt x="7278" y="0"/>
                    <a:pt x="690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514" name="Google Shape;514;p39"/>
            <p:cNvSpPr/>
            <p:nvPr/>
          </p:nvSpPr>
          <p:spPr>
            <a:xfrm>
              <a:off x="-23962425" y="3519475"/>
              <a:ext cx="158350" cy="122125"/>
            </a:xfrm>
            <a:custGeom>
              <a:rect b="b" l="l" r="r" t="t"/>
              <a:pathLst>
                <a:path extrusionOk="0" h="4885" w="6334">
                  <a:moveTo>
                    <a:pt x="3844" y="631"/>
                  </a:moveTo>
                  <a:cubicBezTo>
                    <a:pt x="4065" y="631"/>
                    <a:pt x="4222" y="788"/>
                    <a:pt x="4222" y="1009"/>
                  </a:cubicBezTo>
                  <a:lnTo>
                    <a:pt x="4222" y="1387"/>
                  </a:lnTo>
                  <a:lnTo>
                    <a:pt x="2773" y="1387"/>
                  </a:lnTo>
                  <a:lnTo>
                    <a:pt x="2773" y="1009"/>
                  </a:lnTo>
                  <a:cubicBezTo>
                    <a:pt x="2773" y="788"/>
                    <a:pt x="2931" y="631"/>
                    <a:pt x="3151" y="631"/>
                  </a:cubicBezTo>
                  <a:close/>
                  <a:moveTo>
                    <a:pt x="3088" y="1"/>
                  </a:moveTo>
                  <a:cubicBezTo>
                    <a:pt x="2521" y="1"/>
                    <a:pt x="2080" y="473"/>
                    <a:pt x="2080" y="1040"/>
                  </a:cubicBezTo>
                  <a:lnTo>
                    <a:pt x="2080" y="1419"/>
                  </a:lnTo>
                  <a:lnTo>
                    <a:pt x="1733" y="1419"/>
                  </a:lnTo>
                  <a:cubicBezTo>
                    <a:pt x="788" y="1419"/>
                    <a:pt x="1" y="2206"/>
                    <a:pt x="1" y="3151"/>
                  </a:cubicBezTo>
                  <a:lnTo>
                    <a:pt x="1" y="3592"/>
                  </a:lnTo>
                  <a:cubicBezTo>
                    <a:pt x="332" y="3503"/>
                    <a:pt x="705" y="3459"/>
                    <a:pt x="1087" y="3459"/>
                  </a:cubicBezTo>
                  <a:cubicBezTo>
                    <a:pt x="2048" y="3459"/>
                    <a:pt x="3069" y="3736"/>
                    <a:pt x="3655" y="4254"/>
                  </a:cubicBezTo>
                  <a:cubicBezTo>
                    <a:pt x="4002" y="4569"/>
                    <a:pt x="4411" y="4758"/>
                    <a:pt x="4789" y="4884"/>
                  </a:cubicBezTo>
                  <a:cubicBezTo>
                    <a:pt x="4726" y="4664"/>
                    <a:pt x="4632" y="4380"/>
                    <a:pt x="4632" y="4096"/>
                  </a:cubicBezTo>
                  <a:cubicBezTo>
                    <a:pt x="4632" y="2994"/>
                    <a:pt x="5356" y="2112"/>
                    <a:pt x="6333" y="1860"/>
                  </a:cubicBezTo>
                  <a:cubicBezTo>
                    <a:pt x="6018" y="1576"/>
                    <a:pt x="5608" y="1419"/>
                    <a:pt x="5199" y="1419"/>
                  </a:cubicBezTo>
                  <a:lnTo>
                    <a:pt x="4821" y="1419"/>
                  </a:lnTo>
                  <a:lnTo>
                    <a:pt x="4821" y="1040"/>
                  </a:lnTo>
                  <a:cubicBezTo>
                    <a:pt x="4821" y="442"/>
                    <a:pt x="4348" y="1"/>
                    <a:pt x="3813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51AFDB"/>
                </a:solidFill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0"/>
          <p:cNvSpPr txBox="1"/>
          <p:nvPr/>
        </p:nvSpPr>
        <p:spPr>
          <a:xfrm>
            <a:off x="694725" y="595300"/>
            <a:ext cx="60756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Firewalls</a:t>
            </a:r>
            <a:endParaRPr sz="300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pic>
        <p:nvPicPr>
          <p:cNvPr id="520" name="Google Shape;5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4725" y="1370225"/>
            <a:ext cx="2220700" cy="2475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1" name="Google Shape;521;p40"/>
          <p:cNvGrpSpPr/>
          <p:nvPr/>
        </p:nvGrpSpPr>
        <p:grpSpPr>
          <a:xfrm>
            <a:off x="1870104" y="2099218"/>
            <a:ext cx="2100479" cy="2003795"/>
            <a:chOff x="2961500" y="961400"/>
            <a:chExt cx="3221100" cy="3220500"/>
          </a:xfrm>
        </p:grpSpPr>
        <p:sp>
          <p:nvSpPr>
            <p:cNvPr id="522" name="Google Shape;522;p40"/>
            <p:cNvSpPr/>
            <p:nvPr/>
          </p:nvSpPr>
          <p:spPr>
            <a:xfrm>
              <a:off x="2961500" y="961400"/>
              <a:ext cx="3221100" cy="3220500"/>
            </a:xfrm>
            <a:prstGeom prst="ellipse">
              <a:avLst/>
            </a:pr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40"/>
            <p:cNvSpPr txBox="1"/>
            <p:nvPr/>
          </p:nvSpPr>
          <p:spPr>
            <a:xfrm>
              <a:off x="3590754" y="1200964"/>
              <a:ext cx="1962300" cy="74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"/>
                  <a:ea typeface="Karla"/>
                  <a:cs typeface="Karla"/>
                  <a:sym typeface="Karla"/>
                </a:rPr>
                <a:t>Fortinet </a:t>
              </a:r>
              <a:endParaRPr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"/>
                  <a:ea typeface="Karla"/>
                  <a:cs typeface="Karla"/>
                  <a:sym typeface="Karla"/>
                </a:rPr>
                <a:t>Filtro perimetral</a:t>
              </a:r>
              <a:endParaRPr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40"/>
          <p:cNvGrpSpPr/>
          <p:nvPr/>
        </p:nvGrpSpPr>
        <p:grpSpPr>
          <a:xfrm>
            <a:off x="2204338" y="2736849"/>
            <a:ext cx="1431816" cy="1366165"/>
            <a:chOff x="3474050" y="1986200"/>
            <a:chExt cx="2195700" cy="2195700"/>
          </a:xfrm>
        </p:grpSpPr>
        <p:sp>
          <p:nvSpPr>
            <p:cNvPr id="525" name="Google Shape;525;p40"/>
            <p:cNvSpPr/>
            <p:nvPr/>
          </p:nvSpPr>
          <p:spPr>
            <a:xfrm>
              <a:off x="3474050" y="1986200"/>
              <a:ext cx="2195700" cy="2195700"/>
            </a:xfrm>
            <a:prstGeom prst="ellipse">
              <a:avLst/>
            </a:prstGeom>
            <a:solidFill>
              <a:srgbClr val="10355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40"/>
            <p:cNvSpPr txBox="1"/>
            <p:nvPr/>
          </p:nvSpPr>
          <p:spPr>
            <a:xfrm>
              <a:off x="3833274" y="2817050"/>
              <a:ext cx="1477200" cy="534000"/>
            </a:xfrm>
            <a:prstGeom prst="rect">
              <a:avLst/>
            </a:prstGeom>
            <a:solidFill>
              <a:srgbClr val="10355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"/>
                  <a:ea typeface="Karla"/>
                  <a:cs typeface="Karla"/>
                  <a:sym typeface="Karla"/>
                </a:rPr>
                <a:t>Palo Alto Firewall interno</a:t>
              </a:r>
              <a:endParaRPr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27" name="Google Shape;527;p40"/>
          <p:cNvSpPr txBox="1"/>
          <p:nvPr/>
        </p:nvSpPr>
        <p:spPr>
          <a:xfrm>
            <a:off x="4206275" y="1942600"/>
            <a:ext cx="41229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Su rol es  interceptar todo el tráfico entrante desde el exterior y determinar qué puede o no ingresar a la DMZ. Aquí se aplicarán políticas de seguridad clásicas, como control de puertos, IPs permitidas, bloqueo de escaneos, y protección contra ataques de denegación de servicio.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cxnSp>
        <p:nvCxnSpPr>
          <p:cNvPr id="528" name="Google Shape;528;p40"/>
          <p:cNvCxnSpPr>
            <a:stCxn id="522" idx="7"/>
          </p:cNvCxnSpPr>
          <p:nvPr/>
        </p:nvCxnSpPr>
        <p:spPr>
          <a:xfrm flipH="1" rot="10800000">
            <a:off x="3662975" y="2302067"/>
            <a:ext cx="543300" cy="90600"/>
          </a:xfrm>
          <a:prstGeom prst="straightConnector1">
            <a:avLst/>
          </a:prstGeom>
          <a:noFill/>
          <a:ln cap="flat" cmpd="sng" w="9525">
            <a:solidFill>
              <a:srgbClr val="51AFDB"/>
            </a:solidFill>
            <a:prstDash val="solid"/>
            <a:round/>
            <a:headEnd len="med" w="med" type="none"/>
            <a:tailEnd len="med" w="med" type="oval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529" name="Google Shape;529;p40"/>
          <p:cNvCxnSpPr/>
          <p:nvPr/>
        </p:nvCxnSpPr>
        <p:spPr>
          <a:xfrm>
            <a:off x="3600129" y="3392506"/>
            <a:ext cx="669000" cy="900"/>
          </a:xfrm>
          <a:prstGeom prst="straightConnector1">
            <a:avLst/>
          </a:prstGeom>
          <a:noFill/>
          <a:ln cap="flat" cmpd="sng" w="9525">
            <a:solidFill>
              <a:srgbClr val="10355F"/>
            </a:solidFill>
            <a:prstDash val="solid"/>
            <a:round/>
            <a:headEnd len="med" w="med" type="none"/>
            <a:tailEnd len="med" w="med" type="oval"/>
          </a:ln>
        </p:spPr>
      </p:cxnSp>
      <p:sp>
        <p:nvSpPr>
          <p:cNvPr id="530" name="Google Shape;530;p40"/>
          <p:cNvSpPr txBox="1"/>
          <p:nvPr/>
        </p:nvSpPr>
        <p:spPr>
          <a:xfrm>
            <a:off x="4326375" y="2904838"/>
            <a:ext cx="41229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Está enfocado hacia dentro. Controla el tráfico que intenta salir de la DMZ hacia la red interna del hospital. Este dispositivo no solo filtra por puertos o direcciones IP, sino que realiza una inspección profunda basada en aplicaciones y servicios específicos.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35" name="Google Shape;535;p41"/>
          <p:cNvGraphicFramePr/>
          <p:nvPr/>
        </p:nvGraphicFramePr>
        <p:xfrm>
          <a:off x="1462150" y="70770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{B75E2333-3B21-44D1-9068-5403983961C8}</a:tableStyleId>
              </a:tblPr>
              <a:tblGrid>
                <a:gridCol w="1152525"/>
                <a:gridCol w="1152525"/>
                <a:gridCol w="1152525"/>
                <a:gridCol w="1162050"/>
                <a:gridCol w="1162050"/>
              </a:tblGrid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ID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Origen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Destino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Servicio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Acción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4F81BD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1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Internet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web_server_dmz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HTTP, HTTPS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2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host_gestion_remoto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fw_fortinet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SSH, HTTPS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3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web_server_dmz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Internet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Established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4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web_server_dmz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Red interna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999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 (catch-all)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</a:tbl>
          </a:graphicData>
        </a:graphic>
      </p:graphicFrame>
      <p:pic>
        <p:nvPicPr>
          <p:cNvPr id="536" name="Google Shape;536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5520" y="125650"/>
            <a:ext cx="2280926" cy="50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7" name="Google Shape;537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83700" y="2539438"/>
            <a:ext cx="1375626" cy="6878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38" name="Google Shape;538;p41"/>
          <p:cNvGraphicFramePr/>
          <p:nvPr/>
        </p:nvGraphicFramePr>
        <p:xfrm>
          <a:off x="1462150" y="311440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{B75E2333-3B21-44D1-9068-5403983961C8}</a:tableStyleId>
              </a:tblPr>
              <a:tblGrid>
                <a:gridCol w="1196575"/>
                <a:gridCol w="1261875"/>
                <a:gridCol w="1155900"/>
                <a:gridCol w="1117375"/>
                <a:gridCol w="1049950"/>
              </a:tblGrid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Nombre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0" marB="0" marR="68575" marL="68575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 zona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0" marB="0" marR="68575" marL="68575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 zona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0" marB="0" marR="68575" marL="68575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Aplicación / Servicio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0" marB="0" marR="68575" marL="68575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00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Acción</a:t>
                      </a:r>
                      <a:endParaRPr b="0" sz="100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0" marB="0" marR="68575" marL="68575" anchor="ctr">
                    <a:solidFill>
                      <a:srgbClr val="4F81BD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allow_dmz_db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PostgreSQL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allow_dmz_dns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DNS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allow_mgmt_pa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SSH, HTTPS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block_dmz_internal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deny_all</a:t>
                      </a:r>
                      <a:endParaRPr b="0"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2"/>
          <p:cNvSpPr txBox="1"/>
          <p:nvPr/>
        </p:nvSpPr>
        <p:spPr>
          <a:xfrm>
            <a:off x="2340800" y="577100"/>
            <a:ext cx="48654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Entorno de pruebas</a:t>
            </a:r>
            <a:endParaRPr sz="300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grpSp>
        <p:nvGrpSpPr>
          <p:cNvPr id="544" name="Google Shape;544;p42"/>
          <p:cNvGrpSpPr/>
          <p:nvPr/>
        </p:nvGrpSpPr>
        <p:grpSpPr>
          <a:xfrm>
            <a:off x="1937805" y="630018"/>
            <a:ext cx="353757" cy="352565"/>
            <a:chOff x="-26980600" y="3175500"/>
            <a:chExt cx="296950" cy="295950"/>
          </a:xfrm>
        </p:grpSpPr>
        <p:sp>
          <p:nvSpPr>
            <p:cNvPr id="545" name="Google Shape;545;p42"/>
            <p:cNvSpPr/>
            <p:nvPr/>
          </p:nvSpPr>
          <p:spPr>
            <a:xfrm>
              <a:off x="-26798650" y="3175500"/>
              <a:ext cx="115000" cy="114025"/>
            </a:xfrm>
            <a:custGeom>
              <a:rect b="b" l="l" r="r" t="t"/>
              <a:pathLst>
                <a:path extrusionOk="0" h="4561" w="4600">
                  <a:moveTo>
                    <a:pt x="1115" y="0"/>
                  </a:moveTo>
                  <a:cubicBezTo>
                    <a:pt x="851" y="0"/>
                    <a:pt x="583" y="102"/>
                    <a:pt x="378" y="307"/>
                  </a:cubicBezTo>
                  <a:cubicBezTo>
                    <a:pt x="0" y="685"/>
                    <a:pt x="0" y="1378"/>
                    <a:pt x="378" y="1756"/>
                  </a:cubicBezTo>
                  <a:lnTo>
                    <a:pt x="2773" y="4245"/>
                  </a:lnTo>
                  <a:cubicBezTo>
                    <a:pt x="2962" y="4434"/>
                    <a:pt x="3245" y="4560"/>
                    <a:pt x="3529" y="4560"/>
                  </a:cubicBezTo>
                  <a:cubicBezTo>
                    <a:pt x="3812" y="4560"/>
                    <a:pt x="4064" y="4434"/>
                    <a:pt x="4285" y="4245"/>
                  </a:cubicBezTo>
                  <a:cubicBezTo>
                    <a:pt x="4474" y="4056"/>
                    <a:pt x="4600" y="3773"/>
                    <a:pt x="4600" y="3489"/>
                  </a:cubicBezTo>
                  <a:cubicBezTo>
                    <a:pt x="4600" y="3206"/>
                    <a:pt x="4474" y="2954"/>
                    <a:pt x="4285" y="2733"/>
                  </a:cubicBezTo>
                  <a:lnTo>
                    <a:pt x="1828" y="307"/>
                  </a:lnTo>
                  <a:cubicBezTo>
                    <a:pt x="1639" y="102"/>
                    <a:pt x="1379" y="0"/>
                    <a:pt x="111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42"/>
            <p:cNvSpPr/>
            <p:nvPr/>
          </p:nvSpPr>
          <p:spPr>
            <a:xfrm>
              <a:off x="-26980600" y="3325725"/>
              <a:ext cx="168575" cy="145725"/>
            </a:xfrm>
            <a:custGeom>
              <a:rect b="b" l="l" r="r" t="t"/>
              <a:pathLst>
                <a:path extrusionOk="0" h="5829" w="6743">
                  <a:moveTo>
                    <a:pt x="3797" y="2167"/>
                  </a:moveTo>
                  <a:cubicBezTo>
                    <a:pt x="3884" y="2167"/>
                    <a:pt x="3970" y="2190"/>
                    <a:pt x="4033" y="2237"/>
                  </a:cubicBezTo>
                  <a:cubicBezTo>
                    <a:pt x="4159" y="2363"/>
                    <a:pt x="4159" y="2616"/>
                    <a:pt x="4033" y="2710"/>
                  </a:cubicBezTo>
                  <a:cubicBezTo>
                    <a:pt x="3970" y="2773"/>
                    <a:pt x="3884" y="2805"/>
                    <a:pt x="3797" y="2805"/>
                  </a:cubicBezTo>
                  <a:cubicBezTo>
                    <a:pt x="3710" y="2805"/>
                    <a:pt x="3624" y="2773"/>
                    <a:pt x="3561" y="2710"/>
                  </a:cubicBezTo>
                  <a:cubicBezTo>
                    <a:pt x="3435" y="2616"/>
                    <a:pt x="3435" y="2363"/>
                    <a:pt x="3561" y="2237"/>
                  </a:cubicBezTo>
                  <a:cubicBezTo>
                    <a:pt x="3624" y="2190"/>
                    <a:pt x="3710" y="2167"/>
                    <a:pt x="3797" y="2167"/>
                  </a:cubicBezTo>
                  <a:close/>
                  <a:moveTo>
                    <a:pt x="2336" y="2639"/>
                  </a:moveTo>
                  <a:cubicBezTo>
                    <a:pt x="2426" y="2639"/>
                    <a:pt x="2521" y="2663"/>
                    <a:pt x="2584" y="2710"/>
                  </a:cubicBezTo>
                  <a:cubicBezTo>
                    <a:pt x="2679" y="2836"/>
                    <a:pt x="2679" y="3057"/>
                    <a:pt x="2584" y="3183"/>
                  </a:cubicBezTo>
                  <a:cubicBezTo>
                    <a:pt x="2521" y="3246"/>
                    <a:pt x="2426" y="3277"/>
                    <a:pt x="2336" y="3277"/>
                  </a:cubicBezTo>
                  <a:cubicBezTo>
                    <a:pt x="2245" y="3277"/>
                    <a:pt x="2159" y="3246"/>
                    <a:pt x="2111" y="3183"/>
                  </a:cubicBezTo>
                  <a:cubicBezTo>
                    <a:pt x="1985" y="3057"/>
                    <a:pt x="1985" y="2868"/>
                    <a:pt x="2111" y="2710"/>
                  </a:cubicBezTo>
                  <a:cubicBezTo>
                    <a:pt x="2159" y="2663"/>
                    <a:pt x="2245" y="2639"/>
                    <a:pt x="2336" y="2639"/>
                  </a:cubicBezTo>
                  <a:close/>
                  <a:moveTo>
                    <a:pt x="2931" y="1"/>
                  </a:moveTo>
                  <a:lnTo>
                    <a:pt x="599" y="2332"/>
                  </a:lnTo>
                  <a:cubicBezTo>
                    <a:pt x="221" y="2710"/>
                    <a:pt x="1" y="3214"/>
                    <a:pt x="1" y="3781"/>
                  </a:cubicBezTo>
                  <a:cubicBezTo>
                    <a:pt x="1" y="4317"/>
                    <a:pt x="221" y="4852"/>
                    <a:pt x="599" y="5230"/>
                  </a:cubicBezTo>
                  <a:cubicBezTo>
                    <a:pt x="1009" y="5608"/>
                    <a:pt x="1513" y="5829"/>
                    <a:pt x="2048" y="5829"/>
                  </a:cubicBezTo>
                  <a:cubicBezTo>
                    <a:pt x="2616" y="5829"/>
                    <a:pt x="3120" y="5640"/>
                    <a:pt x="3529" y="5230"/>
                  </a:cubicBezTo>
                  <a:lnTo>
                    <a:pt x="6743" y="2048"/>
                  </a:lnTo>
                  <a:cubicBezTo>
                    <a:pt x="6743" y="2017"/>
                    <a:pt x="6711" y="1954"/>
                    <a:pt x="6711" y="1922"/>
                  </a:cubicBezTo>
                  <a:cubicBezTo>
                    <a:pt x="6396" y="1418"/>
                    <a:pt x="5829" y="1103"/>
                    <a:pt x="5136" y="1103"/>
                  </a:cubicBezTo>
                  <a:lnTo>
                    <a:pt x="5104" y="1103"/>
                  </a:lnTo>
                  <a:cubicBezTo>
                    <a:pt x="5075" y="1104"/>
                    <a:pt x="5045" y="1105"/>
                    <a:pt x="5016" y="1105"/>
                  </a:cubicBezTo>
                  <a:cubicBezTo>
                    <a:pt x="4168" y="1105"/>
                    <a:pt x="3387" y="670"/>
                    <a:pt x="293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42"/>
            <p:cNvSpPr/>
            <p:nvPr/>
          </p:nvSpPr>
          <p:spPr>
            <a:xfrm>
              <a:off x="-26893950" y="3226500"/>
              <a:ext cx="159125" cy="137850"/>
            </a:xfrm>
            <a:custGeom>
              <a:rect b="b" l="l" r="r" t="t"/>
              <a:pathLst>
                <a:path extrusionOk="0" h="5514" w="6365">
                  <a:moveTo>
                    <a:pt x="3403" y="0"/>
                  </a:moveTo>
                  <a:lnTo>
                    <a:pt x="2678" y="693"/>
                  </a:lnTo>
                  <a:lnTo>
                    <a:pt x="2300" y="1103"/>
                  </a:lnTo>
                  <a:lnTo>
                    <a:pt x="3056" y="1859"/>
                  </a:lnTo>
                  <a:cubicBezTo>
                    <a:pt x="3151" y="1953"/>
                    <a:pt x="3151" y="2205"/>
                    <a:pt x="3056" y="2331"/>
                  </a:cubicBezTo>
                  <a:cubicBezTo>
                    <a:pt x="2962" y="2394"/>
                    <a:pt x="2899" y="2426"/>
                    <a:pt x="2804" y="2426"/>
                  </a:cubicBezTo>
                  <a:cubicBezTo>
                    <a:pt x="2741" y="2426"/>
                    <a:pt x="2615" y="2394"/>
                    <a:pt x="2584" y="2331"/>
                  </a:cubicBezTo>
                  <a:lnTo>
                    <a:pt x="1827" y="1575"/>
                  </a:lnTo>
                  <a:lnTo>
                    <a:pt x="1355" y="2048"/>
                  </a:lnTo>
                  <a:lnTo>
                    <a:pt x="2111" y="2804"/>
                  </a:lnTo>
                  <a:cubicBezTo>
                    <a:pt x="2205" y="2898"/>
                    <a:pt x="2205" y="3150"/>
                    <a:pt x="2111" y="3277"/>
                  </a:cubicBezTo>
                  <a:cubicBezTo>
                    <a:pt x="2016" y="3340"/>
                    <a:pt x="1953" y="3371"/>
                    <a:pt x="1859" y="3371"/>
                  </a:cubicBezTo>
                  <a:cubicBezTo>
                    <a:pt x="1796" y="3371"/>
                    <a:pt x="1670" y="3340"/>
                    <a:pt x="1638" y="3277"/>
                  </a:cubicBezTo>
                  <a:lnTo>
                    <a:pt x="882" y="2520"/>
                  </a:lnTo>
                  <a:lnTo>
                    <a:pt x="0" y="3371"/>
                  </a:lnTo>
                  <a:cubicBezTo>
                    <a:pt x="0" y="3403"/>
                    <a:pt x="63" y="3466"/>
                    <a:pt x="63" y="3497"/>
                  </a:cubicBezTo>
                  <a:cubicBezTo>
                    <a:pt x="364" y="4068"/>
                    <a:pt x="894" y="4381"/>
                    <a:pt x="1490" y="4381"/>
                  </a:cubicBezTo>
                  <a:cubicBezTo>
                    <a:pt x="1518" y="4381"/>
                    <a:pt x="1547" y="4381"/>
                    <a:pt x="1575" y="4379"/>
                  </a:cubicBezTo>
                  <a:cubicBezTo>
                    <a:pt x="1890" y="4379"/>
                    <a:pt x="2174" y="4411"/>
                    <a:pt x="2458" y="4474"/>
                  </a:cubicBezTo>
                  <a:cubicBezTo>
                    <a:pt x="2993" y="4631"/>
                    <a:pt x="3529" y="5009"/>
                    <a:pt x="3781" y="5513"/>
                  </a:cubicBezTo>
                  <a:lnTo>
                    <a:pt x="6364" y="2961"/>
                  </a:lnTo>
                  <a:lnTo>
                    <a:pt x="3403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aphicFrame>
        <p:nvGraphicFramePr>
          <p:cNvPr id="548" name="Google Shape;548;p42"/>
          <p:cNvGraphicFramePr/>
          <p:nvPr/>
        </p:nvGraphicFramePr>
        <p:xfrm>
          <a:off x="2061350" y="139815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{B75E2333-3B21-44D1-9068-5403983961C8}</a:tableStyleId>
              </a:tblPr>
              <a:tblGrid>
                <a:gridCol w="1139325"/>
                <a:gridCol w="1139325"/>
                <a:gridCol w="1139325"/>
                <a:gridCol w="1411825"/>
              </a:tblGrid>
              <a:tr h="1993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Nodo</a:t>
                      </a:r>
                      <a:endParaRPr b="0" sz="80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T="108000" marB="108000" marR="108000" marL="108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Rol / Tipo</a:t>
                      </a:r>
                      <a:endParaRPr b="0" sz="80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T="108000" marB="108000" marR="108000" marL="108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Imagen utilizada</a:t>
                      </a:r>
                      <a:endParaRPr b="0" sz="80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T="108000" marB="108000" marR="108000" marL="108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Función principal</a:t>
                      </a:r>
                      <a:endParaRPr b="0" sz="80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T="108000" marB="108000" marR="108000" marL="108000" anchor="ctr">
                    <a:solidFill>
                      <a:srgbClr val="4F81BD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spine1/2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Spine switches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vrnetlab/cisco_iol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Núcleo de distribución de tráfico entre hojas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leaf1-4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Switches de acceso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vrnetlab/cisco_iol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Acceso por VLAN según zona funcional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border-leaf1/2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Conectores a firewalls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vrnetlab/cisco_iol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Conexión entre red interna y firewalls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fw_fortinet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Firewall perimetral externo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vrnetlab/vr-fortios:fortios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Filtrado inicial desde el exterior (Internet)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fw_paloalto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Firewall interno DMZ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vrnetlab/paloalto_pa-vm:10.0.11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Control del tráfico entre DMZ y red interna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web_server_dmz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Servidor expuesto (DMZ)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alpine:latest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Publicación de resultados o formularios web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dns_dhcp_server, base_datos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Servicios internos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alpine:latest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Infraestructura de red y servicios clínicos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3305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camaraX, host_gestion, host_electro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Clientes y dispositivos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alpine:latest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Equipos conectados según función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43"/>
          <p:cNvSpPr txBox="1"/>
          <p:nvPr/>
        </p:nvSpPr>
        <p:spPr>
          <a:xfrm>
            <a:off x="2334588" y="543888"/>
            <a:ext cx="48654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Protocolos a implementar</a:t>
            </a:r>
            <a:endParaRPr sz="300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554" name="Google Shape;554;p43"/>
          <p:cNvSpPr/>
          <p:nvPr/>
        </p:nvSpPr>
        <p:spPr>
          <a:xfrm>
            <a:off x="1981790" y="597747"/>
            <a:ext cx="352803" cy="350719"/>
          </a:xfrm>
          <a:custGeom>
            <a:rect b="b" l="l" r="r" t="t"/>
            <a:pathLst>
              <a:path extrusionOk="0" h="11776" w="11846">
                <a:moveTo>
                  <a:pt x="9074" y="2261"/>
                </a:moveTo>
                <a:lnTo>
                  <a:pt x="9546" y="2733"/>
                </a:lnTo>
                <a:lnTo>
                  <a:pt x="9011" y="3300"/>
                </a:lnTo>
                <a:lnTo>
                  <a:pt x="8538" y="2828"/>
                </a:lnTo>
                <a:lnTo>
                  <a:pt x="9074" y="2261"/>
                </a:lnTo>
                <a:close/>
                <a:moveTo>
                  <a:pt x="6333" y="3489"/>
                </a:moveTo>
                <a:lnTo>
                  <a:pt x="8286" y="5474"/>
                </a:lnTo>
                <a:lnTo>
                  <a:pt x="7782" y="5978"/>
                </a:lnTo>
                <a:lnTo>
                  <a:pt x="7026" y="5222"/>
                </a:lnTo>
                <a:cubicBezTo>
                  <a:pt x="6963" y="5159"/>
                  <a:pt x="6876" y="5128"/>
                  <a:pt x="6789" y="5128"/>
                </a:cubicBezTo>
                <a:cubicBezTo>
                  <a:pt x="6703" y="5128"/>
                  <a:pt x="6616" y="5159"/>
                  <a:pt x="6553" y="5222"/>
                </a:cubicBezTo>
                <a:cubicBezTo>
                  <a:pt x="6427" y="5348"/>
                  <a:pt x="6427" y="5569"/>
                  <a:pt x="6553" y="5695"/>
                </a:cubicBezTo>
                <a:lnTo>
                  <a:pt x="7309" y="6451"/>
                </a:lnTo>
                <a:lnTo>
                  <a:pt x="6837" y="6924"/>
                </a:lnTo>
                <a:lnTo>
                  <a:pt x="4883" y="4939"/>
                </a:lnTo>
                <a:lnTo>
                  <a:pt x="6333" y="3489"/>
                </a:lnTo>
                <a:close/>
                <a:moveTo>
                  <a:pt x="2647" y="8688"/>
                </a:moveTo>
                <a:lnTo>
                  <a:pt x="3119" y="9160"/>
                </a:lnTo>
                <a:lnTo>
                  <a:pt x="2899" y="9412"/>
                </a:lnTo>
                <a:cubicBezTo>
                  <a:pt x="2836" y="9460"/>
                  <a:pt x="2749" y="9483"/>
                  <a:pt x="2662" y="9483"/>
                </a:cubicBezTo>
                <a:cubicBezTo>
                  <a:pt x="2576" y="9483"/>
                  <a:pt x="2489" y="9460"/>
                  <a:pt x="2426" y="9412"/>
                </a:cubicBezTo>
                <a:cubicBezTo>
                  <a:pt x="2300" y="9286"/>
                  <a:pt x="2300" y="9034"/>
                  <a:pt x="2426" y="8940"/>
                </a:cubicBezTo>
                <a:lnTo>
                  <a:pt x="2647" y="8688"/>
                </a:lnTo>
                <a:close/>
                <a:moveTo>
                  <a:pt x="9294" y="0"/>
                </a:moveTo>
                <a:cubicBezTo>
                  <a:pt x="9026" y="0"/>
                  <a:pt x="8758" y="103"/>
                  <a:pt x="8569" y="308"/>
                </a:cubicBezTo>
                <a:cubicBezTo>
                  <a:pt x="8160" y="686"/>
                  <a:pt x="8097" y="1410"/>
                  <a:pt x="8538" y="1820"/>
                </a:cubicBezTo>
                <a:lnTo>
                  <a:pt x="8065" y="2292"/>
                </a:lnTo>
                <a:lnTo>
                  <a:pt x="7089" y="1316"/>
                </a:lnTo>
                <a:cubicBezTo>
                  <a:pt x="6884" y="1127"/>
                  <a:pt x="6616" y="1032"/>
                  <a:pt x="6348" y="1032"/>
                </a:cubicBezTo>
                <a:cubicBezTo>
                  <a:pt x="6081" y="1032"/>
                  <a:pt x="5813" y="1127"/>
                  <a:pt x="5608" y="1316"/>
                </a:cubicBezTo>
                <a:cubicBezTo>
                  <a:pt x="5230" y="1725"/>
                  <a:pt x="5230" y="2387"/>
                  <a:pt x="5608" y="2765"/>
                </a:cubicBezTo>
                <a:lnTo>
                  <a:pt x="5860" y="3017"/>
                </a:lnTo>
                <a:lnTo>
                  <a:pt x="2678" y="6199"/>
                </a:lnTo>
                <a:cubicBezTo>
                  <a:pt x="2142" y="6734"/>
                  <a:pt x="2048" y="7428"/>
                  <a:pt x="2268" y="8058"/>
                </a:cubicBezTo>
                <a:lnTo>
                  <a:pt x="1922" y="8404"/>
                </a:lnTo>
                <a:cubicBezTo>
                  <a:pt x="1607" y="8719"/>
                  <a:pt x="1512" y="9192"/>
                  <a:pt x="1733" y="9601"/>
                </a:cubicBezTo>
                <a:lnTo>
                  <a:pt x="95" y="11208"/>
                </a:lnTo>
                <a:cubicBezTo>
                  <a:pt x="0" y="11334"/>
                  <a:pt x="0" y="11555"/>
                  <a:pt x="95" y="11681"/>
                </a:cubicBezTo>
                <a:cubicBezTo>
                  <a:pt x="158" y="11744"/>
                  <a:pt x="252" y="11775"/>
                  <a:pt x="343" y="11775"/>
                </a:cubicBezTo>
                <a:cubicBezTo>
                  <a:pt x="433" y="11775"/>
                  <a:pt x="520" y="11744"/>
                  <a:pt x="567" y="11681"/>
                </a:cubicBezTo>
                <a:lnTo>
                  <a:pt x="2174" y="10074"/>
                </a:lnTo>
                <a:cubicBezTo>
                  <a:pt x="2318" y="10136"/>
                  <a:pt x="2465" y="10164"/>
                  <a:pt x="2609" y="10164"/>
                </a:cubicBezTo>
                <a:cubicBezTo>
                  <a:pt x="2904" y="10164"/>
                  <a:pt x="3180" y="10044"/>
                  <a:pt x="3371" y="9853"/>
                </a:cubicBezTo>
                <a:lnTo>
                  <a:pt x="3718" y="9507"/>
                </a:lnTo>
                <a:cubicBezTo>
                  <a:pt x="3930" y="9598"/>
                  <a:pt x="4148" y="9640"/>
                  <a:pt x="4363" y="9640"/>
                </a:cubicBezTo>
                <a:cubicBezTo>
                  <a:pt x="4818" y="9640"/>
                  <a:pt x="5255" y="9450"/>
                  <a:pt x="5576" y="9129"/>
                </a:cubicBezTo>
                <a:lnTo>
                  <a:pt x="5797" y="8877"/>
                </a:lnTo>
                <a:lnTo>
                  <a:pt x="4820" y="7900"/>
                </a:lnTo>
                <a:cubicBezTo>
                  <a:pt x="4694" y="7774"/>
                  <a:pt x="4694" y="7554"/>
                  <a:pt x="4820" y="7428"/>
                </a:cubicBezTo>
                <a:cubicBezTo>
                  <a:pt x="4883" y="7365"/>
                  <a:pt x="4970" y="7333"/>
                  <a:pt x="5057" y="7333"/>
                </a:cubicBezTo>
                <a:cubicBezTo>
                  <a:pt x="5143" y="7333"/>
                  <a:pt x="5230" y="7365"/>
                  <a:pt x="5293" y="7428"/>
                </a:cubicBezTo>
                <a:lnTo>
                  <a:pt x="6270" y="8404"/>
                </a:lnTo>
                <a:lnTo>
                  <a:pt x="8727" y="5978"/>
                </a:lnTo>
                <a:lnTo>
                  <a:pt x="8948" y="6199"/>
                </a:lnTo>
                <a:cubicBezTo>
                  <a:pt x="9152" y="6404"/>
                  <a:pt x="9420" y="6506"/>
                  <a:pt x="9688" y="6506"/>
                </a:cubicBezTo>
                <a:cubicBezTo>
                  <a:pt x="9956" y="6506"/>
                  <a:pt x="10223" y="6404"/>
                  <a:pt x="10428" y="6199"/>
                </a:cubicBezTo>
                <a:cubicBezTo>
                  <a:pt x="10806" y="5821"/>
                  <a:pt x="10806" y="5159"/>
                  <a:pt x="10428" y="4750"/>
                </a:cubicBezTo>
                <a:lnTo>
                  <a:pt x="9420" y="3773"/>
                </a:lnTo>
                <a:lnTo>
                  <a:pt x="9987" y="3206"/>
                </a:lnTo>
                <a:cubicBezTo>
                  <a:pt x="10176" y="3411"/>
                  <a:pt x="10444" y="3513"/>
                  <a:pt x="10712" y="3513"/>
                </a:cubicBezTo>
                <a:cubicBezTo>
                  <a:pt x="10980" y="3513"/>
                  <a:pt x="11247" y="3411"/>
                  <a:pt x="11436" y="3206"/>
                </a:cubicBezTo>
                <a:cubicBezTo>
                  <a:pt x="11846" y="2828"/>
                  <a:pt x="11846" y="2166"/>
                  <a:pt x="11436" y="1757"/>
                </a:cubicBezTo>
                <a:lnTo>
                  <a:pt x="10019" y="308"/>
                </a:lnTo>
                <a:cubicBezTo>
                  <a:pt x="9830" y="103"/>
                  <a:pt x="9562" y="0"/>
                  <a:pt x="9294" y="0"/>
                </a:cubicBezTo>
                <a:close/>
              </a:path>
            </a:pathLst>
          </a:custGeom>
          <a:solidFill>
            <a:srgbClr val="51AF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43"/>
          <p:cNvSpPr txBox="1"/>
          <p:nvPr/>
        </p:nvSpPr>
        <p:spPr>
          <a:xfrm>
            <a:off x="2287938" y="1059313"/>
            <a:ext cx="45906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Enrutamiento y segmentación</a:t>
            </a:r>
            <a:endParaRPr sz="100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OSPF → Enrutamiento dinámico interno, rápido y escalable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802.1Q → Etiquetado de VLANs en enlaces troncales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 Gestión, monitoreo y logs</a:t>
            </a:r>
            <a:endParaRPr sz="100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SNMP → Monitorización de estado de dispositivos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Syslog → Registro centralizado de eventos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NTP → Sincronización horaria precisa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Seguridad y control de acceso</a:t>
            </a:r>
            <a:endParaRPr sz="100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ACLs → Filtros por VLAN y tipo de tráfico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DPI (Palo Alto) → Inspección profunda por aplicación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RADIUS → Autenticación centralizada con trazabilidad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SSH / HTTPS → Acceso seguro a dispositivos y gestión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Calidad de servicio y disponibilidad</a:t>
            </a:r>
            <a:endParaRPr sz="100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QoS con DSCP → Priorización de tráfico crítico médico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Descubrimiento y resolución interna</a:t>
            </a:r>
            <a:endParaRPr sz="100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DNS interno → Resolución de nombres controlada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556" name="Google Shape;556;p43"/>
          <p:cNvGrpSpPr/>
          <p:nvPr/>
        </p:nvGrpSpPr>
        <p:grpSpPr>
          <a:xfrm>
            <a:off x="1944005" y="1232629"/>
            <a:ext cx="289039" cy="352833"/>
            <a:chOff x="-24694925" y="3518700"/>
            <a:chExt cx="242625" cy="296175"/>
          </a:xfrm>
        </p:grpSpPr>
        <p:sp>
          <p:nvSpPr>
            <p:cNvPr id="557" name="Google Shape;557;p43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43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43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43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1" name="Google Shape;561;p43"/>
          <p:cNvGrpSpPr/>
          <p:nvPr/>
        </p:nvGrpSpPr>
        <p:grpSpPr>
          <a:xfrm>
            <a:off x="1944005" y="2853804"/>
            <a:ext cx="289039" cy="352833"/>
            <a:chOff x="-24694925" y="3518700"/>
            <a:chExt cx="242625" cy="296175"/>
          </a:xfrm>
        </p:grpSpPr>
        <p:sp>
          <p:nvSpPr>
            <p:cNvPr id="562" name="Google Shape;562;p43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43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43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43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6" name="Google Shape;566;p43"/>
          <p:cNvGrpSpPr/>
          <p:nvPr/>
        </p:nvGrpSpPr>
        <p:grpSpPr>
          <a:xfrm>
            <a:off x="1944005" y="2010504"/>
            <a:ext cx="289039" cy="352833"/>
            <a:chOff x="-24694925" y="3518700"/>
            <a:chExt cx="242625" cy="296175"/>
          </a:xfrm>
        </p:grpSpPr>
        <p:sp>
          <p:nvSpPr>
            <p:cNvPr id="567" name="Google Shape;567;p43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43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43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43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71" name="Google Shape;571;p43"/>
          <p:cNvGrpSpPr/>
          <p:nvPr/>
        </p:nvGrpSpPr>
        <p:grpSpPr>
          <a:xfrm>
            <a:off x="1944005" y="3532679"/>
            <a:ext cx="289039" cy="352833"/>
            <a:chOff x="-24694925" y="3518700"/>
            <a:chExt cx="242625" cy="296175"/>
          </a:xfrm>
        </p:grpSpPr>
        <p:sp>
          <p:nvSpPr>
            <p:cNvPr id="572" name="Google Shape;572;p43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43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43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43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76" name="Google Shape;576;p43"/>
          <p:cNvGrpSpPr/>
          <p:nvPr/>
        </p:nvGrpSpPr>
        <p:grpSpPr>
          <a:xfrm>
            <a:off x="1944005" y="4031654"/>
            <a:ext cx="289039" cy="352833"/>
            <a:chOff x="-24694925" y="3518700"/>
            <a:chExt cx="242625" cy="296175"/>
          </a:xfrm>
        </p:grpSpPr>
        <p:sp>
          <p:nvSpPr>
            <p:cNvPr id="577" name="Google Shape;577;p43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43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43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43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44"/>
          <p:cNvSpPr txBox="1"/>
          <p:nvPr/>
        </p:nvSpPr>
        <p:spPr>
          <a:xfrm>
            <a:off x="877600" y="319413"/>
            <a:ext cx="48654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Limitaciones y mejoras</a:t>
            </a:r>
            <a:endParaRPr sz="300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586" name="Google Shape;586;p44"/>
          <p:cNvSpPr txBox="1"/>
          <p:nvPr/>
        </p:nvSpPr>
        <p:spPr>
          <a:xfrm>
            <a:off x="1627125" y="985688"/>
            <a:ext cx="6997500" cy="403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Limitaciones técnicas</a:t>
            </a:r>
            <a:endParaRPr sz="1000">
              <a:solidFill>
                <a:srgbClr val="51AFDB"/>
              </a:solidFill>
              <a:latin typeface="Karla Medium"/>
              <a:ea typeface="Karla Medium"/>
              <a:cs typeface="Karla Medium"/>
              <a:sym typeface="Karla Medium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Containerlab no emula el plano de datos real</a:t>
            </a:r>
            <a:endParaRPr sz="100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No reemplaza una red física ni simula carga o congestión con precisión.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Imágenes vrnetlab demandan muchos recursos</a:t>
            </a:r>
            <a:endParaRPr sz="100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Especialmente las basadas en VMs: alto uso de CPU, RAM y disco.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Licencias limitadas</a:t>
            </a:r>
            <a:endParaRPr sz="100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Algunas imágenes (Fortinet, Palo Alto) requieren licencias no accesibles para estudiantes.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Sin interfaz gráfica nativa</a:t>
            </a:r>
            <a:endParaRPr sz="100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Todo se configura por terminal, YAML, Python y logs. Visualizar errores o flujos puede ser complejo.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 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Limitaciones formativas</a:t>
            </a:r>
            <a:endParaRPr sz="1000">
              <a:solidFill>
                <a:srgbClr val="51AFDB"/>
              </a:solidFill>
              <a:latin typeface="Karla Medium"/>
              <a:ea typeface="Karla Medium"/>
              <a:cs typeface="Karla Medium"/>
              <a:sym typeface="Karla Medium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Somos estudiantes en proceso de aprendizaje</a:t>
            </a:r>
            <a:endParaRPr sz="100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Este fue nuestro primer contacto con Spine-Leaf, DMZ, ACLs, firewalls en serie, etc.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Muchas decisiones fueron resultado de prueba, error y ajuste</a:t>
            </a:r>
            <a:endParaRPr sz="100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Un proceso valioso, pero que puede implicar simplificaciones o enfoques seguramente mejorables.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587" name="Google Shape;587;p44"/>
          <p:cNvGrpSpPr/>
          <p:nvPr/>
        </p:nvGrpSpPr>
        <p:grpSpPr>
          <a:xfrm>
            <a:off x="1269624" y="985688"/>
            <a:ext cx="357509" cy="352595"/>
            <a:chOff x="-25834600" y="3915850"/>
            <a:chExt cx="300100" cy="295975"/>
          </a:xfrm>
        </p:grpSpPr>
        <p:sp>
          <p:nvSpPr>
            <p:cNvPr id="588" name="Google Shape;588;p44"/>
            <p:cNvSpPr/>
            <p:nvPr/>
          </p:nvSpPr>
          <p:spPr>
            <a:xfrm>
              <a:off x="-25677875" y="3915850"/>
              <a:ext cx="143375" cy="137675"/>
            </a:xfrm>
            <a:custGeom>
              <a:rect b="b" l="l" r="r" t="t"/>
              <a:pathLst>
                <a:path extrusionOk="0" h="5507" w="5735">
                  <a:moveTo>
                    <a:pt x="1123" y="1"/>
                  </a:moveTo>
                  <a:cubicBezTo>
                    <a:pt x="859" y="1"/>
                    <a:pt x="599" y="103"/>
                    <a:pt x="410" y="308"/>
                  </a:cubicBezTo>
                  <a:cubicBezTo>
                    <a:pt x="1" y="686"/>
                    <a:pt x="1" y="1379"/>
                    <a:pt x="410" y="1757"/>
                  </a:cubicBezTo>
                  <a:lnTo>
                    <a:pt x="3813" y="5191"/>
                  </a:lnTo>
                  <a:cubicBezTo>
                    <a:pt x="4033" y="5380"/>
                    <a:pt x="4285" y="5506"/>
                    <a:pt x="4569" y="5506"/>
                  </a:cubicBezTo>
                  <a:cubicBezTo>
                    <a:pt x="4853" y="5506"/>
                    <a:pt x="5136" y="5380"/>
                    <a:pt x="5325" y="5191"/>
                  </a:cubicBezTo>
                  <a:cubicBezTo>
                    <a:pt x="5735" y="4781"/>
                    <a:pt x="5735" y="4120"/>
                    <a:pt x="5325" y="3742"/>
                  </a:cubicBezTo>
                  <a:lnTo>
                    <a:pt x="1860" y="308"/>
                  </a:lnTo>
                  <a:cubicBezTo>
                    <a:pt x="1655" y="103"/>
                    <a:pt x="1387" y="1"/>
                    <a:pt x="1123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3B8794"/>
                </a:solidFill>
              </a:endParaRPr>
            </a:p>
          </p:txBody>
        </p:sp>
        <p:sp>
          <p:nvSpPr>
            <p:cNvPr id="589" name="Google Shape;589;p44"/>
            <p:cNvSpPr/>
            <p:nvPr/>
          </p:nvSpPr>
          <p:spPr>
            <a:xfrm>
              <a:off x="-25834600" y="4167700"/>
              <a:ext cx="43350" cy="44125"/>
            </a:xfrm>
            <a:custGeom>
              <a:rect b="b" l="l" r="r" t="t"/>
              <a:pathLst>
                <a:path extrusionOk="0" h="1765" w="1734">
                  <a:moveTo>
                    <a:pt x="756" y="0"/>
                  </a:moveTo>
                  <a:lnTo>
                    <a:pt x="221" y="630"/>
                  </a:lnTo>
                  <a:cubicBezTo>
                    <a:pt x="95" y="756"/>
                    <a:pt x="0" y="945"/>
                    <a:pt x="0" y="1103"/>
                  </a:cubicBezTo>
                  <a:cubicBezTo>
                    <a:pt x="0" y="1292"/>
                    <a:pt x="95" y="1449"/>
                    <a:pt x="221" y="1575"/>
                  </a:cubicBezTo>
                  <a:cubicBezTo>
                    <a:pt x="347" y="1702"/>
                    <a:pt x="536" y="1765"/>
                    <a:pt x="693" y="1765"/>
                  </a:cubicBezTo>
                  <a:cubicBezTo>
                    <a:pt x="882" y="1765"/>
                    <a:pt x="1040" y="1702"/>
                    <a:pt x="1166" y="1575"/>
                  </a:cubicBezTo>
                  <a:lnTo>
                    <a:pt x="1733" y="977"/>
                  </a:lnTo>
                  <a:lnTo>
                    <a:pt x="756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3B8794"/>
                </a:solidFill>
              </a:endParaRPr>
            </a:p>
          </p:txBody>
        </p:sp>
        <p:sp>
          <p:nvSpPr>
            <p:cNvPr id="590" name="Google Shape;590;p44"/>
            <p:cNvSpPr/>
            <p:nvPr/>
          </p:nvSpPr>
          <p:spPr>
            <a:xfrm>
              <a:off x="-25800725" y="3972375"/>
              <a:ext cx="206375" cy="207950"/>
            </a:xfrm>
            <a:custGeom>
              <a:rect b="b" l="l" r="r" t="t"/>
              <a:pathLst>
                <a:path extrusionOk="0" h="8318" w="8255">
                  <a:moveTo>
                    <a:pt x="4285" y="2457"/>
                  </a:moveTo>
                  <a:lnTo>
                    <a:pt x="5797" y="3938"/>
                  </a:lnTo>
                  <a:lnTo>
                    <a:pt x="5261" y="4474"/>
                  </a:lnTo>
                  <a:cubicBezTo>
                    <a:pt x="4868" y="4868"/>
                    <a:pt x="4342" y="5064"/>
                    <a:pt x="3814" y="5064"/>
                  </a:cubicBezTo>
                  <a:cubicBezTo>
                    <a:pt x="3708" y="5064"/>
                    <a:pt x="3602" y="5057"/>
                    <a:pt x="3497" y="5041"/>
                  </a:cubicBezTo>
                  <a:lnTo>
                    <a:pt x="3214" y="5009"/>
                  </a:lnTo>
                  <a:lnTo>
                    <a:pt x="3182" y="4726"/>
                  </a:lnTo>
                  <a:cubicBezTo>
                    <a:pt x="3119" y="4096"/>
                    <a:pt x="3308" y="3434"/>
                    <a:pt x="3781" y="2962"/>
                  </a:cubicBezTo>
                  <a:lnTo>
                    <a:pt x="4285" y="2457"/>
                  </a:lnTo>
                  <a:close/>
                  <a:moveTo>
                    <a:pt x="4789" y="0"/>
                  </a:moveTo>
                  <a:lnTo>
                    <a:pt x="3056" y="1796"/>
                  </a:lnTo>
                  <a:cubicBezTo>
                    <a:pt x="2174" y="2678"/>
                    <a:pt x="1733" y="4001"/>
                    <a:pt x="1890" y="5261"/>
                  </a:cubicBezTo>
                  <a:lnTo>
                    <a:pt x="1922" y="5419"/>
                  </a:lnTo>
                  <a:lnTo>
                    <a:pt x="0" y="7341"/>
                  </a:lnTo>
                  <a:lnTo>
                    <a:pt x="977" y="8317"/>
                  </a:lnTo>
                  <a:lnTo>
                    <a:pt x="2898" y="6396"/>
                  </a:lnTo>
                  <a:lnTo>
                    <a:pt x="3056" y="6427"/>
                  </a:lnTo>
                  <a:cubicBezTo>
                    <a:pt x="3214" y="6459"/>
                    <a:pt x="3371" y="6459"/>
                    <a:pt x="3592" y="6459"/>
                  </a:cubicBezTo>
                  <a:cubicBezTo>
                    <a:pt x="4694" y="6459"/>
                    <a:pt x="5734" y="6049"/>
                    <a:pt x="6522" y="5261"/>
                  </a:cubicBezTo>
                  <a:lnTo>
                    <a:pt x="8254" y="3466"/>
                  </a:lnTo>
                  <a:lnTo>
                    <a:pt x="7278" y="2489"/>
                  </a:lnTo>
                  <a:lnTo>
                    <a:pt x="6301" y="3466"/>
                  </a:lnTo>
                  <a:lnTo>
                    <a:pt x="4852" y="2016"/>
                  </a:lnTo>
                  <a:lnTo>
                    <a:pt x="5828" y="1040"/>
                  </a:lnTo>
                  <a:lnTo>
                    <a:pt x="4789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3B8794"/>
                </a:solidFill>
              </a:endParaRPr>
            </a:p>
          </p:txBody>
        </p:sp>
      </p:grpSp>
      <p:grpSp>
        <p:nvGrpSpPr>
          <p:cNvPr id="591" name="Google Shape;591;p44"/>
          <p:cNvGrpSpPr/>
          <p:nvPr/>
        </p:nvGrpSpPr>
        <p:grpSpPr>
          <a:xfrm>
            <a:off x="1269624" y="3246063"/>
            <a:ext cx="357509" cy="352595"/>
            <a:chOff x="-25834600" y="3915850"/>
            <a:chExt cx="300100" cy="295975"/>
          </a:xfrm>
        </p:grpSpPr>
        <p:sp>
          <p:nvSpPr>
            <p:cNvPr id="592" name="Google Shape;592;p44"/>
            <p:cNvSpPr/>
            <p:nvPr/>
          </p:nvSpPr>
          <p:spPr>
            <a:xfrm>
              <a:off x="-25677875" y="3915850"/>
              <a:ext cx="143375" cy="137675"/>
            </a:xfrm>
            <a:custGeom>
              <a:rect b="b" l="l" r="r" t="t"/>
              <a:pathLst>
                <a:path extrusionOk="0" h="5507" w="5735">
                  <a:moveTo>
                    <a:pt x="1123" y="1"/>
                  </a:moveTo>
                  <a:cubicBezTo>
                    <a:pt x="859" y="1"/>
                    <a:pt x="599" y="103"/>
                    <a:pt x="410" y="308"/>
                  </a:cubicBezTo>
                  <a:cubicBezTo>
                    <a:pt x="1" y="686"/>
                    <a:pt x="1" y="1379"/>
                    <a:pt x="410" y="1757"/>
                  </a:cubicBezTo>
                  <a:lnTo>
                    <a:pt x="3813" y="5191"/>
                  </a:lnTo>
                  <a:cubicBezTo>
                    <a:pt x="4033" y="5380"/>
                    <a:pt x="4285" y="5506"/>
                    <a:pt x="4569" y="5506"/>
                  </a:cubicBezTo>
                  <a:cubicBezTo>
                    <a:pt x="4853" y="5506"/>
                    <a:pt x="5136" y="5380"/>
                    <a:pt x="5325" y="5191"/>
                  </a:cubicBezTo>
                  <a:cubicBezTo>
                    <a:pt x="5735" y="4781"/>
                    <a:pt x="5735" y="4120"/>
                    <a:pt x="5325" y="3742"/>
                  </a:cubicBezTo>
                  <a:lnTo>
                    <a:pt x="1860" y="308"/>
                  </a:lnTo>
                  <a:cubicBezTo>
                    <a:pt x="1655" y="103"/>
                    <a:pt x="1387" y="1"/>
                    <a:pt x="1123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3B8794"/>
                </a:solidFill>
              </a:endParaRPr>
            </a:p>
          </p:txBody>
        </p:sp>
        <p:sp>
          <p:nvSpPr>
            <p:cNvPr id="593" name="Google Shape;593;p44"/>
            <p:cNvSpPr/>
            <p:nvPr/>
          </p:nvSpPr>
          <p:spPr>
            <a:xfrm>
              <a:off x="-25834600" y="4167700"/>
              <a:ext cx="43350" cy="44125"/>
            </a:xfrm>
            <a:custGeom>
              <a:rect b="b" l="l" r="r" t="t"/>
              <a:pathLst>
                <a:path extrusionOk="0" h="1765" w="1734">
                  <a:moveTo>
                    <a:pt x="756" y="0"/>
                  </a:moveTo>
                  <a:lnTo>
                    <a:pt x="221" y="630"/>
                  </a:lnTo>
                  <a:cubicBezTo>
                    <a:pt x="95" y="756"/>
                    <a:pt x="0" y="945"/>
                    <a:pt x="0" y="1103"/>
                  </a:cubicBezTo>
                  <a:cubicBezTo>
                    <a:pt x="0" y="1292"/>
                    <a:pt x="95" y="1449"/>
                    <a:pt x="221" y="1575"/>
                  </a:cubicBezTo>
                  <a:cubicBezTo>
                    <a:pt x="347" y="1702"/>
                    <a:pt x="536" y="1765"/>
                    <a:pt x="693" y="1765"/>
                  </a:cubicBezTo>
                  <a:cubicBezTo>
                    <a:pt x="882" y="1765"/>
                    <a:pt x="1040" y="1702"/>
                    <a:pt x="1166" y="1575"/>
                  </a:cubicBezTo>
                  <a:lnTo>
                    <a:pt x="1733" y="977"/>
                  </a:lnTo>
                  <a:lnTo>
                    <a:pt x="756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3B8794"/>
                </a:solidFill>
              </a:endParaRPr>
            </a:p>
          </p:txBody>
        </p:sp>
        <p:sp>
          <p:nvSpPr>
            <p:cNvPr id="594" name="Google Shape;594;p44"/>
            <p:cNvSpPr/>
            <p:nvPr/>
          </p:nvSpPr>
          <p:spPr>
            <a:xfrm>
              <a:off x="-25800725" y="3972375"/>
              <a:ext cx="206375" cy="207950"/>
            </a:xfrm>
            <a:custGeom>
              <a:rect b="b" l="l" r="r" t="t"/>
              <a:pathLst>
                <a:path extrusionOk="0" h="8318" w="8255">
                  <a:moveTo>
                    <a:pt x="4285" y="2457"/>
                  </a:moveTo>
                  <a:lnTo>
                    <a:pt x="5797" y="3938"/>
                  </a:lnTo>
                  <a:lnTo>
                    <a:pt x="5261" y="4474"/>
                  </a:lnTo>
                  <a:cubicBezTo>
                    <a:pt x="4868" y="4868"/>
                    <a:pt x="4342" y="5064"/>
                    <a:pt x="3814" y="5064"/>
                  </a:cubicBezTo>
                  <a:cubicBezTo>
                    <a:pt x="3708" y="5064"/>
                    <a:pt x="3602" y="5057"/>
                    <a:pt x="3497" y="5041"/>
                  </a:cubicBezTo>
                  <a:lnTo>
                    <a:pt x="3214" y="5009"/>
                  </a:lnTo>
                  <a:lnTo>
                    <a:pt x="3182" y="4726"/>
                  </a:lnTo>
                  <a:cubicBezTo>
                    <a:pt x="3119" y="4096"/>
                    <a:pt x="3308" y="3434"/>
                    <a:pt x="3781" y="2962"/>
                  </a:cubicBezTo>
                  <a:lnTo>
                    <a:pt x="4285" y="2457"/>
                  </a:lnTo>
                  <a:close/>
                  <a:moveTo>
                    <a:pt x="4789" y="0"/>
                  </a:moveTo>
                  <a:lnTo>
                    <a:pt x="3056" y="1796"/>
                  </a:lnTo>
                  <a:cubicBezTo>
                    <a:pt x="2174" y="2678"/>
                    <a:pt x="1733" y="4001"/>
                    <a:pt x="1890" y="5261"/>
                  </a:cubicBezTo>
                  <a:lnTo>
                    <a:pt x="1922" y="5419"/>
                  </a:lnTo>
                  <a:lnTo>
                    <a:pt x="0" y="7341"/>
                  </a:lnTo>
                  <a:lnTo>
                    <a:pt x="977" y="8317"/>
                  </a:lnTo>
                  <a:lnTo>
                    <a:pt x="2898" y="6396"/>
                  </a:lnTo>
                  <a:lnTo>
                    <a:pt x="3056" y="6427"/>
                  </a:lnTo>
                  <a:cubicBezTo>
                    <a:pt x="3214" y="6459"/>
                    <a:pt x="3371" y="6459"/>
                    <a:pt x="3592" y="6459"/>
                  </a:cubicBezTo>
                  <a:cubicBezTo>
                    <a:pt x="4694" y="6459"/>
                    <a:pt x="5734" y="6049"/>
                    <a:pt x="6522" y="5261"/>
                  </a:cubicBezTo>
                  <a:lnTo>
                    <a:pt x="8254" y="3466"/>
                  </a:lnTo>
                  <a:lnTo>
                    <a:pt x="7278" y="2489"/>
                  </a:lnTo>
                  <a:lnTo>
                    <a:pt x="6301" y="3466"/>
                  </a:lnTo>
                  <a:lnTo>
                    <a:pt x="4852" y="2016"/>
                  </a:lnTo>
                  <a:lnTo>
                    <a:pt x="5828" y="1040"/>
                  </a:lnTo>
                  <a:lnTo>
                    <a:pt x="4789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rgbClr val="3B8794"/>
                </a:solidFill>
              </a:endParaRPr>
            </a:p>
          </p:txBody>
        </p:sp>
      </p:grpSp>
      <p:grpSp>
        <p:nvGrpSpPr>
          <p:cNvPr id="595" name="Google Shape;595;p44"/>
          <p:cNvGrpSpPr/>
          <p:nvPr/>
        </p:nvGrpSpPr>
        <p:grpSpPr>
          <a:xfrm>
            <a:off x="1325362" y="372686"/>
            <a:ext cx="299344" cy="351880"/>
            <a:chOff x="-27691025" y="3175300"/>
            <a:chExt cx="251275" cy="295375"/>
          </a:xfrm>
        </p:grpSpPr>
        <p:sp>
          <p:nvSpPr>
            <p:cNvPr id="596" name="Google Shape;596;p44"/>
            <p:cNvSpPr/>
            <p:nvPr/>
          </p:nvSpPr>
          <p:spPr>
            <a:xfrm>
              <a:off x="-27492550" y="3298150"/>
              <a:ext cx="18125" cy="18150"/>
            </a:xfrm>
            <a:custGeom>
              <a:rect b="b" l="l" r="r" t="t"/>
              <a:pathLst>
                <a:path extrusionOk="0" h="726" w="725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78" y="726"/>
                  </a:cubicBezTo>
                  <a:cubicBezTo>
                    <a:pt x="599" y="663"/>
                    <a:pt x="725" y="505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44"/>
            <p:cNvSpPr/>
            <p:nvPr/>
          </p:nvSpPr>
          <p:spPr>
            <a:xfrm>
              <a:off x="-27613050" y="3175300"/>
              <a:ext cx="60650" cy="105550"/>
            </a:xfrm>
            <a:custGeom>
              <a:rect b="b" l="l" r="r" t="t"/>
              <a:pathLst>
                <a:path extrusionOk="0" h="4222" w="2426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32" y="1922"/>
                    <a:pt x="158" y="2080"/>
                    <a:pt x="347" y="2080"/>
                  </a:cubicBezTo>
                  <a:cubicBezTo>
                    <a:pt x="536" y="2080"/>
                    <a:pt x="693" y="1922"/>
                    <a:pt x="693" y="1733"/>
                  </a:cubicBezTo>
                  <a:lnTo>
                    <a:pt x="693" y="1386"/>
                  </a:lnTo>
                  <a:lnTo>
                    <a:pt x="1040" y="1386"/>
                  </a:lnTo>
                  <a:cubicBezTo>
                    <a:pt x="1260" y="1386"/>
                    <a:pt x="1418" y="1544"/>
                    <a:pt x="1418" y="1733"/>
                  </a:cubicBezTo>
                  <a:lnTo>
                    <a:pt x="1418" y="2899"/>
                  </a:lnTo>
                  <a:cubicBezTo>
                    <a:pt x="1197" y="3025"/>
                    <a:pt x="1040" y="3277"/>
                    <a:pt x="1040" y="3497"/>
                  </a:cubicBezTo>
                  <a:lnTo>
                    <a:pt x="1040" y="4222"/>
                  </a:lnTo>
                  <a:lnTo>
                    <a:pt x="2426" y="4222"/>
                  </a:lnTo>
                  <a:lnTo>
                    <a:pt x="2426" y="3497"/>
                  </a:lnTo>
                  <a:cubicBezTo>
                    <a:pt x="2426" y="3214"/>
                    <a:pt x="2268" y="3025"/>
                    <a:pt x="2079" y="2899"/>
                  </a:cubicBezTo>
                  <a:lnTo>
                    <a:pt x="2079" y="1733"/>
                  </a:lnTo>
                  <a:cubicBezTo>
                    <a:pt x="2079" y="1134"/>
                    <a:pt x="1607" y="693"/>
                    <a:pt x="1040" y="693"/>
                  </a:cubicBezTo>
                  <a:lnTo>
                    <a:pt x="693" y="693"/>
                  </a:ln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44"/>
            <p:cNvSpPr/>
            <p:nvPr/>
          </p:nvSpPr>
          <p:spPr>
            <a:xfrm>
              <a:off x="-27691025" y="3175300"/>
              <a:ext cx="60650" cy="105550"/>
            </a:xfrm>
            <a:custGeom>
              <a:rect b="b" l="l" r="r" t="t"/>
              <a:pathLst>
                <a:path extrusionOk="0" h="4222" w="2426">
                  <a:moveTo>
                    <a:pt x="2079" y="0"/>
                  </a:moveTo>
                  <a:cubicBezTo>
                    <a:pt x="1890" y="0"/>
                    <a:pt x="1733" y="158"/>
                    <a:pt x="1733" y="347"/>
                  </a:cubicBezTo>
                  <a:lnTo>
                    <a:pt x="1733" y="693"/>
                  </a:lnTo>
                  <a:lnTo>
                    <a:pt x="1386" y="693"/>
                  </a:lnTo>
                  <a:cubicBezTo>
                    <a:pt x="788" y="693"/>
                    <a:pt x="347" y="1166"/>
                    <a:pt x="347" y="1733"/>
                  </a:cubicBezTo>
                  <a:lnTo>
                    <a:pt x="347" y="2899"/>
                  </a:lnTo>
                  <a:cubicBezTo>
                    <a:pt x="158" y="3025"/>
                    <a:pt x="0" y="3277"/>
                    <a:pt x="0" y="3497"/>
                  </a:cubicBezTo>
                  <a:lnTo>
                    <a:pt x="0" y="4222"/>
                  </a:lnTo>
                  <a:lnTo>
                    <a:pt x="1386" y="4222"/>
                  </a:lnTo>
                  <a:lnTo>
                    <a:pt x="1386" y="3497"/>
                  </a:lnTo>
                  <a:cubicBezTo>
                    <a:pt x="1386" y="3214"/>
                    <a:pt x="1229" y="3025"/>
                    <a:pt x="1008" y="2899"/>
                  </a:cubicBezTo>
                  <a:lnTo>
                    <a:pt x="1008" y="1733"/>
                  </a:lnTo>
                  <a:cubicBezTo>
                    <a:pt x="1008" y="1544"/>
                    <a:pt x="1166" y="1386"/>
                    <a:pt x="1386" y="1386"/>
                  </a:cubicBezTo>
                  <a:lnTo>
                    <a:pt x="1733" y="1386"/>
                  </a:lnTo>
                  <a:lnTo>
                    <a:pt x="1733" y="1733"/>
                  </a:lnTo>
                  <a:cubicBezTo>
                    <a:pt x="1733" y="1922"/>
                    <a:pt x="1890" y="2080"/>
                    <a:pt x="2079" y="2080"/>
                  </a:cubicBezTo>
                  <a:cubicBezTo>
                    <a:pt x="2268" y="2080"/>
                    <a:pt x="2426" y="1922"/>
                    <a:pt x="2426" y="1733"/>
                  </a:cubicBezTo>
                  <a:lnTo>
                    <a:pt x="2426" y="347"/>
                  </a:lnTo>
                  <a:cubicBezTo>
                    <a:pt x="2426" y="158"/>
                    <a:pt x="2268" y="0"/>
                    <a:pt x="207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44"/>
            <p:cNvSpPr/>
            <p:nvPr/>
          </p:nvSpPr>
          <p:spPr>
            <a:xfrm>
              <a:off x="-27691025" y="3263500"/>
              <a:ext cx="251275" cy="207175"/>
            </a:xfrm>
            <a:custGeom>
              <a:rect b="b" l="l" r="r" t="t"/>
              <a:pathLst>
                <a:path extrusionOk="0" h="8287" w="10051">
                  <a:moveTo>
                    <a:pt x="8317" y="725"/>
                  </a:moveTo>
                  <a:cubicBezTo>
                    <a:pt x="8885" y="725"/>
                    <a:pt x="9326" y="1198"/>
                    <a:pt x="9326" y="1733"/>
                  </a:cubicBezTo>
                  <a:cubicBezTo>
                    <a:pt x="9326" y="2332"/>
                    <a:pt x="8853" y="2773"/>
                    <a:pt x="8317" y="2773"/>
                  </a:cubicBezTo>
                  <a:cubicBezTo>
                    <a:pt x="7750" y="2773"/>
                    <a:pt x="7278" y="2301"/>
                    <a:pt x="7278" y="1733"/>
                  </a:cubicBezTo>
                  <a:cubicBezTo>
                    <a:pt x="7278" y="1166"/>
                    <a:pt x="7750" y="725"/>
                    <a:pt x="8317" y="725"/>
                  </a:cubicBezTo>
                  <a:close/>
                  <a:moveTo>
                    <a:pt x="8317" y="1"/>
                  </a:moveTo>
                  <a:cubicBezTo>
                    <a:pt x="7372" y="1"/>
                    <a:pt x="6585" y="788"/>
                    <a:pt x="6585" y="1733"/>
                  </a:cubicBezTo>
                  <a:cubicBezTo>
                    <a:pt x="6585" y="2584"/>
                    <a:pt x="7152" y="3277"/>
                    <a:pt x="7939" y="3435"/>
                  </a:cubicBezTo>
                  <a:lnTo>
                    <a:pt x="7939" y="5199"/>
                  </a:lnTo>
                  <a:cubicBezTo>
                    <a:pt x="7939" y="6554"/>
                    <a:pt x="6837" y="7656"/>
                    <a:pt x="5513" y="7656"/>
                  </a:cubicBezTo>
                  <a:cubicBezTo>
                    <a:pt x="4190" y="7656"/>
                    <a:pt x="3088" y="6554"/>
                    <a:pt x="3088" y="5199"/>
                  </a:cubicBezTo>
                  <a:lnTo>
                    <a:pt x="3088" y="4506"/>
                  </a:lnTo>
                  <a:lnTo>
                    <a:pt x="3088" y="4443"/>
                  </a:lnTo>
                  <a:cubicBezTo>
                    <a:pt x="4316" y="4317"/>
                    <a:pt x="5324" y="3309"/>
                    <a:pt x="5482" y="2049"/>
                  </a:cubicBezTo>
                  <a:cubicBezTo>
                    <a:pt x="5513" y="1797"/>
                    <a:pt x="5513" y="1891"/>
                    <a:pt x="5513" y="1355"/>
                  </a:cubicBezTo>
                  <a:lnTo>
                    <a:pt x="4127" y="1355"/>
                  </a:lnTo>
                  <a:cubicBezTo>
                    <a:pt x="4127" y="1607"/>
                    <a:pt x="4127" y="1765"/>
                    <a:pt x="4096" y="2049"/>
                  </a:cubicBezTo>
                  <a:cubicBezTo>
                    <a:pt x="3938" y="2710"/>
                    <a:pt x="3340" y="3088"/>
                    <a:pt x="2741" y="3088"/>
                  </a:cubicBezTo>
                  <a:cubicBezTo>
                    <a:pt x="2174" y="3088"/>
                    <a:pt x="1575" y="2773"/>
                    <a:pt x="1418" y="2049"/>
                  </a:cubicBezTo>
                  <a:cubicBezTo>
                    <a:pt x="1386" y="1828"/>
                    <a:pt x="1386" y="1607"/>
                    <a:pt x="1386" y="1355"/>
                  </a:cubicBezTo>
                  <a:lnTo>
                    <a:pt x="0" y="1355"/>
                  </a:lnTo>
                  <a:cubicBezTo>
                    <a:pt x="0" y="1670"/>
                    <a:pt x="0" y="1733"/>
                    <a:pt x="32" y="2049"/>
                  </a:cubicBezTo>
                  <a:cubicBezTo>
                    <a:pt x="221" y="3277"/>
                    <a:pt x="1166" y="4317"/>
                    <a:pt x="2426" y="4474"/>
                  </a:cubicBezTo>
                  <a:lnTo>
                    <a:pt x="2426" y="5168"/>
                  </a:lnTo>
                  <a:cubicBezTo>
                    <a:pt x="2426" y="5672"/>
                    <a:pt x="2552" y="6144"/>
                    <a:pt x="2804" y="6585"/>
                  </a:cubicBezTo>
                  <a:cubicBezTo>
                    <a:pt x="3308" y="7625"/>
                    <a:pt x="4379" y="8286"/>
                    <a:pt x="5545" y="8286"/>
                  </a:cubicBezTo>
                  <a:cubicBezTo>
                    <a:pt x="7278" y="8286"/>
                    <a:pt x="8664" y="6869"/>
                    <a:pt x="8664" y="5168"/>
                  </a:cubicBezTo>
                  <a:lnTo>
                    <a:pt x="8664" y="3435"/>
                  </a:lnTo>
                  <a:cubicBezTo>
                    <a:pt x="9452" y="3277"/>
                    <a:pt x="10050" y="2584"/>
                    <a:pt x="10050" y="1733"/>
                  </a:cubicBezTo>
                  <a:cubicBezTo>
                    <a:pt x="10050" y="788"/>
                    <a:pt x="9263" y="1"/>
                    <a:pt x="831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45"/>
          <p:cNvSpPr txBox="1"/>
          <p:nvPr/>
        </p:nvSpPr>
        <p:spPr>
          <a:xfrm>
            <a:off x="860850" y="860700"/>
            <a:ext cx="7422300" cy="25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Oleg Fernández-Llebrez Rodríguez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Oleg F. | LinkedIn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Laura Ramos Granados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Laura Ramos Granados | LinkedIn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Queremos agradecer profundamente a </a:t>
            </a:r>
            <a:r>
              <a:rPr lang="en" sz="100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Kyndryl</a:t>
            </a:r>
            <a:r>
              <a:rPr lang="en"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 por brindarnos la oportunidad de integrarnos en un entorno profesional de alto nivel, y por permitirnos aplicar y ampliar nuestros conocimientos en un contexto real.</a:t>
            </a:r>
            <a:endParaRPr sz="100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En especial, agradecemos a nuestros tutores, </a:t>
            </a:r>
            <a:r>
              <a:rPr lang="en" sz="100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Daniel Gastelut y Carla María Platero</a:t>
            </a:r>
            <a:r>
              <a:rPr lang="en"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. </a:t>
            </a:r>
            <a:endParaRPr sz="100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De manera muy especial, a </a:t>
            </a:r>
            <a:r>
              <a:rPr lang="en" sz="100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José Valle y Diego Gutiérrez</a:t>
            </a:r>
            <a:r>
              <a:rPr lang="en"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, por su cercanía, orientación y apoyo constante durante esta etapa.</a:t>
            </a:r>
            <a:endParaRPr sz="10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605" name="Google Shape;605;p45"/>
          <p:cNvSpPr txBox="1"/>
          <p:nvPr/>
        </p:nvSpPr>
        <p:spPr>
          <a:xfrm>
            <a:off x="3041663" y="550175"/>
            <a:ext cx="33849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Gracias por su atención</a:t>
            </a:r>
            <a:endParaRPr sz="300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grpSp>
        <p:nvGrpSpPr>
          <p:cNvPr id="606" name="Google Shape;606;p45"/>
          <p:cNvGrpSpPr/>
          <p:nvPr/>
        </p:nvGrpSpPr>
        <p:grpSpPr>
          <a:xfrm>
            <a:off x="3760845" y="1347336"/>
            <a:ext cx="192856" cy="181516"/>
            <a:chOff x="1379798" y="1723250"/>
            <a:chExt cx="397887" cy="397887"/>
          </a:xfrm>
        </p:grpSpPr>
        <p:sp>
          <p:nvSpPr>
            <p:cNvPr id="607" name="Google Shape;607;p45"/>
            <p:cNvSpPr/>
            <p:nvPr/>
          </p:nvSpPr>
          <p:spPr>
            <a:xfrm>
              <a:off x="1462169" y="1793977"/>
              <a:ext cx="23354" cy="23312"/>
            </a:xfrm>
            <a:custGeom>
              <a:rect b="b" l="l" r="r" t="t"/>
              <a:pathLst>
                <a:path extrusionOk="0" h="1117" w="1119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45"/>
            <p:cNvSpPr/>
            <p:nvPr/>
          </p:nvSpPr>
          <p:spPr>
            <a:xfrm>
              <a:off x="1379798" y="1723250"/>
              <a:ext cx="397887" cy="397887"/>
            </a:xfrm>
            <a:custGeom>
              <a:rect b="b" l="l" r="r" t="t"/>
              <a:pathLst>
                <a:path extrusionOk="0" h="19065" w="19065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45"/>
            <p:cNvSpPr/>
            <p:nvPr/>
          </p:nvSpPr>
          <p:spPr>
            <a:xfrm>
              <a:off x="1555413" y="1886846"/>
              <a:ext cx="139912" cy="163558"/>
            </a:xfrm>
            <a:custGeom>
              <a:rect b="b" l="l" r="r" t="t"/>
              <a:pathLst>
                <a:path extrusionOk="0" h="7837" w="6704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45"/>
            <p:cNvSpPr/>
            <p:nvPr/>
          </p:nvSpPr>
          <p:spPr>
            <a:xfrm>
              <a:off x="1462169" y="1887200"/>
              <a:ext cx="23354" cy="163203"/>
            </a:xfrm>
            <a:custGeom>
              <a:rect b="b" l="l" r="r" t="t"/>
              <a:pathLst>
                <a:path extrusionOk="0" h="7820" w="1119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11" name="Google Shape;611;p45"/>
          <p:cNvGrpSpPr/>
          <p:nvPr/>
        </p:nvGrpSpPr>
        <p:grpSpPr>
          <a:xfrm>
            <a:off x="3188120" y="1879311"/>
            <a:ext cx="192856" cy="181516"/>
            <a:chOff x="1379798" y="1723250"/>
            <a:chExt cx="397887" cy="397887"/>
          </a:xfrm>
        </p:grpSpPr>
        <p:sp>
          <p:nvSpPr>
            <p:cNvPr id="612" name="Google Shape;612;p45"/>
            <p:cNvSpPr/>
            <p:nvPr/>
          </p:nvSpPr>
          <p:spPr>
            <a:xfrm>
              <a:off x="1462169" y="1793977"/>
              <a:ext cx="23354" cy="23312"/>
            </a:xfrm>
            <a:custGeom>
              <a:rect b="b" l="l" r="r" t="t"/>
              <a:pathLst>
                <a:path extrusionOk="0" h="1117" w="1119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45"/>
            <p:cNvSpPr/>
            <p:nvPr/>
          </p:nvSpPr>
          <p:spPr>
            <a:xfrm>
              <a:off x="1379798" y="1723250"/>
              <a:ext cx="397887" cy="397887"/>
            </a:xfrm>
            <a:custGeom>
              <a:rect b="b" l="l" r="r" t="t"/>
              <a:pathLst>
                <a:path extrusionOk="0" h="19065" w="19065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45"/>
            <p:cNvSpPr/>
            <p:nvPr/>
          </p:nvSpPr>
          <p:spPr>
            <a:xfrm>
              <a:off x="1555413" y="1886846"/>
              <a:ext cx="139912" cy="163558"/>
            </a:xfrm>
            <a:custGeom>
              <a:rect b="b" l="l" r="r" t="t"/>
              <a:pathLst>
                <a:path extrusionOk="0" h="7837" w="6704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45"/>
            <p:cNvSpPr/>
            <p:nvPr/>
          </p:nvSpPr>
          <p:spPr>
            <a:xfrm>
              <a:off x="1462169" y="1887200"/>
              <a:ext cx="23354" cy="163203"/>
            </a:xfrm>
            <a:custGeom>
              <a:rect b="b" l="l" r="r" t="t"/>
              <a:pathLst>
                <a:path extrusionOk="0" h="7820" w="1119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6" name="Google Shape;616;p45"/>
          <p:cNvSpPr txBox="1"/>
          <p:nvPr/>
        </p:nvSpPr>
        <p:spPr>
          <a:xfrm>
            <a:off x="3238225" y="3132675"/>
            <a:ext cx="30000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LaoLink Consulting | GitHub Organizations</a:t>
            </a:r>
            <a:endParaRPr sz="100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000" u="sng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Proyecto | GitHub Repositories</a:t>
            </a:r>
            <a:endParaRPr sz="100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pic>
        <p:nvPicPr>
          <p:cNvPr id="617" name="Google Shape;617;p4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51225" y="3397350"/>
            <a:ext cx="323850" cy="3238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18" name="Google Shape;618;p45"/>
          <p:cNvGrpSpPr/>
          <p:nvPr/>
        </p:nvGrpSpPr>
        <p:grpSpPr>
          <a:xfrm>
            <a:off x="2717447" y="610245"/>
            <a:ext cx="325061" cy="323860"/>
            <a:chOff x="-28462125" y="3199700"/>
            <a:chExt cx="298550" cy="259150"/>
          </a:xfrm>
        </p:grpSpPr>
        <p:sp>
          <p:nvSpPr>
            <p:cNvPr id="619" name="Google Shape;619;p45"/>
            <p:cNvSpPr/>
            <p:nvPr/>
          </p:nvSpPr>
          <p:spPr>
            <a:xfrm>
              <a:off x="-28459750" y="3284775"/>
              <a:ext cx="296175" cy="104775"/>
            </a:xfrm>
            <a:custGeom>
              <a:rect b="b" l="l" r="r" t="t"/>
              <a:pathLst>
                <a:path extrusionOk="0" h="4191" w="11847">
                  <a:moveTo>
                    <a:pt x="5230" y="0"/>
                  </a:moveTo>
                  <a:cubicBezTo>
                    <a:pt x="5073" y="0"/>
                    <a:pt x="4947" y="63"/>
                    <a:pt x="4915" y="189"/>
                  </a:cubicBezTo>
                  <a:lnTo>
                    <a:pt x="4096" y="2080"/>
                  </a:lnTo>
                  <a:lnTo>
                    <a:pt x="347" y="2080"/>
                  </a:lnTo>
                  <a:cubicBezTo>
                    <a:pt x="158" y="2080"/>
                    <a:pt x="0" y="2237"/>
                    <a:pt x="0" y="2426"/>
                  </a:cubicBezTo>
                  <a:cubicBezTo>
                    <a:pt x="0" y="2615"/>
                    <a:pt x="158" y="2773"/>
                    <a:pt x="347" y="2773"/>
                  </a:cubicBezTo>
                  <a:lnTo>
                    <a:pt x="4316" y="2773"/>
                  </a:lnTo>
                  <a:cubicBezTo>
                    <a:pt x="4411" y="2773"/>
                    <a:pt x="4505" y="2710"/>
                    <a:pt x="4600" y="2584"/>
                  </a:cubicBezTo>
                  <a:lnTo>
                    <a:pt x="5199" y="1292"/>
                  </a:lnTo>
                  <a:lnTo>
                    <a:pt x="6238" y="3970"/>
                  </a:lnTo>
                  <a:cubicBezTo>
                    <a:pt x="6301" y="4096"/>
                    <a:pt x="6396" y="4159"/>
                    <a:pt x="6522" y="4191"/>
                  </a:cubicBezTo>
                  <a:lnTo>
                    <a:pt x="6553" y="4191"/>
                  </a:lnTo>
                  <a:cubicBezTo>
                    <a:pt x="6679" y="4191"/>
                    <a:pt x="6805" y="4127"/>
                    <a:pt x="6868" y="4033"/>
                  </a:cubicBezTo>
                  <a:lnTo>
                    <a:pt x="7624" y="2836"/>
                  </a:lnTo>
                  <a:lnTo>
                    <a:pt x="11500" y="2836"/>
                  </a:lnTo>
                  <a:cubicBezTo>
                    <a:pt x="11689" y="2836"/>
                    <a:pt x="11846" y="2678"/>
                    <a:pt x="11846" y="2458"/>
                  </a:cubicBezTo>
                  <a:cubicBezTo>
                    <a:pt x="11846" y="2269"/>
                    <a:pt x="11689" y="2111"/>
                    <a:pt x="11500" y="2111"/>
                  </a:cubicBezTo>
                  <a:lnTo>
                    <a:pt x="7435" y="2111"/>
                  </a:lnTo>
                  <a:cubicBezTo>
                    <a:pt x="7309" y="2111"/>
                    <a:pt x="7183" y="2206"/>
                    <a:pt x="7120" y="2269"/>
                  </a:cubicBezTo>
                  <a:lnTo>
                    <a:pt x="6648" y="3056"/>
                  </a:lnTo>
                  <a:lnTo>
                    <a:pt x="5545" y="221"/>
                  </a:lnTo>
                  <a:cubicBezTo>
                    <a:pt x="5514" y="95"/>
                    <a:pt x="5388" y="0"/>
                    <a:pt x="523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45"/>
            <p:cNvSpPr/>
            <p:nvPr/>
          </p:nvSpPr>
          <p:spPr>
            <a:xfrm>
              <a:off x="-28462125" y="3199700"/>
              <a:ext cx="295400" cy="125275"/>
            </a:xfrm>
            <a:custGeom>
              <a:rect b="b" l="l" r="r" t="t"/>
              <a:pathLst>
                <a:path extrusionOk="0" h="5011" w="11816">
                  <a:moveTo>
                    <a:pt x="3151" y="1"/>
                  </a:moveTo>
                  <a:cubicBezTo>
                    <a:pt x="1387" y="1"/>
                    <a:pt x="1" y="1419"/>
                    <a:pt x="1" y="3277"/>
                  </a:cubicBezTo>
                  <a:cubicBezTo>
                    <a:pt x="1" y="3876"/>
                    <a:pt x="158" y="4349"/>
                    <a:pt x="442" y="4821"/>
                  </a:cubicBezTo>
                  <a:lnTo>
                    <a:pt x="3655" y="4821"/>
                  </a:lnTo>
                  <a:lnTo>
                    <a:pt x="4285" y="3340"/>
                  </a:lnTo>
                  <a:cubicBezTo>
                    <a:pt x="4443" y="2994"/>
                    <a:pt x="4821" y="2773"/>
                    <a:pt x="5199" y="2710"/>
                  </a:cubicBezTo>
                  <a:cubicBezTo>
                    <a:pt x="5672" y="2710"/>
                    <a:pt x="6018" y="2994"/>
                    <a:pt x="6176" y="3403"/>
                  </a:cubicBezTo>
                  <a:lnTo>
                    <a:pt x="6806" y="5010"/>
                  </a:lnTo>
                  <a:cubicBezTo>
                    <a:pt x="6963" y="4884"/>
                    <a:pt x="7215" y="4821"/>
                    <a:pt x="7404" y="4821"/>
                  </a:cubicBezTo>
                  <a:lnTo>
                    <a:pt x="11374" y="4821"/>
                  </a:lnTo>
                  <a:cubicBezTo>
                    <a:pt x="11626" y="4349"/>
                    <a:pt x="11815" y="3813"/>
                    <a:pt x="11815" y="3277"/>
                  </a:cubicBezTo>
                  <a:cubicBezTo>
                    <a:pt x="11815" y="1419"/>
                    <a:pt x="10429" y="1"/>
                    <a:pt x="8665" y="1"/>
                  </a:cubicBezTo>
                  <a:cubicBezTo>
                    <a:pt x="7247" y="1"/>
                    <a:pt x="6396" y="977"/>
                    <a:pt x="5924" y="1860"/>
                  </a:cubicBezTo>
                  <a:cubicBezTo>
                    <a:pt x="5451" y="977"/>
                    <a:pt x="4537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45"/>
            <p:cNvSpPr/>
            <p:nvPr/>
          </p:nvSpPr>
          <p:spPr>
            <a:xfrm>
              <a:off x="-28405400" y="3360375"/>
              <a:ext cx="186675" cy="98475"/>
            </a:xfrm>
            <a:custGeom>
              <a:rect b="b" l="l" r="r" t="t"/>
              <a:pathLst>
                <a:path extrusionOk="0" h="3939" w="7467">
                  <a:moveTo>
                    <a:pt x="2962" y="1"/>
                  </a:moveTo>
                  <a:cubicBezTo>
                    <a:pt x="2773" y="284"/>
                    <a:pt x="2458" y="442"/>
                    <a:pt x="2111" y="442"/>
                  </a:cubicBezTo>
                  <a:lnTo>
                    <a:pt x="0" y="442"/>
                  </a:lnTo>
                  <a:cubicBezTo>
                    <a:pt x="158" y="599"/>
                    <a:pt x="347" y="757"/>
                    <a:pt x="536" y="914"/>
                  </a:cubicBezTo>
                  <a:cubicBezTo>
                    <a:pt x="1449" y="1734"/>
                    <a:pt x="2426" y="2647"/>
                    <a:pt x="3434" y="3813"/>
                  </a:cubicBezTo>
                  <a:cubicBezTo>
                    <a:pt x="3529" y="3907"/>
                    <a:pt x="3592" y="3939"/>
                    <a:pt x="3718" y="3939"/>
                  </a:cubicBezTo>
                  <a:cubicBezTo>
                    <a:pt x="3844" y="3939"/>
                    <a:pt x="3907" y="3907"/>
                    <a:pt x="4001" y="3813"/>
                  </a:cubicBezTo>
                  <a:cubicBezTo>
                    <a:pt x="4978" y="2584"/>
                    <a:pt x="6018" y="1734"/>
                    <a:pt x="6900" y="914"/>
                  </a:cubicBezTo>
                  <a:cubicBezTo>
                    <a:pt x="7120" y="757"/>
                    <a:pt x="7278" y="599"/>
                    <a:pt x="7467" y="442"/>
                  </a:cubicBezTo>
                  <a:lnTo>
                    <a:pt x="5860" y="442"/>
                  </a:lnTo>
                  <a:lnTo>
                    <a:pt x="5293" y="1324"/>
                  </a:lnTo>
                  <a:cubicBezTo>
                    <a:pt x="5104" y="1639"/>
                    <a:pt x="4789" y="1860"/>
                    <a:pt x="4379" y="1860"/>
                  </a:cubicBezTo>
                  <a:lnTo>
                    <a:pt x="4316" y="1860"/>
                  </a:lnTo>
                  <a:cubicBezTo>
                    <a:pt x="3907" y="1797"/>
                    <a:pt x="3592" y="1576"/>
                    <a:pt x="3434" y="1167"/>
                  </a:cubicBezTo>
                  <a:lnTo>
                    <a:pt x="2962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ofessions of the Future by Slidesgo">
  <a:themeElements>
    <a:clrScheme name="Simple Light">
      <a:dk1>
        <a:srgbClr val="0B134B"/>
      </a:dk1>
      <a:lt1>
        <a:srgbClr val="F3F3F3"/>
      </a:lt1>
      <a:dk2>
        <a:srgbClr val="FFFFFF"/>
      </a:dk2>
      <a:lt2>
        <a:srgbClr val="FFFFFF"/>
      </a:lt2>
      <a:accent1>
        <a:srgbClr val="85EAF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3F3F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